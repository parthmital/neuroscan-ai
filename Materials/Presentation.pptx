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2"/>
    <p:sldId id="263" r:id="rId3"/>
    <p:sldId id="257" r:id="rId4"/>
    <p:sldId id="258" r:id="rId5"/>
    <p:sldId id="259" r:id="rId6"/>
    <p:sldId id="278" r:id="rId30"/>
    <p:sldId id="279" r:id="rId31"/>
    <p:sldId id="280" r:id="rId32"/>
    <p:sldId id="260" r:id="rId7"/>
    <p:sldId id="261" r:id="rId8"/>
    <p:sldId id="264" r:id="rId9"/>
    <p:sldId id="265" r:id="rId10"/>
    <p:sldId id="267" r:id="rId12"/>
    <p:sldId id="270" r:id="rId22"/>
    <p:sldId id="271" r:id="rId23"/>
    <p:sldId id="272" r:id="rId24"/>
    <p:sldId id="273" r:id="rId25"/>
    <p:sldId id="274" r:id="rId26"/>
    <p:sldId id="275" r:id="rId27"/>
    <p:sldId id="268" r:id="rId13"/>
    <p:sldId id="269" r:id="rId14"/>
    <p:sldId id="262" r:id="rId15"/>
    <p:sldId id="276" r:id="rId28"/>
    <p:sldId id="27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Images per class before and after deduplication (Hamming ≤ 5)</a:t>
            </a:r>
          </a:p>
        </c:rich>
      </c:tx>
      <c:layout/>
      <c:overlay val="0"/>
    </c:title>
    <c:autoTitleDeleted val="0"/>
    <c:plotArea>
      <c:barChart>
        <c:barDir val="col"/>
        <c:grouping val="clustered"/>
        <c:ser>
          <c:idx val="0"/>
          <c:order val="0"/>
          <c:tx>
            <c:strRef>
              <c:f>Sheet1!$B$1</c:f>
              <c:strCache>
                <c:ptCount val="1"/>
                <c:pt idx="0">
                  <c:v>Before</c:v>
                </c:pt>
              </c:strCache>
            </c:strRef>
          </c:tx>
          <c:spPr>
            <a:solidFill>
              <a:srgbClr val="9FB1CC"/>
            </a:solidFill>
          </c:spPr>
          <c:cat>
            <c:strRef>
              <c:f>Sheet1!$A$2:$A$6</c:f>
              <c:strCache>
                <c:ptCount val="5"/>
                <c:pt idx="0">
                  <c:v>Tumour-negative</c:v>
                </c:pt>
                <c:pt idx="1">
                  <c:v>Tumour</c:v>
                </c:pt>
                <c:pt idx="2">
                  <c:v>Glioma</c:v>
                </c:pt>
                <c:pt idx="3">
                  <c:v>Meningioma</c:v>
                </c:pt>
                <c:pt idx="4">
                  <c:v>Pituitary</c:v>
                </c:pt>
              </c:strCache>
            </c:strRef>
          </c:cat>
          <c:val>
            <c:numRef>
              <c:f>Sheet1!$B$2:$B$6</c:f>
              <c:numCache>
                <c:formatCode>General</c:formatCode>
                <c:ptCount val="5"/>
                <c:pt idx="0">
                  <c:v>1598</c:v>
                </c:pt>
                <c:pt idx="1">
                  <c:v>1655</c:v>
                </c:pt>
                <c:pt idx="2">
                  <c:v>2352</c:v>
                </c:pt>
                <c:pt idx="3">
                  <c:v>1645</c:v>
                </c:pt>
                <c:pt idx="4">
                  <c:v>1831</c:v>
                </c:pt>
              </c:numCache>
            </c:numRef>
          </c:val>
        </c:ser>
        <c:ser>
          <c:idx val="1"/>
          <c:order val="1"/>
          <c:tx>
            <c:strRef>
              <c:f>Sheet1!$C$1</c:f>
              <c:strCache>
                <c:ptCount val="1"/>
                <c:pt idx="0">
                  <c:v>After</c:v>
                </c:pt>
              </c:strCache>
            </c:strRef>
          </c:tx>
          <c:spPr>
            <a:solidFill>
              <a:srgbClr val="1F3A68"/>
            </a:solidFill>
          </c:spPr>
          <c:cat>
            <c:strRef>
              <c:f>Sheet1!$A$2:$A$6</c:f>
              <c:strCache>
                <c:ptCount val="5"/>
                <c:pt idx="0">
                  <c:v>Tumour-negative</c:v>
                </c:pt>
                <c:pt idx="1">
                  <c:v>Tumour</c:v>
                </c:pt>
                <c:pt idx="2">
                  <c:v>Glioma</c:v>
                </c:pt>
                <c:pt idx="3">
                  <c:v>Meningioma</c:v>
                </c:pt>
                <c:pt idx="4">
                  <c:v>Pituitary</c:v>
                </c:pt>
              </c:strCache>
            </c:strRef>
          </c:cat>
          <c:val>
            <c:numRef>
              <c:f>Sheet1!$C$2:$C$6</c:f>
              <c:numCache>
                <c:formatCode>General</c:formatCode>
                <c:ptCount val="5"/>
                <c:pt idx="0">
                  <c:v>455</c:v>
                </c:pt>
                <c:pt idx="1">
                  <c:v>730</c:v>
                </c:pt>
                <c:pt idx="2">
                  <c:v>2008</c:v>
                </c:pt>
                <c:pt idx="3">
                  <c:v>1314</c:v>
                </c:pt>
                <c:pt idx="4">
                  <c:v>1408</c:v>
                </c:pt>
              </c:numCache>
            </c:numRef>
          </c:val>
        </c:ser>
        <c:dLbls>
          <c:numFmt formatCode="#,##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delete val="0"/>
        <c:axPos val="l"/>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Detection: fold-ensemble test accuracy (%), 171 images</a:t>
            </a:r>
          </a:p>
        </c:rich>
      </c:tx>
      <c:layout/>
      <c:overlay val="0"/>
    </c:title>
    <c:autoTitleDeleted val="0"/>
    <c:plotArea>
      <c:barChart>
        <c:barDir val="bar"/>
        <c:grouping val="clustered"/>
        <c:ser>
          <c:idx val="0"/>
          <c:order val="0"/>
          <c:tx>
            <c:strRef>
              <c:f>Sheet1!$B$1</c:f>
              <c:strCache>
                <c:ptCount val="1"/>
                <c:pt idx="0">
                  <c:v>Accuracy (%)</c:v>
                </c:pt>
              </c:strCache>
            </c:strRef>
          </c:tx>
          <c:spPr>
            <a:solidFill>
              <a:srgbClr val="1F3A68"/>
            </a:solidFill>
          </c:spPr>
          <c:dPt>
            <c:idx val="0"/>
            <c:spPr>
              <a:solidFill>
                <a:srgbClr val="2E7D74"/>
              </a:solidFill>
            </c:spPr>
          </c:dPt>
          <c:dPt>
            <c:idx val="1"/>
            <c:spPr>
              <a:solidFill>
                <a:srgbClr val="1F3A68"/>
              </a:solidFill>
            </c:spPr>
          </c:dPt>
          <c:dPt>
            <c:idx val="2"/>
            <c:spPr>
              <a:solidFill>
                <a:srgbClr val="B4532A"/>
              </a:solidFill>
            </c:spPr>
          </c:dPt>
          <c:dPt>
            <c:idx val="3"/>
            <c:spPr>
              <a:solidFill>
                <a:srgbClr val="B4532A"/>
              </a:solidFill>
            </c:spPr>
          </c:dPt>
          <c:dPt>
            <c:idx val="4"/>
            <c:spPr>
              <a:solidFill>
                <a:srgbClr val="1F3A68"/>
              </a:solidFill>
            </c:spPr>
          </c:dPt>
          <c:dPt>
            <c:idx val="5"/>
            <c:spPr>
              <a:solidFill>
                <a:srgbClr val="1F3A68"/>
              </a:solidFill>
            </c:spPr>
          </c:dPt>
          <c:dPt>
            <c:idx val="6"/>
            <c:spPr>
              <a:solidFill>
                <a:srgbClr val="1F3A68"/>
              </a:solidFill>
            </c:spPr>
          </c:dPt>
          <c:dPt>
            <c:idx val="7"/>
            <c:spPr>
              <a:solidFill>
                <a:srgbClr val="1F3A68"/>
              </a:solidFill>
            </c:spPr>
          </c:dPt>
          <c:dPt>
            <c:idx val="8"/>
            <c:spPr>
              <a:solidFill>
                <a:srgbClr val="1F3A68"/>
              </a:solidFill>
            </c:spPr>
          </c:dPt>
          <c:cat>
            <c:strRef>
              <c:f>Sheet1!$A$2:$A$10</c:f>
              <c:strCache>
                <c:ptCount val="9"/>
                <c:pt idx="0">
                  <c:v>CoAtNet-0</c:v>
                </c:pt>
                <c:pt idx="1">
                  <c:v>EfficientNetB0</c:v>
                </c:pt>
                <c:pt idx="2">
                  <c:v>ViT-B/16</c:v>
                </c:pt>
                <c:pt idx="3">
                  <c:v>Swin-Base</c:v>
                </c:pt>
                <c:pt idx="4">
                  <c:v>InceptionV3</c:v>
                </c:pt>
                <c:pt idx="5">
                  <c:v>ResNet50</c:v>
                </c:pt>
                <c:pt idx="6">
                  <c:v>DenseNet121</c:v>
                </c:pt>
                <c:pt idx="7">
                  <c:v>MobileNetV3‑Large</c:v>
                </c:pt>
                <c:pt idx="8">
                  <c:v>VGG16</c:v>
                </c:pt>
              </c:strCache>
            </c:strRef>
          </c:cat>
          <c:val>
            <c:numRef>
              <c:f>Sheet1!$B$2:$B$10</c:f>
              <c:numCache>
                <c:formatCode>General</c:formatCode>
                <c:ptCount val="9"/>
                <c:pt idx="0">
                  <c:v>99.42</c:v>
                </c:pt>
                <c:pt idx="1">
                  <c:v>99.42</c:v>
                </c:pt>
                <c:pt idx="2">
                  <c:v>99.42</c:v>
                </c:pt>
                <c:pt idx="3">
                  <c:v>98.83</c:v>
                </c:pt>
                <c:pt idx="4">
                  <c:v>98.25</c:v>
                </c:pt>
                <c:pt idx="5">
                  <c:v>98.25</c:v>
                </c:pt>
                <c:pt idx="6">
                  <c:v>97.08</c:v>
                </c:pt>
                <c:pt idx="7">
                  <c:v>97.08</c:v>
                </c:pt>
                <c:pt idx="8">
                  <c:v>97.08</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5"/>
          <c:min val="95.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dispBlanksAs val="gap"/>
  </c:chart>
  <c:txPr>
    <a:bodyPr/>
    <a:lstStyle/>
    <a:p>
      <a:pPr>
        <a:defRPr sz="1000">
          <a:solidFill>
            <a:srgbClr val="1E243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Shortcut test: accuracy (%) of models trained and tested on background-only images</a:t>
            </a:r>
          </a:p>
        </c:rich>
      </c:tx>
      <c:layout/>
      <c:overlay val="0"/>
    </c:title>
    <c:autoTitleDeleted val="0"/>
    <c:plotArea>
      <c:barChart>
        <c:barDir val="bar"/>
        <c:grouping val="clustered"/>
        <c:ser>
          <c:idx val="0"/>
          <c:order val="0"/>
          <c:tx>
            <c:strRef>
              <c:f>Sheet1!$B$1</c:f>
              <c:strCache>
                <c:ptCount val="1"/>
                <c:pt idx="0">
                  <c:v>Detection (majority-class rate 62.6%)</c:v>
                </c:pt>
              </c:strCache>
            </c:strRef>
          </c:tx>
          <c:spPr>
            <a:solidFill>
              <a:srgbClr val="1F3A68"/>
            </a:solidFill>
          </c:spPr>
          <c:dPt>
            <c:idx val="0"/>
            <c:spPr>
              <a:solidFill>
                <a:srgbClr val="1F3A68"/>
              </a:solidFill>
            </c:spPr>
          </c:dPt>
          <c:dPt>
            <c:idx val="1"/>
            <c:spPr>
              <a:solidFill>
                <a:srgbClr val="1F3A68"/>
              </a:solidFill>
            </c:spPr>
          </c:dPt>
          <c:dPt>
            <c:idx val="2"/>
            <c:spPr>
              <a:solidFill>
                <a:srgbClr val="1F3A68"/>
              </a:solidFill>
            </c:spPr>
          </c:dPt>
          <c:dPt>
            <c:idx val="3"/>
            <c:spPr>
              <a:solidFill>
                <a:srgbClr val="1F3A68"/>
              </a:solidFill>
            </c:spPr>
          </c:dPt>
          <c:dPt>
            <c:idx val="4"/>
            <c:spPr>
              <a:solidFill>
                <a:srgbClr val="A7AFB9"/>
              </a:solidFill>
            </c:spPr>
          </c:dPt>
          <c:dPt>
            <c:idx val="5"/>
            <c:spPr>
              <a:solidFill>
                <a:srgbClr val="1F3A68"/>
              </a:solidFill>
            </c:spPr>
          </c:dPt>
          <c:dPt>
            <c:idx val="6"/>
            <c:spPr>
              <a:solidFill>
                <a:srgbClr val="A7AFB9"/>
              </a:solidFill>
            </c:spPr>
          </c:dPt>
          <c:dPt>
            <c:idx val="7"/>
            <c:spPr>
              <a:solidFill>
                <a:srgbClr val="1F3A68"/>
              </a:solidFill>
            </c:spPr>
          </c:dPt>
          <c:dPt>
            <c:idx val="8"/>
            <c:spPr>
              <a:solidFill>
                <a:srgbClr val="1F3A68"/>
              </a:solidFill>
            </c:spPr>
          </c:dPt>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Sheet1!$B$2:$B$10</c:f>
              <c:numCache>
                <c:formatCode>General</c:formatCode>
                <c:ptCount val="9"/>
                <c:pt idx="0">
                  <c:v>81.29</c:v>
                </c:pt>
                <c:pt idx="1">
                  <c:v>74.85</c:v>
                </c:pt>
                <c:pt idx="2">
                  <c:v>79.53</c:v>
                </c:pt>
                <c:pt idx="3">
                  <c:v>77.78</c:v>
                </c:pt>
                <c:pt idx="4">
                  <c:v>67.84</c:v>
                </c:pt>
                <c:pt idx="5">
                  <c:v>79.53</c:v>
                </c:pt>
                <c:pt idx="6">
                  <c:v>65.5</c:v>
                </c:pt>
                <c:pt idx="7">
                  <c:v>83.04</c:v>
                </c:pt>
                <c:pt idx="8">
                  <c:v>79.53</c:v>
                </c:pt>
              </c:numCache>
            </c:numRef>
          </c:val>
        </c:ser>
        <c:ser>
          <c:idx val="1"/>
          <c:order val="1"/>
          <c:tx>
            <c:strRef>
              <c:f>Sheet1!$C$1</c:f>
              <c:strCache>
                <c:ptCount val="1"/>
                <c:pt idx="0">
                  <c:v>Subtype (majority-class rate 68.9%)</c:v>
                </c:pt>
              </c:strCache>
            </c:strRef>
          </c:tx>
          <c:spPr>
            <a:solidFill>
              <a:srgbClr val="9FB1CC"/>
            </a:solidFill>
          </c:spPr>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Sheet1!$C$2:$C$10</c:f>
              <c:numCache>
                <c:formatCode>General</c:formatCode>
                <c:ptCount val="9"/>
                <c:pt idx="0">
                  <c:v>93.33</c:v>
                </c:pt>
                <c:pt idx="1">
                  <c:v>97.78</c:v>
                </c:pt>
                <c:pt idx="2">
                  <c:v>86.67</c:v>
                </c:pt>
                <c:pt idx="3">
                  <c:v>88.89</c:v>
                </c:pt>
                <c:pt idx="4">
                  <c:v>93.33</c:v>
                </c:pt>
                <c:pt idx="5">
                  <c:v>97.78</c:v>
                </c:pt>
                <c:pt idx="6">
                  <c:v>91.11</c:v>
                </c:pt>
                <c:pt idx="7">
                  <c:v>91.11</c:v>
                </c:pt>
                <c:pt idx="8">
                  <c:v>82.22</c:v>
                </c:pt>
              </c:numCache>
            </c:numRef>
          </c:val>
        </c:ser>
        <c:dLbls>
          <c:numFmt formatCode="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0"/>
        <c:overlap val="-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0"/>
          <c:min val="50.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Enhancing-tumour Dice by tumour grade (internal)</a:t>
            </a:r>
          </a:p>
        </c:rich>
      </c:tx>
      <c:layout/>
      <c:overlay val="0"/>
    </c:title>
    <c:autoTitleDeleted val="0"/>
    <c:plotArea>
      <c:barChart>
        <c:barDir val="col"/>
        <c:grouping val="clustered"/>
        <c:ser>
          <c:idx val="0"/>
          <c:order val="0"/>
          <c:tx>
            <c:strRef>
              <c:f>Sheet1!$B$1</c:f>
              <c:strCache>
                <c:ptCount val="1"/>
                <c:pt idx="0">
                  <c:v>HGG (44 cases)</c:v>
                </c:pt>
              </c:strCache>
            </c:strRef>
          </c:tx>
          <c:spPr>
            <a:solidFill>
              <a:srgbClr val="1F3A68"/>
            </a:solidFill>
          </c:spPr>
          <c:cat>
            <c:strRef>
              <c:f>Sheet1!$A$2:$A$6</c:f>
              <c:strCache>
                <c:ptCount val="5"/>
                <c:pt idx="0">
                  <c:v>nnU-Net</c:v>
                </c:pt>
                <c:pt idx="1">
                  <c:v>SegResNet</c:v>
                </c:pt>
                <c:pt idx="2">
                  <c:v>Swin UNETR</c:v>
                </c:pt>
                <c:pt idx="3">
                  <c:v>CNN mean</c:v>
                </c:pt>
                <c:pt idx="4">
                  <c:v>Proposed</c:v>
                </c:pt>
              </c:strCache>
            </c:strRef>
          </c:cat>
          <c:val>
            <c:numRef>
              <c:f>Sheet1!$B$2:$B$6</c:f>
              <c:numCache>
                <c:formatCode>General</c:formatCode>
                <c:ptCount val="5"/>
                <c:pt idx="0">
                  <c:v>0.8531</c:v>
                </c:pt>
                <c:pt idx="1">
                  <c:v>0.8715</c:v>
                </c:pt>
                <c:pt idx="2">
                  <c:v>0.8529</c:v>
                </c:pt>
                <c:pt idx="3">
                  <c:v>0.8622</c:v>
                </c:pt>
                <c:pt idx="4">
                  <c:v>0.8648</c:v>
                </c:pt>
              </c:numCache>
            </c:numRef>
          </c:val>
        </c:ser>
        <c:ser>
          <c:idx val="1"/>
          <c:order val="1"/>
          <c:tx>
            <c:strRef>
              <c:f>Sheet1!$C$1</c:f>
              <c:strCache>
                <c:ptCount val="1"/>
                <c:pt idx="0">
                  <c:v>LGG (12 cases)</c:v>
                </c:pt>
              </c:strCache>
            </c:strRef>
          </c:tx>
          <c:spPr>
            <a:solidFill>
              <a:srgbClr val="9FB1CC"/>
            </a:solidFill>
          </c:spPr>
          <c:cat>
            <c:strRef>
              <c:f>Sheet1!$A$2:$A$6</c:f>
              <c:strCache>
                <c:ptCount val="5"/>
                <c:pt idx="0">
                  <c:v>nnU-Net</c:v>
                </c:pt>
                <c:pt idx="1">
                  <c:v>SegResNet</c:v>
                </c:pt>
                <c:pt idx="2">
                  <c:v>Swin UNETR</c:v>
                </c:pt>
                <c:pt idx="3">
                  <c:v>CNN mean</c:v>
                </c:pt>
                <c:pt idx="4">
                  <c:v>Proposed</c:v>
                </c:pt>
              </c:strCache>
            </c:strRef>
          </c:cat>
          <c:val>
            <c:numRef>
              <c:f>Sheet1!$C$2:$C$6</c:f>
              <c:numCache>
                <c:formatCode>General</c:formatCode>
                <c:ptCount val="5"/>
                <c:pt idx="0">
                  <c:v>0.4089</c:v>
                </c:pt>
                <c:pt idx="1">
                  <c:v>0.5822</c:v>
                </c:pt>
                <c:pt idx="2">
                  <c:v>0.3681</c:v>
                </c:pt>
                <c:pt idx="3">
                  <c:v>0.4223</c:v>
                </c:pt>
                <c:pt idx="4">
                  <c:v>0.4197</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5DAE1"/>
              </a:solidFill>
            </a:ln>
          </c:spPr>
        </c:majorGridlines>
        <c:numFmt formatCode="0.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E2430"/>
                </a:solidFill>
                <a:latin typeface="Calibri"/>
              </a:rPr>
              <a:t>Internal mean Dice vs latency with TTA (bubble area: parameters)</a:t>
            </a:r>
          </a:p>
        </c:rich>
      </c:tx>
      <c:layout/>
      <c:overlay val="0"/>
    </c:title>
    <c:autoTitleDeleted val="0"/>
    <c:plotArea>
      <c:layout/>
      <c:bubbleChart>
        <c:varyColors val="0"/>
        <c:ser>
          <c:idx val="0"/>
          <c:order val="0"/>
          <c:tx>
            <c:strRef>
              <c:f>Sheet1!$B$1</c:f>
              <c:strCache>
                <c:ptCount val="1"/>
                <c:pt idx="0">
                  <c:v>nnU-Net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nnU-Net</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c:f>
              <c:numCache>
                <c:formatCode>General</c:formatCode>
                <c:ptCount val="1"/>
                <c:pt idx="0">
                  <c:v>8.2</c:v>
                </c:pt>
              </c:numCache>
            </c:numRef>
          </c:xVal>
          <c:yVal>
            <c:numRef>
              <c:f>Sheet1!$B$2:$B$2</c:f>
              <c:numCache>
                <c:formatCode>General</c:formatCode>
                <c:ptCount val="1"/>
                <c:pt idx="0">
                  <c:v>0.8404</c:v>
                </c:pt>
              </c:numCache>
            </c:numRef>
          </c:yVal>
          <c:bubbleSize>
            <c:numRef>
              <c:f>Sheet1!$C$2:$C$2</c:f>
              <c:numCache>
                <c:formatCode>General</c:formatCode>
                <c:ptCount val="1"/>
                <c:pt idx="0">
                  <c:v>31.42</c:v>
                </c:pt>
              </c:numCache>
            </c:numRef>
          </c:bubbleSize>
          <c:bubble3D val="0"/>
        </c:ser>
        <c:ser>
          <c:idx val="1"/>
          <c:order val="1"/>
          <c:tx>
            <c:strRef>
              <c:f>Sheet1!$B$4</c:f>
              <c:strCache>
                <c:ptCount val="1"/>
                <c:pt idx="0">
                  <c:v>SegResNet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SegResNet</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Sheet1!$A$5:$A$5</c:f>
              <c:numCache>
                <c:formatCode>General</c:formatCode>
                <c:ptCount val="1"/>
                <c:pt idx="0">
                  <c:v>8.08</c:v>
                </c:pt>
              </c:numCache>
            </c:numRef>
          </c:xVal>
          <c:yVal>
            <c:numRef>
              <c:f>Sheet1!$B$5:$B$5</c:f>
              <c:numCache>
                <c:formatCode>General</c:formatCode>
                <c:ptCount val="1"/>
                <c:pt idx="0">
                  <c:v>0.8717</c:v>
                </c:pt>
              </c:numCache>
            </c:numRef>
          </c:yVal>
          <c:bubbleSize>
            <c:numRef>
              <c:f>Sheet1!$C$5:$C$5</c:f>
              <c:numCache>
                <c:formatCode>General</c:formatCode>
                <c:ptCount val="1"/>
                <c:pt idx="0">
                  <c:v>19.92</c:v>
                </c:pt>
              </c:numCache>
            </c:numRef>
          </c:bubbleSize>
          <c:bubble3D val="0"/>
        </c:ser>
        <c:ser>
          <c:idx val="2"/>
          <c:order val="2"/>
          <c:tx>
            <c:strRef>
              <c:f>Sheet1!$B$7</c:f>
              <c:strCache>
                <c:ptCount val="1"/>
                <c:pt idx="0">
                  <c:v>Swin UNETR</c:v>
                </c:pt>
              </c:strCache>
            </c:strRef>
          </c:tx>
          <c:spPr>
            <a:solidFill>
              <a:srgbClr val="B4532A"/>
            </a:solidFill>
            <a:ln>
              <a:solidFill>
                <a:srgbClr val="FFFFFF"/>
              </a:solidFill>
            </a:ln>
          </c:spPr>
          <c:invertIfNegative val="0"/>
          <c:dLbls>
            <c:dLbl>
              <c:idx val="0"/>
              <c:tx>
                <c:rich>
                  <a:bodyPr/>
                  <a:lstStyle/>
                  <a:p>
                    <a:r>
                      <a:rPr sz="900">
                        <a:solidFill>
                          <a:srgbClr val="1E2430"/>
                        </a:solidFill>
                        <a:latin typeface="Calibri"/>
                      </a:rPr>
                      <a:t>Swin UNETR</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Sheet1!$A$8:$A$8</c:f>
              <c:numCache>
                <c:formatCode>General</c:formatCode>
                <c:ptCount val="1"/>
                <c:pt idx="0">
                  <c:v>31.92</c:v>
                </c:pt>
              </c:numCache>
            </c:numRef>
          </c:xVal>
          <c:yVal>
            <c:numRef>
              <c:f>Sheet1!$B$8:$B$8</c:f>
              <c:numCache>
                <c:formatCode>General</c:formatCode>
                <c:ptCount val="1"/>
                <c:pt idx="0">
                  <c:v>0.836</c:v>
                </c:pt>
              </c:numCache>
            </c:numRef>
          </c:yVal>
          <c:bubbleSize>
            <c:numRef>
              <c:f>Sheet1!$C$8:$C$8</c:f>
              <c:numCache>
                <c:formatCode>General</c:formatCode>
                <c:ptCount val="1"/>
                <c:pt idx="0">
                  <c:v>72.77</c:v>
                </c:pt>
              </c:numCache>
            </c:numRef>
          </c:bubbleSize>
          <c:bubble3D val="0"/>
        </c:ser>
        <c:ser>
          <c:idx val="3"/>
          <c:order val="3"/>
          <c:tx>
            <c:strRef>
              <c:f>Sheet1!$B$10</c:f>
              <c:strCache>
                <c:ptCount val="1"/>
                <c:pt idx="0">
                  <c:v>CNN mean</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CNN mean</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Sheet1!$A$11:$A$11</c:f>
              <c:numCache>
                <c:formatCode>General</c:formatCode>
                <c:ptCount val="1"/>
                <c:pt idx="0">
                  <c:v>16.28</c:v>
                </c:pt>
              </c:numCache>
            </c:numRef>
          </c:xVal>
          <c:yVal>
            <c:numRef>
              <c:f>Sheet1!$B$11:$B$11</c:f>
              <c:numCache>
                <c:formatCode>General</c:formatCode>
                <c:ptCount val="1"/>
                <c:pt idx="0">
                  <c:v>0.8512</c:v>
                </c:pt>
              </c:numCache>
            </c:numRef>
          </c:yVal>
          <c:bubbleSize>
            <c:numRef>
              <c:f>Sheet1!$C$11:$C$11</c:f>
              <c:numCache>
                <c:formatCode>General</c:formatCode>
                <c:ptCount val="1"/>
                <c:pt idx="0">
                  <c:v>51.34</c:v>
                </c:pt>
              </c:numCache>
            </c:numRef>
          </c:bubbleSize>
          <c:bubble3D val="0"/>
        </c:ser>
        <c:ser>
          <c:idx val="4"/>
          <c:order val="4"/>
          <c:tx>
            <c:strRef>
              <c:f>Sheet1!$B$13</c:f>
              <c:strCache>
                <c:ptCount val="1"/>
                <c:pt idx="0">
                  <c:v>Proposed</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Proposed</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Sheet1!$A$14:$A$14</c:f>
              <c:numCache>
                <c:formatCode>General</c:formatCode>
                <c:ptCount val="1"/>
                <c:pt idx="0">
                  <c:v>48.2</c:v>
                </c:pt>
              </c:numCache>
            </c:numRef>
          </c:xVal>
          <c:yVal>
            <c:numRef>
              <c:f>Sheet1!$B$14:$B$14</c:f>
              <c:numCache>
                <c:formatCode>General</c:formatCode>
                <c:ptCount val="1"/>
                <c:pt idx="0">
                  <c:v>0.853</c:v>
                </c:pt>
              </c:numCache>
            </c:numRef>
          </c:yVal>
          <c:bubbleSize>
            <c:numRef>
              <c:f>Sheet1!$C$14:$C$14</c:f>
              <c:numCache>
                <c:formatCode>General</c:formatCode>
                <c:ptCount val="1"/>
                <c:pt idx="0">
                  <c:v>124.11</c:v>
                </c:pt>
              </c:numCache>
            </c:numRef>
          </c:bubbleSize>
          <c:bubble3D val="0"/>
        </c:ser>
        <c:dLbls>
          <c:showLegendKey val="0"/>
          <c:showVal val="0"/>
          <c:showCatName val="0"/>
          <c:showSerName val="0"/>
          <c:showPercent val="0"/>
          <c:showBubbleSize val="0"/>
        </c:dLbls>
        <c:bubbleScale val="35"/>
        <c:showNegBubbles val="0"/>
        <c:axId val="-2115720072"/>
        <c:axId val="-2115723560"/>
      </c:bubbleChart>
      <c:valAx>
        <c:axId val="-2115720072"/>
        <c:scaling>
          <c:orientation val="minMax"/>
          <c:max val="55.0"/>
          <c:min val="0.0"/>
        </c:scaling>
        <c:delete val="0"/>
        <c:axPos val="b"/>
        <c:title>
          <c:tx>
            <c:rich>
              <a:bodyPr/>
              <a:lstStyle/>
              <a:p>
                <a:r>
                  <a:rPr sz="1000" b="0">
                    <a:solidFill>
                      <a:srgbClr val="5B6472"/>
                    </a:solidFill>
                  </a:rPr>
                  <a:t>Latency per case with TTA (s)</a:t>
                </a:r>
              </a:p>
            </c:rich>
          </c:tx>
          <c:layout/>
          <c:overlay val="0"/>
        </c:title>
        <c:numFmt formatCode="0" sourceLinked="0"/>
        <c:majorTickMark val="out"/>
        <c:minorTickMark val="none"/>
        <c:tickLblPos val="nextTo"/>
        <c:spPr>
          <a:ln>
            <a:solidFill>
              <a:srgbClr val="D5DAE1"/>
            </a:solidFill>
          </a:ln>
        </c:spPr>
        <c:txPr>
          <a:bodyPr/>
          <a:lstStyle/>
          <a:p>
            <a:pPr>
              <a:defRPr sz="1000">
                <a:solidFill>
                  <a:srgbClr val="5B6472"/>
                </a:solidFill>
              </a:defRPr>
            </a:pPr>
          </a:p>
        </c:txPr>
        <c:crossAx val="-2115723560"/>
        <c:crosses val="autoZero"/>
        <c:crossBetween val="midCat"/>
      </c:valAx>
      <c:valAx>
        <c:axId val="-2115723560"/>
        <c:scaling>
          <c:orientation val="minMax"/>
          <c:max val="0.88"/>
          <c:min val="0.82"/>
        </c:scaling>
        <c:delete val="0"/>
        <c:axPos val="l"/>
        <c:majorGridlines>
          <c:spPr>
            <a:ln w="9525">
              <a:solidFill>
                <a:srgbClr val="D5DAE1"/>
              </a:solidFill>
            </a:ln>
          </c:spPr>
        </c:majorGridlines>
        <c:title>
          <c:tx>
            <c:rich>
              <a:bodyPr/>
              <a:lstStyle/>
              <a:p>
                <a:r>
                  <a:rPr sz="1000" b="0">
                    <a:solidFill>
                      <a:srgbClr val="5B6472"/>
                    </a:solidFill>
                  </a:rPr>
                  <a:t>Mean Dice</a:t>
                </a:r>
              </a:p>
            </c:rich>
          </c:tx>
          <c:layout/>
          <c:overlay val="0"/>
        </c:title>
        <c:numFmt formatCode="0.00" sourceLinked="0"/>
        <c:majorTickMark val="out"/>
        <c:minorTickMark val="none"/>
        <c:tickLblPos val="nextTo"/>
        <c:spPr>
          <a:ln>
            <a:noFill/>
          </a:ln>
        </c:spPr>
        <c:txPr>
          <a:bodyPr/>
          <a:lstStyle/>
          <a:p>
            <a:pPr>
              <a:defRPr sz="1000">
                <a:solidFill>
                  <a:srgbClr val="5B6472"/>
                </a:solidFill>
              </a:defRPr>
            </a:pPr>
          </a:p>
        </c:txPr>
        <c:crossAx val="-2115720072"/>
        <c:crosses val="autoZero"/>
        <c:crossBetween val="midCat"/>
      </c:valAx>
    </c:plotArea>
    <c:plotVisOnly val="1"/>
    <c:dispBlanksAs val="gap"/>
    <c:showDLblsOverMax val="0"/>
  </c:chart>
  <c:txPr>
    <a:bodyPr/>
    <a:lstStyle/>
    <a:p>
      <a:pPr>
        <a:defRPr sz="1000">
          <a:solidFill>
            <a:srgbClr val="1E243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guide. The project has two research outputs and one product: a 2D classification benchmark, a 3D segmentation study with external validation, and the NeuroScan AI web application that deploys the models those studies selected.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guide approved Review 3 by mail: the presentation and demonstration were approved, the report and meetings were rated satisfied, and the Turnitin similarity was 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has three parts that map to the two papers and the application. The statistics motivate the problem: brain tumours are common, and gliomas dominate the malignant group.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abstract covers the whole project: the problem, the curated data, the two controlled studies, the deployed application and the main findings. In 2D the backbones are statistically tied, so the cheapest is deployed; in 3D the ensemble does not beat SegResNet, while the disagreement between its members is a strong quality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work used hand-crafted features; transfer learning pushed reported accuracy to 97 to 100%, but each study uses its own data, split and single model. Figures are as reported by each study; the figshare three-class studies are subtype classification, not detection.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nine backbones of Paper 1 come from these architecture lines; the training tools in the last row are applied identically to every backbone.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3D CNNs and transformers exist, but they are rarely fused per region or tested on an external population, and single-model uncertainty is a weak failure signal.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works explain why reported scores can be inflated and how this project checks for leakage, shortcuts, calibration and statistical significance.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on the left is answered by a specific design decision on the right; these decisions are the contributions of the two papers.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1 to 3 belong to Paper 1, objective 4 to Paper 2 and objective 5 to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two research pipelines that produced the checkpoints. Bottom: the application that loads them. The application only reads the exported checkpoints; training stays in the notebooks.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are what the user can do; modules are how the project is built. The first three modules are the research notebooks; the rest form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Deduplication removed 63.57% of the detection pool, mostly Br35H copies, and 18.84% of the subtype pool. The brain crop is the same one the application applies. Grouping by similarity is a proxy for patient-level splitting because no source records patient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of every results table differs only in the architecture. Two Tesla T4 GPUs on Kaggle, PyTorch 2.11.0. Each backbone was also trained once on fold 0 with the head set to zero for the shortcut test, giving 54 runs per task, all completed. EfficientNetB0, shaded, is the deployed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pair of models differs significantly (all Holm-adjusted p = 1.0), so the ordering on the left is not a ranking of architectures. The bootstrap gap to CoAtNet-0 excludes zero only for VGG16 and MobileNetV3-Large, both 2.34 points behind (0.58 to 4.68).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trained on full images depend on the head, but the data do not stop them from using the background. Swin-Base reaches 83.0% detection accuracy without seeing any brain; subtype background-only models reach up to 97.8%.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search gave the transformer weight only for the tumour core. SegResNet, shaded, is the deployed model; the web application loads its checkpoint with the same MONAI version and runs it without TTA.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validation Dice: nnU-Net 0.8415 (epoch 55), SegResNet 0.8390 (50), Swin UNETR 0.8191 (30). The ensemble has the highest sensitivity in every region, from thresholds below 0.5, but not the highest Dice. Swin UNETR loses the least externally (0.047) and SegResNet the most (0.075).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LGG cases are the weak spot of every model, because many have no enhancing tumour; SegResNet's internal lead comes mostly from them. Disagreement cannot flag a tumour that all networks miss. In the bubble chart, navy marks the CNNs, brick the transformer and teal the ensembles.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SegResNet and EfficientNetB0 for deployment; in 3D, an architecturally different second network is most useful as a disagreement check. External validation changed the 3D ranking.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status before the review and upload the proof to the form given in the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chart" Target="../charts/chart1.xml"/><Relationship Id="rId4"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B9B71VPy5b9bZ9dJ8" TargetMode="External"/><Relationship Id="rId3" Type="http://schemas.openxmlformats.org/officeDocument/2006/relationships/notesSlide" Target="../notesSlides/notesSlide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chart" Target="../charts/chart3.xml"/><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1280160" y="1874519"/>
            <a:ext cx="9628632" cy="1325880"/>
          </a:xfrm>
          <a:prstGeom prst="rect">
            <a:avLst/>
          </a:prstGeom>
          <a:noFill/>
        </p:spPr>
        <p:txBody>
          <a:bodyPr wrap="square" rtlCol="0">
            <a:spAutoFit/>
          </a:bodyPr>
          <a:lstStyle/>
          <a:p>
            <a:pPr algn="ctr">
              <a:spcAft>
                <a:spcPts val="600"/>
              </a:spcAft>
            </a:pPr>
            <a:r>
              <a:rPr sz="1600" b="1" i="0">
                <a:solidFill>
                  <a:srgbClr val="1E2430"/>
                </a:solidFill>
                <a:latin typeface="Times New Roman"/>
              </a:rPr>
              <a:t>B.Tech BCSE497J – Project-I</a:t>
            </a:r>
          </a:p>
          <a:p>
            <a:pPr algn="ctr">
              <a:spcAft>
                <a:spcPts val="600"/>
              </a:spcAft>
            </a:pPr>
            <a:r>
              <a:rPr sz="2600" b="1" i="0">
                <a:solidFill>
                  <a:srgbClr val="1F3A68"/>
                </a:solidFill>
                <a:latin typeface="Times New Roman"/>
              </a:rPr>
              <a:t>NeuroScan AI: AI-Powered Brain Tumour Detection, Classification and Segmentation Platform</a:t>
            </a:r>
          </a:p>
        </p:txBody>
      </p:sp>
      <p:sp>
        <p:nvSpPr>
          <p:cNvPr id="8" name="TextBox 7"/>
          <p:cNvSpPr txBox="1"/>
          <p:nvPr/>
        </p:nvSpPr>
        <p:spPr>
          <a:xfrm>
            <a:off x="2395728" y="3520440"/>
            <a:ext cx="329184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Team members</a:t>
            </a:r>
          </a:p>
          <a:p>
            <a:pPr algn="l">
              <a:lnSpc>
                <a:spcPct val="100000"/>
              </a:lnSpc>
              <a:spcAft>
                <a:spcPts val="400"/>
              </a:spcAft>
            </a:pPr>
            <a:r>
              <a:rPr sz="1600" b="0" i="0">
                <a:solidFill>
                  <a:srgbClr val="1E2430"/>
                </a:solidFill>
                <a:latin typeface="Calibri"/>
              </a:rPr>
              <a:t>Parth Mital (23BCE0842)</a:t>
            </a:r>
          </a:p>
          <a:p>
            <a:pPr algn="l">
              <a:lnSpc>
                <a:spcPct val="100000"/>
              </a:lnSpc>
              <a:spcAft>
                <a:spcPts val="400"/>
              </a:spcAft>
            </a:pPr>
            <a:r>
              <a:rPr sz="1600" b="0" i="0">
                <a:solidFill>
                  <a:srgbClr val="1E2430"/>
                </a:solidFill>
                <a:latin typeface="Calibri"/>
              </a:rPr>
              <a:t>Ved Lawand (23BDS0141)</a:t>
            </a:r>
          </a:p>
        </p:txBody>
      </p:sp>
      <p:sp>
        <p:nvSpPr>
          <p:cNvPr id="9" name="TextBox 8"/>
          <p:cNvSpPr txBox="1"/>
          <p:nvPr/>
        </p:nvSpPr>
        <p:spPr>
          <a:xfrm>
            <a:off x="6419088" y="3520440"/>
            <a:ext cx="365760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Faculty guide</a:t>
            </a:r>
          </a:p>
          <a:p>
            <a:pPr algn="l">
              <a:lnSpc>
                <a:spcPct val="100000"/>
              </a:lnSpc>
              <a:spcAft>
                <a:spcPts val="400"/>
              </a:spcAft>
            </a:pPr>
            <a:r>
              <a:rPr sz="1600" b="0" i="0">
                <a:solidFill>
                  <a:srgbClr val="1E2430"/>
                </a:solidFill>
                <a:latin typeface="Calibri"/>
              </a:rPr>
              <a:t>Dr. Biji C. L.</a:t>
            </a:r>
          </a:p>
          <a:p>
            <a:pPr algn="l">
              <a:lnSpc>
                <a:spcPct val="100000"/>
              </a:lnSpc>
              <a:spcAft>
                <a:spcPts val="400"/>
              </a:spcAft>
            </a:pPr>
            <a:r>
              <a:rPr sz="1600" b="0" i="0">
                <a:solidFill>
                  <a:srgbClr val="1E2430"/>
                </a:solidFill>
                <a:latin typeface="Calibri"/>
              </a:rPr>
              <a:t>Associate Professor Grade 2, SCOPE</a:t>
            </a:r>
          </a:p>
        </p:txBody>
      </p:sp>
      <p:sp>
        <p:nvSpPr>
          <p:cNvPr id="10" name="TextBox 9"/>
          <p:cNvSpPr txBox="1"/>
          <p:nvPr/>
        </p:nvSpPr>
        <p:spPr>
          <a:xfrm>
            <a:off x="1280160" y="5120640"/>
            <a:ext cx="9628632" cy="548640"/>
          </a:xfrm>
          <a:prstGeom prst="rect">
            <a:avLst/>
          </a:prstGeom>
          <a:noFill/>
        </p:spPr>
        <p:txBody>
          <a:bodyPr wrap="square" lIns="0" rIns="0" tIns="0" bIns="0" anchor="t">
            <a:noAutofit/>
          </a:bodyPr>
          <a:lstStyle/>
          <a:p>
            <a:pPr algn="ctr">
              <a:lnSpc>
                <a:spcPct val="100000"/>
              </a:lnSpc>
              <a:spcAft>
                <a:spcPts val="400"/>
              </a:spcAft>
            </a:pPr>
            <a:r>
              <a:rPr sz="1200" b="0" i="0">
                <a:solidFill>
                  <a:srgbClr val="5B6472"/>
                </a:solidFill>
                <a:latin typeface="Calibri"/>
              </a:rPr>
              <a:t>Based on two research manuscripts: a leakage-controlled benchmark of 2D backbones for detection and subtype classification, and a region-adaptive CNN-transformer ensemble for 3D segmentation with external validation</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6ACBE13-A9D6-9564-DA47-597E38E09F70}"/>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Approval Mail From Guide</a:t>
            </a:r>
          </a:p>
        </p:txBody>
      </p:sp>
      <p:sp>
        <p:nvSpPr>
          <p:cNvPr id="4" name="Date Placeholder 3">
            <a:extLst>
              <a:ext uri="{FF2B5EF4-FFF2-40B4-BE49-F238E27FC236}">
                <a16:creationId xmlns:a16="http://schemas.microsoft.com/office/drawing/2014/main" xmlns="" id="{C7827C50-3ED3-2DB6-C227-6784C6CA9E3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dirty="0"/>
          </a:p>
        </p:txBody>
      </p:sp>
      <p:sp>
        <p:nvSpPr>
          <p:cNvPr id="5" name="Footer Placeholder 4">
            <a:extLst>
              <a:ext uri="{FF2B5EF4-FFF2-40B4-BE49-F238E27FC236}">
                <a16:creationId xmlns:a16="http://schemas.microsoft.com/office/drawing/2014/main" xmlns="" id="{56664170-792F-28F8-1C31-5F7A8D69F97E}"/>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E16528B-72DB-0275-6A94-33ABB5CD7075}"/>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2</a:t>
            </a:fld>
            <a:endParaRPr lang="en-IN"/>
          </a:p>
        </p:txBody>
      </p:sp>
      <p:pic>
        <p:nvPicPr>
          <p:cNvPr id="7" name="Picture 6" descr="Approval mail from the guide for Review 3 of Project ID 18812UG0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1150" y="1371600"/>
            <a:ext cx="8609700" cy="3749040"/>
          </a:xfrm>
          <a:prstGeom prst="rect">
            <a:avLst/>
          </a:prstGeom>
        </p:spPr>
      </p:pic>
      <p:sp>
        <p:nvSpPr>
          <p:cNvPr id="8" name="TextBox 7"/>
          <p:cNvSpPr txBox="1"/>
          <p:nvPr/>
        </p:nvSpPr>
        <p:spPr>
          <a:xfrm>
            <a:off x="548640" y="5394960"/>
            <a:ext cx="11091672" cy="365760"/>
          </a:xfrm>
          <a:prstGeom prst="rect">
            <a:avLst/>
          </a:prstGeom>
          <a:noFill/>
        </p:spPr>
        <p:txBody>
          <a:bodyPr wrap="square" lIns="0" rIns="0" tIns="0" bIns="0" anchor="t">
            <a:noAutofit/>
          </a:bodyPr>
          <a:lstStyle/>
          <a:p>
            <a:pPr algn="ctr">
              <a:lnSpc>
                <a:spcPct val="100000"/>
              </a:lnSpc>
              <a:spcAft>
                <a:spcPts val="400"/>
              </a:spcAft>
            </a:pPr>
            <a:r>
              <a:rPr sz="1600" b="0" i="0">
                <a:solidFill>
                  <a:srgbClr val="1E2430"/>
                </a:solidFill>
                <a:latin typeface="Calibri"/>
              </a:rPr>
              <a:t>All the above aspects are addressed and updated by the project team.</a:t>
            </a:r>
          </a:p>
        </p:txBody>
      </p:sp>
    </p:spTree>
    <p:extLst>
      <p:ext uri="{BB962C8B-B14F-4D97-AF65-F5344CB8AC3E}">
        <p14:creationId xmlns:p14="http://schemas.microsoft.com/office/powerpoint/2010/main" val="1256560622"/>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xmlns="" id="{027305EA-516C-11F8-8A54-2BA046094AB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Aim</a:t>
            </a:r>
          </a:p>
        </p:txBody>
      </p:sp>
      <p:sp>
        <p:nvSpPr>
          <p:cNvPr id="7" name="Date Placeholder 6">
            <a:extLst>
              <a:ext uri="{FF2B5EF4-FFF2-40B4-BE49-F238E27FC236}">
                <a16:creationId xmlns:a16="http://schemas.microsoft.com/office/drawing/2014/main" xmlns="" id="{779E6AA7-AE20-8A91-BA42-261BF76A2F8B}"/>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8" name="Footer Placeholder 7">
            <a:extLst>
              <a:ext uri="{FF2B5EF4-FFF2-40B4-BE49-F238E27FC236}">
                <a16:creationId xmlns:a16="http://schemas.microsoft.com/office/drawing/2014/main" xmlns="" id="{B77FE434-77F0-B8BE-9198-66090332F3F0}"/>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9" name="Slide Number Placeholder 8">
            <a:extLst>
              <a:ext uri="{FF2B5EF4-FFF2-40B4-BE49-F238E27FC236}">
                <a16:creationId xmlns:a16="http://schemas.microsoft.com/office/drawing/2014/main" xmlns="" id="{5AD6A9DA-AEE9-F6FE-EFA8-06396314F7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3</a:t>
            </a:fld>
            <a:endParaRPr lang="en-IN"/>
          </a:p>
        </p:txBody>
      </p:sp>
      <p:sp>
        <p:nvSpPr>
          <p:cNvPr id="10" name="TextBox 9"/>
          <p:cNvSpPr txBox="1"/>
          <p:nvPr/>
        </p:nvSpPr>
        <p:spPr>
          <a:xfrm>
            <a:off x="548640" y="1234440"/>
            <a:ext cx="11091672" cy="800608"/>
          </a:xfrm>
          <a:prstGeom prst="rect">
            <a:avLst/>
          </a:prstGeom>
          <a:noFill/>
        </p:spPr>
        <p:txBody>
          <a:bodyPr wrap="square" lIns="0" rIns="0" tIns="0" bIns="0" anchor="t">
            <a:noAutofit/>
          </a:bodyPr>
          <a:lstStyle/>
          <a:p>
            <a:pPr algn="l">
              <a:lnSpc>
                <a:spcPct val="100000"/>
              </a:lnSpc>
              <a:spcAft>
                <a:spcPts val="400"/>
              </a:spcAft>
            </a:pPr>
            <a:r>
              <a:rPr sz="1600" b="0" i="0">
                <a:solidFill>
                  <a:srgbClr val="1E2430"/>
                </a:solidFill>
                <a:latin typeface="Calibri"/>
              </a:rPr>
              <a:t>To build and rigorously evaluate an AI system that </a:t>
            </a:r>
            <a:r>
              <a:rPr sz="1600" b="1" i="0">
                <a:solidFill>
                  <a:srgbClr val="1E2430"/>
                </a:solidFill>
                <a:latin typeface="Calibri"/>
              </a:rPr>
              <a:t>detects</a:t>
            </a:r>
            <a:r>
              <a:rPr sz="1600" b="0" i="0">
                <a:solidFill>
                  <a:srgbClr val="1E2430"/>
                </a:solidFill>
                <a:latin typeface="Calibri"/>
              </a:rPr>
              <a:t> brain tumours in MRI, </a:t>
            </a:r>
            <a:r>
              <a:rPr sz="1600" b="1" i="0">
                <a:solidFill>
                  <a:srgbClr val="1E2430"/>
                </a:solidFill>
                <a:latin typeface="Calibri"/>
              </a:rPr>
              <a:t>classifies</a:t>
            </a:r>
            <a:r>
              <a:rPr sz="1600" b="0" i="0">
                <a:solidFill>
                  <a:srgbClr val="1E2430"/>
                </a:solidFill>
                <a:latin typeface="Calibri"/>
              </a:rPr>
              <a:t> them as glioma, meningioma or pituitary tumour, and </a:t>
            </a:r>
            <a:r>
              <a:rPr sz="1600" b="1" i="0">
                <a:solidFill>
                  <a:srgbClr val="1E2430"/>
                </a:solidFill>
                <a:latin typeface="Calibri"/>
              </a:rPr>
              <a:t>segments</a:t>
            </a:r>
            <a:r>
              <a:rPr sz="1600" b="0" i="0">
                <a:solidFill>
                  <a:srgbClr val="1E2430"/>
                </a:solidFill>
                <a:latin typeface="Calibri"/>
              </a:rPr>
              <a:t> the whole tumour, tumour core and enhancing tumour in 3D, selecting every deployed model through a controlled, leakage-aware benchmark.</a:t>
            </a:r>
          </a:p>
        </p:txBody>
      </p:sp>
      <p:sp>
        <p:nvSpPr>
          <p:cNvPr id="11" name="Rectangle 10"/>
          <p:cNvSpPr/>
          <p:nvPr/>
        </p:nvSpPr>
        <p:spPr>
          <a:xfrm>
            <a:off x="548640"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453,623</a:t>
            </a:r>
          </a:p>
        </p:txBody>
      </p:sp>
      <p:sp>
        <p:nvSpPr>
          <p:cNvPr id="13" name="TextBox 12"/>
          <p:cNvSpPr txBox="1"/>
          <p:nvPr/>
        </p:nvSpPr>
        <p:spPr>
          <a:xfrm>
            <a:off x="713232"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primary brain and other CNS tumours diagnosed in the United States, 2016 to 2020 [1]</a:t>
            </a:r>
          </a:p>
        </p:txBody>
      </p:sp>
      <p:sp>
        <p:nvSpPr>
          <p:cNvPr id="14" name="Rectangle 13"/>
          <p:cNvSpPr/>
          <p:nvPr/>
        </p:nvSpPr>
        <p:spPr>
          <a:xfrm>
            <a:off x="4322064"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6656"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26.3%</a:t>
            </a:r>
          </a:p>
        </p:txBody>
      </p:sp>
      <p:sp>
        <p:nvSpPr>
          <p:cNvPr id="16" name="TextBox 15"/>
          <p:cNvSpPr txBox="1"/>
          <p:nvPr/>
        </p:nvSpPr>
        <p:spPr>
          <a:xfrm>
            <a:off x="4486656"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these tumours are gliomas [1]</a:t>
            </a:r>
          </a:p>
        </p:txBody>
      </p:sp>
      <p:sp>
        <p:nvSpPr>
          <p:cNvPr id="17" name="Rectangle 16"/>
          <p:cNvSpPr/>
          <p:nvPr/>
        </p:nvSpPr>
        <p:spPr>
          <a:xfrm>
            <a:off x="8095488"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About 80%</a:t>
            </a:r>
          </a:p>
        </p:txBody>
      </p:sp>
      <p:sp>
        <p:nvSpPr>
          <p:cNvPr id="19" name="TextBox 18"/>
          <p:cNvSpPr txBox="1"/>
          <p:nvPr/>
        </p:nvSpPr>
        <p:spPr>
          <a:xfrm>
            <a:off x="8260080"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malignant brain tumours worldwide are gliomas [2]</a:t>
            </a:r>
          </a:p>
        </p:txBody>
      </p:sp>
      <p:sp>
        <p:nvSpPr>
          <p:cNvPr id="20" name="Rectangle 19"/>
          <p:cNvSpPr/>
          <p:nvPr/>
        </p:nvSpPr>
        <p:spPr>
          <a:xfrm>
            <a:off x="548640"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1. Detect and classify in 2D</a:t>
            </a:r>
          </a:p>
          <a:p>
            <a:pPr algn="l">
              <a:lnSpc>
                <a:spcPct val="100000"/>
              </a:lnSpc>
              <a:spcAft>
                <a:spcPts val="400"/>
              </a:spcAft>
            </a:pPr>
            <a:r>
              <a:rPr sz="1200" b="0" i="0">
                <a:solidFill>
                  <a:srgbClr val="1E2430"/>
                </a:solidFill>
                <a:latin typeface="Calibri"/>
              </a:rPr>
              <a:t>Benchmark nine ImageNet-pretrained CNN, transformer and hybrid backbones for tumour detection and glioma, meningioma or pituitary classification on deduplicated public MRI slices (Paper 1).</a:t>
            </a:r>
          </a:p>
        </p:txBody>
      </p:sp>
      <p:sp>
        <p:nvSpPr>
          <p:cNvPr id="22" name="Rectangle 21"/>
          <p:cNvSpPr/>
          <p:nvPr/>
        </p:nvSpPr>
        <p:spPr>
          <a:xfrm>
            <a:off x="4322064"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6656"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2. Segment in 3D</a:t>
            </a:r>
          </a:p>
          <a:p>
            <a:pPr algn="l">
              <a:lnSpc>
                <a:spcPct val="100000"/>
              </a:lnSpc>
              <a:spcAft>
                <a:spcPts val="400"/>
              </a:spcAft>
            </a:pPr>
            <a:r>
              <a:rPr sz="1200" b="0" i="0">
                <a:solidFill>
                  <a:srgbClr val="1E2430"/>
                </a:solidFill>
                <a:latin typeface="Calibri"/>
              </a:rPr>
              <a:t>Fuse two 3D CNNs and a transformer per tumour region for whole tumour, tumour core and enhancing tumour, and test them on BraTS 2020 and on external BraTS-Africa cases (Paper 2).</a:t>
            </a:r>
          </a:p>
        </p:txBody>
      </p:sp>
      <p:sp>
        <p:nvSpPr>
          <p:cNvPr id="24" name="Rectangle 23"/>
          <p:cNvSpPr/>
          <p:nvPr/>
        </p:nvSpPr>
        <p:spPr>
          <a:xfrm>
            <a:off x="8095488"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0080"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3. Deploy</a:t>
            </a:r>
          </a:p>
          <a:p>
            <a:pPr algn="l">
              <a:lnSpc>
                <a:spcPct val="100000"/>
              </a:lnSpc>
              <a:spcAft>
                <a:spcPts val="400"/>
              </a:spcAft>
            </a:pPr>
            <a:r>
              <a:rPr sz="1200" b="0" i="0">
                <a:solidFill>
                  <a:srgbClr val="1E2430"/>
                </a:solidFill>
                <a:latin typeface="Calibri"/>
              </a:rPr>
              <a:t>Serve the most efficient models, EfficientNetB0 and SegResNet, in a secure web application with a linked multi-planar and 3D viewer and PDF and CSV reports.</a:t>
            </a:r>
          </a:p>
        </p:txBody>
      </p:sp>
      <p:sp>
        <p:nvSpPr>
          <p:cNvPr id="26" name="TextBox 25"/>
          <p:cNvSpPr txBox="1"/>
          <p:nvPr/>
        </p:nvSpPr>
        <p:spPr>
          <a:xfrm>
            <a:off x="548640" y="5386832"/>
            <a:ext cx="11091672" cy="404367"/>
          </a:xfrm>
          <a:prstGeom prst="rect">
            <a:avLst/>
          </a:prstGeom>
          <a:noFill/>
        </p:spPr>
        <p:txBody>
          <a:bodyPr wrap="square" lIns="0" rIns="0" tIns="0" bIns="0" anchor="t">
            <a:noAutofit/>
          </a:bodyPr>
          <a:lstStyle/>
          <a:p>
            <a:pPr algn="l">
              <a:lnSpc>
                <a:spcPct val="100000"/>
              </a:lnSpc>
              <a:spcAft>
                <a:spcPts val="400"/>
              </a:spcAft>
            </a:pPr>
            <a:r>
              <a:rPr sz="1100" b="1" i="0">
                <a:solidFill>
                  <a:srgbClr val="5B6472"/>
                </a:solidFill>
                <a:latin typeface="Calibri"/>
              </a:rPr>
              <a:t>Motivation.</a:t>
            </a:r>
            <a:r>
              <a:rPr sz="1100" b="0" i="0">
                <a:solidFill>
                  <a:srgbClr val="5B6472"/>
                </a:solidFill>
                <a:latin typeface="Calibri"/>
              </a:rPr>
              <a:t> MRI is the main non-invasive modality for characterising brain tumours [3], which are classified by cell of origin and molecular features [4]. Manual reading is slow and varies between and within readers [5], and reliable automation can support faster, more consistent assessment [6, 7].</a:t>
            </a:r>
          </a:p>
        </p:txBody>
      </p:sp>
    </p:spTree>
    <p:extLst>
      <p:ext uri="{BB962C8B-B14F-4D97-AF65-F5344CB8AC3E}">
        <p14:creationId xmlns:p14="http://schemas.microsoft.com/office/powerpoint/2010/main" val="2543518868"/>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BD95E8-8D7C-F548-8B75-23C3B2B15B1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156C6ACB-BF9E-DB99-B99C-4896C652737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Abstract</a:t>
            </a:r>
          </a:p>
        </p:txBody>
      </p:sp>
      <p:sp>
        <p:nvSpPr>
          <p:cNvPr id="2" name="Date Placeholder 1">
            <a:extLst>
              <a:ext uri="{FF2B5EF4-FFF2-40B4-BE49-F238E27FC236}">
                <a16:creationId xmlns:a16="http://schemas.microsoft.com/office/drawing/2014/main" xmlns="" id="{7C3D067F-DF0A-3BD2-0B9E-C22E39B7F8C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E1EFD8C3-C2D0-4BBB-7FD8-43FE2C084A64}"/>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8BB9991A-41D4-F0AB-EF39-ACE70C817D43}"/>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4</a:t>
            </a:fld>
            <a:endParaRPr lang="en-IN"/>
          </a:p>
        </p:txBody>
      </p:sp>
      <p:sp>
        <p:nvSpPr>
          <p:cNvPr id="7" name="Rectangle 6"/>
          <p:cNvSpPr/>
          <p:nvPr/>
        </p:nvSpPr>
        <p:spPr>
          <a:xfrm>
            <a:off x="548640"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Background and aim</a:t>
            </a:r>
          </a:p>
          <a:p>
            <a:pPr algn="l">
              <a:lnSpc>
                <a:spcPct val="100000"/>
              </a:lnSpc>
              <a:spcAft>
                <a:spcPts val="400"/>
              </a:spcAft>
            </a:pPr>
            <a:r>
              <a:rPr sz="1100" b="0" i="0">
                <a:solidFill>
                  <a:srgbClr val="1E2430"/>
                </a:solidFill>
                <a:latin typeface="Calibri"/>
              </a:rPr>
              <a:t>Brain tumour MRI must be read for presence, type and extent, and manual reading is slow and varies between readers [5]. Published deep-learning results cannot be compared: studies differ in data, splits, budgets and metrics, and near-duplicate images leak between partitions [8, 9]. This project builds a system that detects, classifies and segments brain tumours, and selects every deployed model through controlled benchmarks.</a:t>
            </a:r>
          </a:p>
        </p:txBody>
      </p:sp>
      <p:sp>
        <p:nvSpPr>
          <p:cNvPr id="9" name="Rectangle 8"/>
          <p:cNvSpPr/>
          <p:nvPr/>
        </p:nvSpPr>
        <p:spPr>
          <a:xfrm>
            <a:off x="4322064"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6656"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Data and leakage control</a:t>
            </a:r>
          </a:p>
          <a:p>
            <a:pPr algn="l">
              <a:lnSpc>
                <a:spcPct val="100000"/>
              </a:lnSpc>
              <a:spcAft>
                <a:spcPts val="400"/>
              </a:spcAft>
            </a:pPr>
            <a:r>
              <a:rPr sz="1100" b="0" i="0">
                <a:solidFill>
                  <a:srgbClr val="1E2430"/>
                </a:solidFill>
                <a:latin typeface="Calibri"/>
              </a:rPr>
              <a:t>Four public 2D collections are brain-cropped and deduplicated with label-aware perceptual hashing (3,253 to 1,185 detection and 5,828 to 4,730 subtype images), grouped by similarity and split group-aware into five folds and a held-out test set. The 3D study uses BraTS 2020 (369 cases, split 257 / 56 / 56 by grade) and 60 external BraTS-Africa cases [10].</a:t>
            </a:r>
          </a:p>
        </p:txBody>
      </p:sp>
      <p:sp>
        <p:nvSpPr>
          <p:cNvPr id="11" name="Rectangle 10"/>
          <p:cNvSpPr/>
          <p:nvPr/>
        </p:nvSpPr>
        <p:spPr>
          <a:xfrm>
            <a:off x="8095488"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0080"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Paper 1: 2D detection and classification</a:t>
            </a:r>
          </a:p>
          <a:p>
            <a:pPr algn="l">
              <a:lnSpc>
                <a:spcPct val="100000"/>
              </a:lnSpc>
              <a:spcAft>
                <a:spcPts val="400"/>
              </a:spcAft>
            </a:pPr>
            <a:r>
              <a:rPr sz="1100" b="0" i="0">
                <a:solidFill>
                  <a:srgbClr val="1E2430"/>
                </a:solidFill>
                <a:latin typeface="Calibri"/>
              </a:rPr>
              <a:t>We introduce a leakage-controlled, calibrated, and efficient pipeline for MRI tumour detection and subtype classification that discards near-duplicates and conflicting images prior to group-aware splitting. We evaluate nine ImageNet-pretrained convolutional, transformer and hybrid backbones under an equal budget of optimiser steps using bootstrapped confidence intervals, McNemar tests with Holm correction, temperature scaling, and Grad-CAM and background-only shortcut audits.</a:t>
            </a:r>
          </a:p>
        </p:txBody>
      </p:sp>
      <p:sp>
        <p:nvSpPr>
          <p:cNvPr id="13" name="Rectangle 12"/>
          <p:cNvSpPr/>
          <p:nvPr/>
        </p:nvSpPr>
        <p:spPr>
          <a:xfrm>
            <a:off x="548640"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Paper 2: 3D segmentation</a:t>
            </a:r>
          </a:p>
          <a:p>
            <a:pPr algn="l">
              <a:lnSpc>
                <a:spcPct val="100000"/>
              </a:lnSpc>
              <a:spcAft>
                <a:spcPts val="400"/>
              </a:spcAft>
            </a:pPr>
            <a:r>
              <a:rPr sz="1100" b="0" i="0">
                <a:solidFill>
                  <a:srgbClr val="1E2430"/>
                </a:solidFill>
                <a:latin typeface="Calibri"/>
              </a:rPr>
              <a:t>nnU-Net, SegResNet and Swin UNETR-v2 [11–13] segment the whole tumour, tumour core and enhancing tumour at native 1 mm. A region-adaptive ensemble picks one weight vector and threshold per region on validation cases; every model is tested internally, externally, by grade and for cost, and member disagreement is tested as a quality-control signal.</a:t>
            </a:r>
          </a:p>
        </p:txBody>
      </p:sp>
      <p:sp>
        <p:nvSpPr>
          <p:cNvPr id="15" name="Rectangle 14"/>
          <p:cNvSpPr/>
          <p:nvPr/>
        </p:nvSpPr>
        <p:spPr>
          <a:xfrm>
            <a:off x="4322064"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6656"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NeuroScan AI application</a:t>
            </a:r>
          </a:p>
          <a:p>
            <a:pPr algn="l">
              <a:lnSpc>
                <a:spcPct val="100000"/>
              </a:lnSpc>
              <a:spcAft>
                <a:spcPts val="400"/>
              </a:spcAft>
            </a:pPr>
            <a:r>
              <a:rPr sz="1100" b="0" i="0">
                <a:solidFill>
                  <a:srgbClr val="1E2430"/>
                </a:solidFill>
                <a:latin typeface="Calibri"/>
              </a:rPr>
              <a:t>EfficientNetB0 (detection and classification) and SegResNet (segmentation) are served by a FastAPI backend and a React front end with background processing, a linked multi-planar and 3D viewer, PDF and CSV reports, and secure sign-in with optional TOTP. 64 backend and 39 frontend automated tests pass.</a:t>
            </a:r>
          </a:p>
        </p:txBody>
      </p:sp>
      <p:sp>
        <p:nvSpPr>
          <p:cNvPr id="17" name="Rectangle 16"/>
          <p:cNvSpPr/>
          <p:nvPr/>
        </p:nvSpPr>
        <p:spPr>
          <a:xfrm>
            <a:off x="8095488"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Results and conclusion</a:t>
            </a:r>
          </a:p>
          <a:p>
            <a:pPr algn="l">
              <a:lnSpc>
                <a:spcPct val="100000"/>
              </a:lnSpc>
              <a:spcAft>
                <a:spcPts val="400"/>
              </a:spcAft>
            </a:pPr>
            <a:r>
              <a:rPr sz="1100" b="0" i="0">
                <a:solidFill>
                  <a:srgbClr val="1E2430"/>
                </a:solidFill>
                <a:latin typeface="Calibri"/>
              </a:rPr>
              <a:t>All nine 2D backbones reach 97.08% to 99.42% detection accuracy with no significant pairwise difference, and background-only models beat chance, so cost decides: EfficientNetB0 (4.01 M parameters). In 3D the ensemble (Dice 0.8530) does not beat SegResNet (0.8717), but member disagreement flags failed cases with AUC 0.993 internally and 0.870 externally.</a:t>
            </a:r>
          </a:p>
        </p:txBody>
      </p:sp>
    </p:spTree>
    <p:extLst>
      <p:ext uri="{BB962C8B-B14F-4D97-AF65-F5344CB8AC3E}">
        <p14:creationId xmlns:p14="http://schemas.microsoft.com/office/powerpoint/2010/main" val="3453097932"/>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F0AE58-8206-476A-BECC-A1ADC0EA154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(1/4)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From hand-crafted features to transfer learning</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Bauer et al., 2013 [5]; Gordillo et al., 2013 [14]</a:t>
                      </a:r>
                    </a:p>
                  </a:txBody>
                  <a:tcPr marL="64008" marR="64008" marT="27432" marB="27432" anchor="ctr">
                    <a:solidFill>
                      <a:srgbClr val="FFFFFF"/>
                    </a:solidFill>
                  </a:tcPr>
                </a:tc>
                <a:tc>
                  <a:txBody>
                    <a:bodyPr wrap="square"/>
                    <a:lstStyle/>
                    <a:p>
                      <a:pPr algn="l"/>
                      <a:r>
                        <a:rPr sz="950" b="0" i="0">
                          <a:solidFill>
                            <a:srgbClr val="1E2430"/>
                          </a:solidFill>
                          <a:latin typeface="Calibri"/>
                        </a:rPr>
                        <a:t>Surveys of MRI brain tumour analysis and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Classical intensity, texture and atlas methods</a:t>
                      </a:r>
                    </a:p>
                  </a:txBody>
                  <a:tcPr marL="64008" marR="64008" marT="27432" marB="27432" anchor="ctr">
                    <a:solidFill>
                      <a:srgbClr val="FFFFFF"/>
                    </a:solidFill>
                  </a:tcPr>
                </a:tc>
                <a:tc>
                  <a:txBody>
                    <a:bodyPr wrap="square"/>
                    <a:lstStyle/>
                    <a:p>
                      <a:pPr algn="l"/>
                      <a:r>
                        <a:rPr sz="950" b="0" i="0">
                          <a:solidFill>
                            <a:srgbClr val="1E2430"/>
                          </a:solidFill>
                          <a:latin typeface="Calibri"/>
                        </a:rPr>
                        <a:t>Methods and evaluation vary widely</a:t>
                      </a:r>
                    </a:p>
                  </a:txBody>
                  <a:tcPr marL="64008" marR="64008" marT="27432" marB="27432" anchor="ctr">
                    <a:solidFill>
                      <a:srgbClr val="FFFFFF"/>
                    </a:solidFill>
                  </a:tcPr>
                </a:tc>
                <a:tc>
                  <a:txBody>
                    <a:bodyPr wrap="square"/>
                    <a:lstStyle/>
                    <a:p>
                      <a:pPr algn="l"/>
                      <a:r>
                        <a:rPr sz="950" b="0" i="0">
                          <a:solidFill>
                            <a:srgbClr val="1E2430"/>
                          </a:solidFill>
                          <a:latin typeface="Calibri"/>
                        </a:rPr>
                        <a:t>No common protocol</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Zacharaki et al., 2009 [15]</a:t>
                      </a:r>
                    </a:p>
                  </a:txBody>
                  <a:tcPr marL="64008" marR="64008" marT="27432" marB="27432" anchor="ctr">
                    <a:solidFill>
                      <a:srgbClr val="F3F5F8"/>
                    </a:solidFill>
                  </a:tcPr>
                </a:tc>
                <a:tc>
                  <a:txBody>
                    <a:bodyPr wrap="square"/>
                    <a:lstStyle/>
                    <a:p>
                      <a:pPr algn="l"/>
                      <a:r>
                        <a:rPr sz="950" b="0" i="0">
                          <a:solidFill>
                            <a:srgbClr val="1E2430"/>
                          </a:solidFill>
                          <a:latin typeface="Calibri"/>
                        </a:rPr>
                        <a:t>Glioma vs metastasis, glioma grade; 102 tumours</a:t>
                      </a:r>
                    </a:p>
                  </a:txBody>
                  <a:tcPr marL="64008" marR="64008" marT="27432" marB="27432" anchor="ctr">
                    <a:solidFill>
                      <a:srgbClr val="F3F5F8"/>
                    </a:solidFill>
                  </a:tcPr>
                </a:tc>
                <a:tc>
                  <a:txBody>
                    <a:bodyPr wrap="square"/>
                    <a:lstStyle/>
                    <a:p>
                      <a:pPr algn="l"/>
                      <a:r>
                        <a:rPr sz="950" b="0" i="0">
                          <a:solidFill>
                            <a:srgbClr val="1E2430"/>
                          </a:solidFill>
                          <a:latin typeface="Calibri"/>
                        </a:rPr>
                        <a:t>Shape, intensity and texture features; SVM with feature elimination</a:t>
                      </a:r>
                    </a:p>
                  </a:txBody>
                  <a:tcPr marL="64008" marR="64008" marT="27432" marB="27432" anchor="ctr">
                    <a:solidFill>
                      <a:srgbClr val="F3F5F8"/>
                    </a:solidFill>
                  </a:tcPr>
                </a:tc>
                <a:tc>
                  <a:txBody>
                    <a:bodyPr wrap="square"/>
                    <a:lstStyle/>
                    <a:p>
                      <a:pPr algn="l"/>
                      <a:r>
                        <a:rPr sz="950" b="0" i="0">
                          <a:solidFill>
                            <a:srgbClr val="1E2430"/>
                          </a:solidFill>
                          <a:latin typeface="Calibri"/>
                        </a:rPr>
                        <a:t>85% and 88% (leave-one-out)</a:t>
                      </a:r>
                    </a:p>
                  </a:txBody>
                  <a:tcPr marL="64008" marR="64008" marT="27432" marB="27432" anchor="ctr">
                    <a:solidFill>
                      <a:srgbClr val="F3F5F8"/>
                    </a:solidFill>
                  </a:tcPr>
                </a:tc>
                <a:tc>
                  <a:txBody>
                    <a:bodyPr wrap="square"/>
                    <a:lstStyle/>
                    <a:p>
                      <a:pPr algn="l"/>
                      <a:r>
                        <a:rPr sz="950" b="0" i="0">
                          <a:solidFill>
                            <a:srgbClr val="1E2430"/>
                          </a:solidFill>
                          <a:latin typeface="Calibri"/>
                        </a:rPr>
                        <a:t>Hand-crafted features transfer poorly</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Cheng et al., 2015 [16]</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3,064 T1CE slices, 233 patients</a:t>
                      </a:r>
                    </a:p>
                  </a:txBody>
                  <a:tcPr marL="64008" marR="64008" marT="27432" marB="27432" anchor="ctr">
                    <a:solidFill>
                      <a:srgbClr val="FFFFFF"/>
                    </a:solidFill>
                  </a:tcPr>
                </a:tc>
                <a:tc>
                  <a:txBody>
                    <a:bodyPr wrap="square"/>
                    <a:lstStyle/>
                    <a:p>
                      <a:pPr algn="l"/>
                      <a:r>
                        <a:rPr sz="950" b="0" i="0">
                          <a:solidFill>
                            <a:srgbClr val="1E2430"/>
                          </a:solidFill>
                          <a:latin typeface="Calibri"/>
                        </a:rPr>
                        <a:t>Augmented tumour ROI, ring partition; intensity, GLCM, bag-of-words + SVM</a:t>
                      </a:r>
                    </a:p>
                  </a:txBody>
                  <a:tcPr marL="64008" marR="64008" marT="27432" marB="27432" anchor="ctr">
                    <a:solidFill>
                      <a:srgbClr val="FFFFFF"/>
                    </a:solidFill>
                  </a:tcPr>
                </a:tc>
                <a:tc>
                  <a:txBody>
                    <a:bodyPr wrap="square"/>
                    <a:lstStyle/>
                    <a:p>
                      <a:pPr algn="l"/>
                      <a:r>
                        <a:rPr sz="950" b="0" i="0">
                          <a:solidFill>
                            <a:srgbClr val="1E2430"/>
                          </a:solidFill>
                          <a:latin typeface="Calibri"/>
                        </a:rPr>
                        <a:t>Up to 91.28%</a:t>
                      </a:r>
                    </a:p>
                  </a:txBody>
                  <a:tcPr marL="64008" marR="64008" marT="27432" marB="27432" anchor="ctr">
                    <a:solidFill>
                      <a:srgbClr val="FFFFFF"/>
                    </a:solidFill>
                  </a:tcPr>
                </a:tc>
                <a:tc>
                  <a:txBody>
                    <a:bodyPr wrap="square"/>
                    <a:lstStyle/>
                    <a:p>
                      <a:pPr algn="l"/>
                      <a:r>
                        <a:rPr sz="950" b="0" i="0">
                          <a:solidFill>
                            <a:srgbClr val="1E2430"/>
                          </a:solidFill>
                          <a:latin typeface="Calibri"/>
                        </a:rPr>
                        <a:t>Needs a tumour ROI; features redesigned per task</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Seetha and Raja, 2018 [17]</a:t>
                      </a:r>
                    </a:p>
                  </a:txBody>
                  <a:tcPr marL="64008" marR="64008" marT="27432" marB="27432" anchor="ctr">
                    <a:solidFill>
                      <a:srgbClr val="F3F5F8"/>
                    </a:solidFill>
                  </a:tcPr>
                </a:tc>
                <a:tc>
                  <a:txBody>
                    <a:bodyPr wrap="square"/>
                    <a:lstStyle/>
                    <a:p>
                      <a:pPr algn="l"/>
                      <a:r>
                        <a:rPr sz="950" b="0" i="0">
                          <a:solidFill>
                            <a:srgbClr val="1E2430"/>
                          </a:solidFill>
                          <a:latin typeface="Calibri"/>
                        </a:rPr>
                        <a:t>Tumour vs non-tumour; Radiopaedia, BRATS 2015</a:t>
                      </a:r>
                    </a:p>
                  </a:txBody>
                  <a:tcPr marL="64008" marR="64008" marT="27432" marB="27432" anchor="ctr">
                    <a:solidFill>
                      <a:srgbClr val="F3F5F8"/>
                    </a:solidFill>
                  </a:tcPr>
                </a:tc>
                <a:tc>
                  <a:txBody>
                    <a:bodyPr wrap="square"/>
                    <a:lstStyle/>
                    <a:p>
                      <a:pPr algn="l"/>
                      <a:r>
                        <a:rPr sz="950" b="0" i="0">
                          <a:solidFill>
                            <a:srgbClr val="1E2430"/>
                          </a:solidFill>
                          <a:latin typeface="Calibri"/>
                        </a:rPr>
                        <a:t>ImageNet-pretrained CNN, last layer trained</a:t>
                      </a:r>
                    </a:p>
                  </a:txBody>
                  <a:tcPr marL="64008" marR="64008" marT="27432" marB="27432" anchor="ctr">
                    <a:solidFill>
                      <a:srgbClr val="F3F5F8"/>
                    </a:solidFill>
                  </a:tcPr>
                </a:tc>
                <a:tc>
                  <a:txBody>
                    <a:bodyPr wrap="square"/>
                    <a:lstStyle/>
                    <a:p>
                      <a:pPr algn="l"/>
                      <a:r>
                        <a:rPr sz="950" b="0" i="0">
                          <a:solidFill>
                            <a:srgbClr val="1E2430"/>
                          </a:solidFill>
                          <a:latin typeface="Calibri"/>
                        </a:rPr>
                        <a:t>97.5% (training)</a:t>
                      </a:r>
                    </a:p>
                  </a:txBody>
                  <a:tcPr marL="64008" marR="64008" marT="27432" marB="27432" anchor="ctr">
                    <a:solidFill>
                      <a:srgbClr val="F3F5F8"/>
                    </a:solidFill>
                  </a:tcPr>
                </a:tc>
                <a:tc>
                  <a:txBody>
                    <a:bodyPr wrap="square"/>
                    <a:lstStyle/>
                    <a:p>
                      <a:pPr algn="l"/>
                      <a:r>
                        <a:rPr sz="950" b="0" i="0">
                          <a:solidFill>
                            <a:srgbClr val="1E2430"/>
                          </a:solidFill>
                          <a:latin typeface="Calibri"/>
                        </a:rPr>
                        <a:t>No held-out estimate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Talo et al., 2019 [18]</a:t>
                      </a:r>
                    </a:p>
                  </a:txBody>
                  <a:tcPr marL="64008" marR="64008" marT="27432" marB="27432" anchor="ctr">
                    <a:solidFill>
                      <a:srgbClr val="FFFFFF"/>
                    </a:solidFill>
                  </a:tcPr>
                </a:tc>
                <a:tc>
                  <a:txBody>
                    <a:bodyPr wrap="square"/>
                    <a:lstStyle/>
                    <a:p>
                      <a:pPr algn="l"/>
                      <a:r>
                        <a:rPr sz="950" b="0" i="0">
                          <a:solidFill>
                            <a:srgbClr val="1E2430"/>
                          </a:solidFill>
                          <a:latin typeface="Calibri"/>
                        </a:rPr>
                        <a:t>Normal vs abnormal; 613 MR images</a:t>
                      </a:r>
                    </a:p>
                  </a:txBody>
                  <a:tcPr marL="64008" marR="64008" marT="27432" marB="27432" anchor="ctr">
                    <a:solidFill>
                      <a:srgbClr val="FFFFFF"/>
                    </a:solidFill>
                  </a:tcPr>
                </a:tc>
                <a:tc>
                  <a:txBody>
                    <a:bodyPr wrap="square"/>
                    <a:lstStyle/>
                    <a:p>
                      <a:pPr algn="l"/>
                      <a:r>
                        <a:rPr sz="950" b="0" i="0">
                          <a:solidFill>
                            <a:srgbClr val="1E2430"/>
                          </a:solidFill>
                          <a:latin typeface="Calibri"/>
                        </a:rPr>
                        <a:t>ResNet34 transfer learning</a:t>
                      </a:r>
                    </a:p>
                  </a:txBody>
                  <a:tcPr marL="64008" marR="64008" marT="27432" marB="27432" anchor="ctr">
                    <a:solidFill>
                      <a:srgbClr val="FFFFFF"/>
                    </a:solidFill>
                  </a:tcPr>
                </a:tc>
                <a:tc>
                  <a:txBody>
                    <a:bodyPr wrap="square"/>
                    <a:lstStyle/>
                    <a:p>
                      <a:pPr algn="l"/>
                      <a:r>
                        <a:rPr sz="950" b="0" i="0">
                          <a:solidFill>
                            <a:srgbClr val="1E2430"/>
                          </a:solidFill>
                          <a:latin typeface="Calibri"/>
                        </a:rPr>
                        <a:t>100% (five-fold)</a:t>
                      </a:r>
                    </a:p>
                  </a:txBody>
                  <a:tcPr marL="64008" marR="64008" marT="27432" marB="27432" anchor="ctr">
                    <a:solidFill>
                      <a:srgbClr val="FFFFFF"/>
                    </a:solidFill>
                  </a:tcPr>
                </a:tc>
                <a:tc>
                  <a:txBody>
                    <a:bodyPr wrap="square"/>
                    <a:lstStyle/>
                    <a:p>
                      <a:pPr algn="l"/>
                      <a:r>
                        <a:rPr sz="950" b="0" i="0">
                          <a:solidFill>
                            <a:srgbClr val="1E2430"/>
                          </a:solidFill>
                          <a:latin typeface="Calibri"/>
                        </a:rPr>
                        <a:t>One small collection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Deepak and Ameer, 2019 [19]; Ghassemi et al., 2020 [20]</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3F5F8"/>
                    </a:solidFill>
                  </a:tcPr>
                </a:tc>
                <a:tc>
                  <a:txBody>
                    <a:bodyPr wrap="square"/>
                    <a:lstStyle/>
                    <a:p>
                      <a:pPr algn="l"/>
                      <a:r>
                        <a:rPr sz="950" b="0" i="0">
                          <a:solidFill>
                            <a:srgbClr val="1E2430"/>
                          </a:solidFill>
                          <a:latin typeface="Calibri"/>
                        </a:rPr>
                        <a:t>GoogLeNet features + classifiers; CNN pretrained as a GAN discriminator</a:t>
                      </a:r>
                    </a:p>
                  </a:txBody>
                  <a:tcPr marL="64008" marR="64008" marT="27432" marB="27432" anchor="ctr">
                    <a:solidFill>
                      <a:srgbClr val="F3F5F8"/>
                    </a:solidFill>
                  </a:tcPr>
                </a:tc>
                <a:tc>
                  <a:txBody>
                    <a:bodyPr wrap="square"/>
                    <a:lstStyle/>
                    <a:p>
                      <a:pPr algn="l"/>
                      <a:r>
                        <a:rPr sz="950" b="0" i="0">
                          <a:solidFill>
                            <a:srgbClr val="1E2430"/>
                          </a:solidFill>
                          <a:latin typeface="Calibri"/>
                        </a:rPr>
                        <a:t>98% mean (Deepak)</a:t>
                      </a:r>
                    </a:p>
                  </a:txBody>
                  <a:tcPr marL="64008" marR="64008" marT="27432" marB="27432" anchor="ctr">
                    <a:solidFill>
                      <a:srgbClr val="F3F5F8"/>
                    </a:solidFill>
                  </a:tcPr>
                </a:tc>
                <a:tc>
                  <a:txBody>
                    <a:bodyPr wrap="square"/>
                    <a:lstStyle/>
                    <a:p>
                      <a:pPr algn="l"/>
                      <a:r>
                        <a:rPr sz="950" b="0" i="0">
                          <a:solidFill>
                            <a:srgbClr val="1E2430"/>
                          </a:solidFill>
                          <a:latin typeface="Calibri"/>
                        </a:rPr>
                        <a:t>One architecture each</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Rehman et al., 2020 [21]; Noreen et al., 2020 [22]</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FFFFF"/>
                    </a:solidFill>
                  </a:tcPr>
                </a:tc>
                <a:tc>
                  <a:txBody>
                    <a:bodyPr wrap="square"/>
                    <a:lstStyle/>
                    <a:p>
                      <a:pPr algn="l"/>
                      <a:r>
                        <a:rPr sz="950" b="0" i="0">
                          <a:solidFill>
                            <a:srgbClr val="1E2430"/>
                          </a:solidFill>
                          <a:latin typeface="Calibri"/>
                        </a:rPr>
                        <a:t>Fine-tuned VGG16; Inception-v3 and DenseNet201 features</a:t>
                      </a:r>
                    </a:p>
                  </a:txBody>
                  <a:tcPr marL="64008" marR="64008" marT="27432" marB="27432" anchor="ctr">
                    <a:solidFill>
                      <a:srgbClr val="FFFFFF"/>
                    </a:solidFill>
                  </a:tcPr>
                </a:tc>
                <a:tc>
                  <a:txBody>
                    <a:bodyPr wrap="square"/>
                    <a:lstStyle/>
                    <a:p>
                      <a:pPr algn="l"/>
                      <a:r>
                        <a:rPr sz="950" b="0" i="0">
                          <a:solidFill>
                            <a:srgbClr val="1E2430"/>
                          </a:solidFill>
                          <a:latin typeface="Calibri"/>
                        </a:rPr>
                        <a:t>98.69%; 99.34% and 99.51%</a:t>
                      </a:r>
                    </a:p>
                  </a:txBody>
                  <a:tcPr marL="64008" marR="64008" marT="27432" marB="27432" anchor="ctr">
                    <a:solidFill>
                      <a:srgbClr val="FFFFFF"/>
                    </a:solidFill>
                  </a:tcPr>
                </a:tc>
                <a:tc>
                  <a:txBody>
                    <a:bodyPr wrap="square"/>
                    <a:lstStyle/>
                    <a:p>
                      <a:pPr algn="l"/>
                      <a:r>
                        <a:rPr sz="950" b="0" i="0">
                          <a:solidFill>
                            <a:srgbClr val="1E2430"/>
                          </a:solidFill>
                          <a:latin typeface="Calibri"/>
                        </a:rPr>
                        <a:t>No deduplication, CIs or tests</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Khan et al., 2020 [23]</a:t>
                      </a:r>
                    </a:p>
                  </a:txBody>
                  <a:tcPr marL="64008" marR="64008" marT="27432" marB="27432" anchor="ctr">
                    <a:solidFill>
                      <a:srgbClr val="F3F5F8"/>
                    </a:solidFill>
                  </a:tcPr>
                </a:tc>
                <a:tc>
                  <a:txBody>
                    <a:bodyPr wrap="square"/>
                    <a:lstStyle/>
                    <a:p>
                      <a:pPr algn="l"/>
                      <a:r>
                        <a:rPr sz="950" b="0" i="0">
                          <a:solidFill>
                            <a:srgbClr val="1E2430"/>
                          </a:solidFill>
                          <a:latin typeface="Calibri"/>
                        </a:rPr>
                        <a:t>Tumour classification; BraTS 2015, 2017, 2018</a:t>
                      </a:r>
                    </a:p>
                  </a:txBody>
                  <a:tcPr marL="64008" marR="64008" marT="27432" marB="27432" anchor="ctr">
                    <a:solidFill>
                      <a:srgbClr val="F3F5F8"/>
                    </a:solidFill>
                  </a:tcPr>
                </a:tc>
                <a:tc>
                  <a:txBody>
                    <a:bodyPr wrap="square"/>
                    <a:lstStyle/>
                    <a:p>
                      <a:pPr algn="l"/>
                      <a:r>
                        <a:rPr sz="950" b="0" i="0">
                          <a:solidFill>
                            <a:srgbClr val="1E2430"/>
                          </a:solidFill>
                          <a:latin typeface="Calibri"/>
                        </a:rPr>
                        <a:t>VGG16 and VGG19 features, ELM-based selection</a:t>
                      </a:r>
                    </a:p>
                  </a:txBody>
                  <a:tcPr marL="64008" marR="64008" marT="27432" marB="27432" anchor="ctr">
                    <a:solidFill>
                      <a:srgbClr val="F3F5F8"/>
                    </a:solidFill>
                  </a:tcPr>
                </a:tc>
                <a:tc>
                  <a:txBody>
                    <a:bodyPr wrap="square"/>
                    <a:lstStyle/>
                    <a:p>
                      <a:pPr algn="l"/>
                      <a:r>
                        <a:rPr sz="950" b="0" i="0">
                          <a:solidFill>
                            <a:srgbClr val="1E2430"/>
                          </a:solidFill>
                          <a:latin typeface="Calibri"/>
                        </a:rPr>
                        <a:t>97.8%, 96.9%, 92.5%</a:t>
                      </a:r>
                    </a:p>
                  </a:txBody>
                  <a:tcPr marL="64008" marR="64008" marT="27432" marB="27432" anchor="ctr">
                    <a:solidFill>
                      <a:srgbClr val="F3F5F8"/>
                    </a:solidFill>
                  </a:tcPr>
                </a:tc>
                <a:tc>
                  <a:txBody>
                    <a:bodyPr wrap="square"/>
                    <a:lstStyle/>
                    <a:p>
                      <a:pPr algn="l"/>
                      <a:r>
                        <a:rPr sz="950" b="0" i="0">
                          <a:solidFill>
                            <a:srgbClr val="1E2430"/>
                          </a:solidFill>
                          <a:latin typeface="Calibri"/>
                        </a:rPr>
                        <a:t>Multi-stage tuned pipeline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Tummala et al., 2022 [24]; Asiri et al., 2024 [25]</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(3,064); four-class (2,870)</a:t>
                      </a:r>
                    </a:p>
                  </a:txBody>
                  <a:tcPr marL="64008" marR="64008" marT="27432" marB="27432" anchor="ctr">
                    <a:solidFill>
                      <a:srgbClr val="FFFFFF"/>
                    </a:solidFill>
                  </a:tcPr>
                </a:tc>
                <a:tc>
                  <a:txBody>
                    <a:bodyPr wrap="square"/>
                    <a:lstStyle/>
                    <a:p>
                      <a:pPr algn="l"/>
                      <a:r>
                        <a:rPr sz="950" b="0" i="0">
                          <a:solidFill>
                            <a:srgbClr val="1E2430"/>
                          </a:solidFill>
                          <a:latin typeface="Calibri"/>
                        </a:rPr>
                        <a:t>ViT ensemble; Swin Transformer</a:t>
                      </a:r>
                    </a:p>
                  </a:txBody>
                  <a:tcPr marL="64008" marR="64008" marT="27432" marB="27432" anchor="ctr">
                    <a:solidFill>
                      <a:srgbClr val="FFFFFF"/>
                    </a:solidFill>
                  </a:tcPr>
                </a:tc>
                <a:tc>
                  <a:txBody>
                    <a:bodyPr wrap="square"/>
                    <a:lstStyle/>
                    <a:p>
                      <a:pPr algn="l"/>
                      <a:r>
                        <a:rPr sz="950" b="0" i="0">
                          <a:solidFill>
                            <a:srgbClr val="1E2430"/>
                          </a:solidFill>
                          <a:latin typeface="Calibri"/>
                        </a:rPr>
                        <a:t>98.7%; 97%</a:t>
                      </a:r>
                    </a:p>
                  </a:txBody>
                  <a:tcPr marL="64008" marR="64008" marT="27432" marB="27432" anchor="ctr">
                    <a:solidFill>
                      <a:srgbClr val="FFFFFF"/>
                    </a:solidFill>
                  </a:tcPr>
                </a:tc>
                <a:tc>
                  <a:txBody>
                    <a:bodyPr wrap="square"/>
                    <a:lstStyle/>
                    <a:p>
                      <a:pPr algn="l"/>
                      <a:r>
                        <a:rPr sz="950" b="0" i="0">
                          <a:solidFill>
                            <a:srgbClr val="1E2430"/>
                          </a:solidFill>
                          <a:latin typeface="Calibri"/>
                        </a:rPr>
                        <a:t>No CNN baseline under one protocol</a:t>
                      </a:r>
                    </a:p>
                  </a:txBody>
                  <a:tcPr marL="64008" marR="64008" marT="27432" marB="27432" anchor="ctr">
                    <a:solidFill>
                      <a:srgbClr val="FFFFFF"/>
                    </a:solidFill>
                  </a:tcPr>
                </a:tc>
              </a:tr>
            </a:tbl>
          </a:graphicData>
        </a:graphic>
      </p:graphicFrame>
    </p:spTree>
    <p:extLst>
      <p:ext uri="{BB962C8B-B14F-4D97-AF65-F5344CB8AC3E}">
        <p14:creationId xmlns:p14="http://schemas.microsoft.com/office/powerpoint/2010/main" val="857449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64C5E-26B3-2EE9-895A-F822E4C49ED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E07AC55-BA5E-4123-39E6-B79860C6C9E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Research Gap</a:t>
            </a:r>
          </a:p>
        </p:txBody>
      </p:sp>
      <p:sp>
        <p:nvSpPr>
          <p:cNvPr id="2" name="Date Placeholder 1">
            <a:extLst>
              <a:ext uri="{FF2B5EF4-FFF2-40B4-BE49-F238E27FC236}">
                <a16:creationId xmlns:a16="http://schemas.microsoft.com/office/drawing/2014/main" xmlns="" id="{A2430A72-466B-CBDE-2F02-635BA91A98AF}"/>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1711DDA3-7A7C-1F61-1795-3A01ED678FA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D94E3226-1DB1-3A4D-CE37-4A2AD48EF1F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6</a:t>
            </a:fld>
            <a:endParaRPr lang="en-IN"/>
          </a:p>
        </p:txBody>
      </p:sp>
      <p:sp>
        <p:nvSpPr>
          <p:cNvPr id="7" name="TextBox 6"/>
          <p:cNvSpPr txBox="1"/>
          <p:nvPr/>
        </p:nvSpPr>
        <p:spPr>
          <a:xfrm>
            <a:off x="960120" y="1234440"/>
            <a:ext cx="534924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Gap in the literature</a:t>
            </a:r>
          </a:p>
        </p:txBody>
      </p:sp>
      <p:sp>
        <p:nvSpPr>
          <p:cNvPr id="8" name="TextBox 7"/>
          <p:cNvSpPr txBox="1"/>
          <p:nvPr/>
        </p:nvSpPr>
        <p:spPr>
          <a:xfrm>
            <a:off x="6675120" y="1234440"/>
            <a:ext cx="496519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How this project addresses it</a:t>
            </a:r>
          </a:p>
        </p:txBody>
      </p:sp>
      <p:sp>
        <p:nvSpPr>
          <p:cNvPr id="9" name="TextBox 8"/>
          <p:cNvSpPr txBox="1"/>
          <p:nvPr/>
        </p:nvSpPr>
        <p:spPr>
          <a:xfrm>
            <a:off x="548640" y="161848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1</a:t>
            </a:r>
          </a:p>
        </p:txBody>
      </p:sp>
      <p:sp>
        <p:nvSpPr>
          <p:cNvPr id="10" name="Rectangle 9"/>
          <p:cNvSpPr/>
          <p:nvPr/>
        </p:nvSpPr>
        <p:spPr>
          <a:xfrm>
            <a:off x="960120" y="161848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161848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controlled comparison.</a:t>
            </a:r>
            <a:r>
              <a:rPr sz="1100" b="0" i="0">
                <a:solidFill>
                  <a:srgbClr val="1E2430"/>
                </a:solidFill>
                <a:latin typeface="Calibri"/>
              </a:rPr>
              <a:t> Most studies test two or three models with their own data, splits and budgets [43, 44].</a:t>
            </a:r>
          </a:p>
        </p:txBody>
      </p:sp>
      <p:cxnSp>
        <p:nvCxnSpPr>
          <p:cNvPr id="12" name="Connector 11"/>
          <p:cNvCxnSpPr/>
          <p:nvPr/>
        </p:nvCxnSpPr>
        <p:spPr>
          <a:xfrm>
            <a:off x="6355080" y="196596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675120" y="161848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61848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Nine 2D backbones and three 3D networks, each set under one code path and identical splits</a:t>
            </a:r>
          </a:p>
        </p:txBody>
      </p:sp>
      <p:sp>
        <p:nvSpPr>
          <p:cNvPr id="15" name="TextBox 14"/>
          <p:cNvSpPr txBox="1"/>
          <p:nvPr/>
        </p:nvSpPr>
        <p:spPr>
          <a:xfrm>
            <a:off x="548640" y="2404872"/>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2</a:t>
            </a:r>
          </a:p>
        </p:txBody>
      </p:sp>
      <p:sp>
        <p:nvSpPr>
          <p:cNvPr id="16" name="Rectangle 15"/>
          <p:cNvSpPr/>
          <p:nvPr/>
        </p:nvSpPr>
        <p:spPr>
          <a:xfrm>
            <a:off x="960120" y="2404872"/>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4712" y="2404872"/>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Data leakage.</a:t>
            </a:r>
            <a:r>
              <a:rPr sz="1100" b="0" i="0">
                <a:solidFill>
                  <a:srgbClr val="1E2430"/>
                </a:solidFill>
                <a:latin typeface="Calibri"/>
              </a:rPr>
              <a:t> Combined public collections hold exact and near-duplicate images that are rarely removed before splitting [8, 9, 67].</a:t>
            </a:r>
          </a:p>
        </p:txBody>
      </p:sp>
      <p:cxnSp>
        <p:nvCxnSpPr>
          <p:cNvPr id="18" name="Connector 17"/>
          <p:cNvCxnSpPr/>
          <p:nvPr/>
        </p:nvCxnSpPr>
        <p:spPr>
          <a:xfrm>
            <a:off x="6355080" y="2752344"/>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675120" y="2404872"/>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2404872"/>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Label-aware perceptual-hash deduplication, similarity groups, group-aware split and a leakage audit</a:t>
            </a:r>
          </a:p>
        </p:txBody>
      </p:sp>
      <p:sp>
        <p:nvSpPr>
          <p:cNvPr id="21" name="TextBox 20"/>
          <p:cNvSpPr txBox="1"/>
          <p:nvPr/>
        </p:nvSpPr>
        <p:spPr>
          <a:xfrm>
            <a:off x="548640" y="3191256"/>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3</a:t>
            </a:r>
          </a:p>
        </p:txBody>
      </p:sp>
      <p:sp>
        <p:nvSpPr>
          <p:cNvPr id="22" name="Rectangle 21"/>
          <p:cNvSpPr/>
          <p:nvPr/>
        </p:nvSpPr>
        <p:spPr>
          <a:xfrm>
            <a:off x="960120" y="3191256"/>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3191256"/>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Single-run leaderboards.</a:t>
            </a:r>
            <a:r>
              <a:rPr sz="1100" b="0" i="0">
                <a:solidFill>
                  <a:srgbClr val="1E2430"/>
                </a:solidFill>
                <a:latin typeface="Calibri"/>
              </a:rPr>
              <a:t> Results are quoted from one run, without confidence intervals, tests, per-class metrics or calibration.</a:t>
            </a:r>
          </a:p>
        </p:txBody>
      </p:sp>
      <p:cxnSp>
        <p:nvCxnSpPr>
          <p:cNvPr id="24" name="Connector 23"/>
          <p:cNvCxnSpPr/>
          <p:nvPr/>
        </p:nvCxnSpPr>
        <p:spPr>
          <a:xfrm>
            <a:off x="6355080" y="3538728"/>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675120" y="3191256"/>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3191256"/>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Five-fold CV, fold ensembles, bootstrap CIs, McNemar and Wilcoxon tests with Holm correction, ECE, per-grade results</a:t>
            </a:r>
          </a:p>
        </p:txBody>
      </p:sp>
      <p:sp>
        <p:nvSpPr>
          <p:cNvPr id="27" name="TextBox 26"/>
          <p:cNvSpPr txBox="1"/>
          <p:nvPr/>
        </p:nvSpPr>
        <p:spPr>
          <a:xfrm>
            <a:off x="548640" y="3977639"/>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4</a:t>
            </a:r>
          </a:p>
        </p:txBody>
      </p:sp>
      <p:sp>
        <p:nvSpPr>
          <p:cNvPr id="28" name="Rectangle 27"/>
          <p:cNvSpPr/>
          <p:nvPr/>
        </p:nvSpPr>
        <p:spPr>
          <a:xfrm>
            <a:off x="960120" y="3977639"/>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712" y="3977639"/>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Shortcuts unchecked.</a:t>
            </a:r>
            <a:r>
              <a:rPr sz="1100" b="0" i="0">
                <a:solidFill>
                  <a:srgbClr val="1E2430"/>
                </a:solidFill>
                <a:latin typeface="Calibri"/>
              </a:rPr>
              <a:t> Models can exploit borders, hospital markers or scanner cues instead of pathology [71–73].</a:t>
            </a:r>
          </a:p>
        </p:txBody>
      </p:sp>
      <p:cxnSp>
        <p:nvCxnSpPr>
          <p:cNvPr id="30" name="Connector 29"/>
          <p:cNvCxnSpPr/>
          <p:nvPr/>
        </p:nvCxnSpPr>
        <p:spPr>
          <a:xfrm>
            <a:off x="6355080" y="4325112"/>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675120" y="3977639"/>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977639"/>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Grad-CAM, occlusion, head and background masking, and background-only retraining</a:t>
            </a:r>
          </a:p>
        </p:txBody>
      </p:sp>
      <p:sp>
        <p:nvSpPr>
          <p:cNvPr id="33" name="TextBox 32"/>
          <p:cNvSpPr txBox="1"/>
          <p:nvPr/>
        </p:nvSpPr>
        <p:spPr>
          <a:xfrm>
            <a:off x="548640" y="4764024"/>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5</a:t>
            </a:r>
          </a:p>
        </p:txBody>
      </p:sp>
      <p:sp>
        <p:nvSpPr>
          <p:cNvPr id="34" name="Rectangle 33"/>
          <p:cNvSpPr/>
          <p:nvPr/>
        </p:nvSpPr>
        <p:spPr>
          <a:xfrm>
            <a:off x="960120" y="4764024"/>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 y="4764024"/>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external check in 3D.</a:t>
            </a:r>
            <a:r>
              <a:rPr sz="1100" b="0" i="0">
                <a:solidFill>
                  <a:srgbClr val="1E2430"/>
                </a:solidFill>
                <a:latin typeface="Calibri"/>
              </a:rPr>
              <a:t> 3D results are mostly internal, models degrade on new populations and scanners [72], and per-model uncertainty is a weak error signal [58].</a:t>
            </a:r>
          </a:p>
        </p:txBody>
      </p:sp>
      <p:cxnSp>
        <p:nvCxnSpPr>
          <p:cNvPr id="36" name="Connector 35"/>
          <p:cNvCxnSpPr/>
          <p:nvPr/>
        </p:nvCxnSpPr>
        <p:spPr>
          <a:xfrm>
            <a:off x="6355080" y="5111496"/>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675120" y="4764024"/>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39712" y="4764024"/>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External BraTS-Africa test set, per-region fusion, and member disagreement as a quality check</a:t>
            </a:r>
          </a:p>
        </p:txBody>
      </p:sp>
      <p:sp>
        <p:nvSpPr>
          <p:cNvPr id="39" name="TextBox 38"/>
          <p:cNvSpPr txBox="1"/>
          <p:nvPr/>
        </p:nvSpPr>
        <p:spPr>
          <a:xfrm>
            <a:off x="548640" y="555040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6</a:t>
            </a:r>
          </a:p>
        </p:txBody>
      </p:sp>
      <p:sp>
        <p:nvSpPr>
          <p:cNvPr id="40" name="Rectangle 39"/>
          <p:cNvSpPr/>
          <p:nvPr/>
        </p:nvSpPr>
        <p:spPr>
          <a:xfrm>
            <a:off x="960120" y="555040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 y="555040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path to use.</a:t>
            </a:r>
            <a:r>
              <a:rPr sz="1100" b="0" i="0">
                <a:solidFill>
                  <a:srgbClr val="1E2430"/>
                </a:solidFill>
                <a:latin typeface="Calibri"/>
              </a:rPr>
              <a:t> Benchmarked models are rarely turned into tools that accept MRI volumes and protect patient data.</a:t>
            </a:r>
          </a:p>
        </p:txBody>
      </p:sp>
      <p:cxnSp>
        <p:nvCxnSpPr>
          <p:cNvPr id="42" name="Connector 41"/>
          <p:cNvCxnSpPr/>
          <p:nvPr/>
        </p:nvCxnSpPr>
        <p:spPr>
          <a:xfrm>
            <a:off x="6355080" y="589788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675120" y="555040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555040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A secure web application with a multi-planar and 3D viewer and reports</a:t>
            </a:r>
          </a:p>
        </p:txBody>
      </p:sp>
    </p:spTree>
    <p:extLst>
      <p:ext uri="{BB962C8B-B14F-4D97-AF65-F5344CB8AC3E}">
        <p14:creationId xmlns:p14="http://schemas.microsoft.com/office/powerpoint/2010/main" val="2623102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F50AAC-0156-D6F5-7153-C791999940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2BADD22-870A-4D8F-B788-CCCD5C223F9A}"/>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Objectives</a:t>
            </a:r>
          </a:p>
        </p:txBody>
      </p:sp>
      <p:sp>
        <p:nvSpPr>
          <p:cNvPr id="2" name="Date Placeholder 1">
            <a:extLst>
              <a:ext uri="{FF2B5EF4-FFF2-40B4-BE49-F238E27FC236}">
                <a16:creationId xmlns:a16="http://schemas.microsoft.com/office/drawing/2014/main" xmlns="" id="{1BE4F0EB-E8F1-14D8-E22A-38E83F9BFA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76D8B93F-BA73-08B5-E0DD-D434FA25B92B}"/>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6BABF72-E9F9-626A-63CD-EA20C0714ABC}"/>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7</a:t>
            </a:fld>
            <a:endParaRPr lang="en-IN" dirty="0">
              <a:latin typeface="Times New Roman" panose="02020603050405020304" pitchFamily="18" charset="0"/>
              <a:cs typeface="Times New Roman" panose="02020603050405020304" pitchFamily="18" charset="0"/>
            </a:endParaRPr>
          </a:p>
        </p:txBody>
      </p:sp>
      <p:pic>
        <p:nvPicPr>
          <p:cNvPr id="8" name="Picture 7" descr="3 The UN 17 Sustainable Development Goals (SDGs), implemented by all... | Download Scientific Diagram">
            <a:extLst>
              <a:ext uri="{FF2B5EF4-FFF2-40B4-BE49-F238E27FC236}">
                <a16:creationId xmlns:a16="http://schemas.microsoft.com/office/drawing/2014/main" xmlns="" id="{36180A9B-AA72-E2D6-8362-4CDF7058D84A}"/>
              </a:ext>
            </a:extLst>
          </p:cNvPr>
          <p:cNvPicPr>
            <a:picLocks noChangeAspect="1"/>
          </p:cNvPicPr>
          <p:nvPr/>
        </p:nvPicPr>
        <p:blipFill>
          <a:blip r:embed="rId2"/>
          <a:stretch>
            <a:fillRect/>
          </a:stretch>
        </p:blipFill>
        <p:spPr>
          <a:xfrm>
            <a:off x="6949440" y="1618488"/>
            <a:ext cx="2377440" cy="1905763"/>
          </a:xfrm>
          <a:prstGeom prst="rect">
            <a:avLst/>
          </a:prstGeom>
        </p:spPr>
      </p:pic>
      <p:pic>
        <p:nvPicPr>
          <p:cNvPr id="9" name="Picture 8" descr="What are Technology Readiness Levels (TRL)? - TWI">
            <a:extLst>
              <a:ext uri="{FF2B5EF4-FFF2-40B4-BE49-F238E27FC236}">
                <a16:creationId xmlns:a16="http://schemas.microsoft.com/office/drawing/2014/main" xmlns="" id="{D1491C9C-07B3-89C3-5FA0-72C9F44F30AC}"/>
              </a:ext>
            </a:extLst>
          </p:cNvPr>
          <p:cNvPicPr>
            <a:picLocks noChangeAspect="1"/>
          </p:cNvPicPr>
          <p:nvPr/>
        </p:nvPicPr>
        <p:blipFill>
          <a:blip r:embed="rId3"/>
          <a:stretch>
            <a:fillRect/>
          </a:stretch>
        </p:blipFill>
        <p:spPr>
          <a:xfrm>
            <a:off x="9555480" y="1508760"/>
            <a:ext cx="2240280" cy="2044016"/>
          </a:xfrm>
          <a:prstGeom prst="rect">
            <a:avLst/>
          </a:prstGeom>
        </p:spPr>
      </p:pic>
      <p:sp>
        <p:nvSpPr>
          <p:cNvPr id="10" name="TextBox 9"/>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11" name="TextBox 10"/>
          <p:cNvSpPr txBox="1"/>
          <p:nvPr/>
        </p:nvSpPr>
        <p:spPr>
          <a:xfrm>
            <a:off x="960120" y="123444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Benchmark nine 2D backbones for tumour detection and subtype classification with identical splits and an equal number of optimiser steps.</a:t>
            </a:r>
          </a:p>
        </p:txBody>
      </p:sp>
      <p:sp>
        <p:nvSpPr>
          <p:cNvPr id="12" name="TextBox 11"/>
          <p:cNvSpPr txBox="1"/>
          <p:nvPr/>
        </p:nvSpPr>
        <p:spPr>
          <a:xfrm>
            <a:off x="548640" y="20055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3" name="TextBox 12"/>
          <p:cNvSpPr txBox="1"/>
          <p:nvPr/>
        </p:nvSpPr>
        <p:spPr>
          <a:xfrm>
            <a:off x="960120" y="204216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Remove leakage before splitting through label-aware perceptual-hash deduplication, similarity grouping and a group-aware split, verified by a leakage audit.</a:t>
            </a:r>
          </a:p>
        </p:txBody>
      </p:sp>
      <p:sp>
        <p:nvSpPr>
          <p:cNvPr id="14" name="TextBox 13"/>
          <p:cNvSpPr txBox="1"/>
          <p:nvPr/>
        </p:nvSpPr>
        <p:spPr>
          <a:xfrm>
            <a:off x="548640" y="30114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5" name="TextBox 14"/>
          <p:cNvSpPr txBox="1"/>
          <p:nvPr/>
        </p:nvSpPr>
        <p:spPr>
          <a:xfrm>
            <a:off x="960120" y="3047999"/>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Evaluate with five-fold cross-validation, fold ensembles, bootstrap CIs, Holm-corrected McNemar tests, calibration, efficiency and shortcut audits.</a:t>
            </a:r>
          </a:p>
        </p:txBody>
      </p:sp>
      <p:sp>
        <p:nvSpPr>
          <p:cNvPr id="16" name="TextBox 15"/>
          <p:cNvSpPr txBox="1"/>
          <p:nvPr/>
        </p:nvSpPr>
        <p:spPr>
          <a:xfrm>
            <a:off x="548640" y="38191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7" name="TextBox 16"/>
          <p:cNvSpPr txBox="1"/>
          <p:nvPr/>
        </p:nvSpPr>
        <p:spPr>
          <a:xfrm>
            <a:off x="960120" y="385572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Fuse two 3D CNNs and a transformer per tumour region on BraTS 2020, and test every model internally, externally on BraTS-Africa, for failure detection and for cost.</a:t>
            </a:r>
          </a:p>
        </p:txBody>
      </p:sp>
      <p:sp>
        <p:nvSpPr>
          <p:cNvPr id="18" name="TextBox 17"/>
          <p:cNvSpPr txBox="1"/>
          <p:nvPr/>
        </p:nvSpPr>
        <p:spPr>
          <a:xfrm>
            <a:off x="548640" y="48249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9" name="TextBox 18"/>
          <p:cNvSpPr txBox="1"/>
          <p:nvPr/>
        </p:nvSpPr>
        <p:spPr>
          <a:xfrm>
            <a:off x="960120" y="486156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Deploy the most efficient models in a secure, tested web application with a multi-planar and 3D viewer and reports.</a:t>
            </a:r>
          </a:p>
        </p:txBody>
      </p:sp>
      <p:sp>
        <p:nvSpPr>
          <p:cNvPr id="20" name="TextBox 19"/>
          <p:cNvSpPr txBox="1"/>
          <p:nvPr/>
        </p:nvSpPr>
        <p:spPr>
          <a:xfrm>
            <a:off x="6949440" y="1234440"/>
            <a:ext cx="469087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Sustainable Development Goals and Technology Readiness Level</a:t>
            </a:r>
          </a:p>
        </p:txBody>
      </p:sp>
      <p:sp>
        <p:nvSpPr>
          <p:cNvPr id="21" name="Rectangle 20"/>
          <p:cNvSpPr/>
          <p:nvPr/>
        </p:nvSpPr>
        <p:spPr>
          <a:xfrm>
            <a:off x="7902321" y="1618488"/>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78762" y="2090164"/>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94826" y="2676769"/>
            <a:ext cx="1819030" cy="177116"/>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49440" y="3767328"/>
            <a:ext cx="4690872" cy="15788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14031" y="3931920"/>
            <a:ext cx="4361688" cy="124968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1" i="0">
                <a:solidFill>
                  <a:srgbClr val="1E2430"/>
                </a:solidFill>
                <a:latin typeface="Calibri"/>
              </a:rPr>
              <a:t>SDG 3:</a:t>
            </a:r>
            <a:r>
              <a:rPr sz="1200" b="0" i="0">
                <a:solidFill>
                  <a:srgbClr val="1E2430"/>
                </a:solidFill>
                <a:latin typeface="Calibri"/>
              </a:rPr>
              <a:t> Good Health and Well-being; </a:t>
            </a:r>
            <a:r>
              <a:rPr sz="1200" b="1" i="0">
                <a:solidFill>
                  <a:srgbClr val="1E2430"/>
                </a:solidFill>
                <a:latin typeface="Calibri"/>
              </a:rPr>
              <a:t>SDG 9:</a:t>
            </a:r>
            <a:r>
              <a:rPr sz="1200" b="0" i="0">
                <a:solidFill>
                  <a:srgbClr val="1E2430"/>
                </a:solidFill>
                <a:latin typeface="Calibri"/>
              </a:rPr>
              <a:t> Industry, Innovation and Infrastructure</a:t>
            </a:r>
          </a:p>
          <a:p>
            <a:pPr algn="l" marL="182880" indent="-182880">
              <a:lnSpc>
                <a:spcPct val="100000"/>
              </a:lnSpc>
              <a:spcAft>
                <a:spcPts val="400"/>
              </a:spcAft>
              <a:buClr>
                <a:srgbClr val="1F3A68"/>
              </a:buClr>
              <a:buFont typeface="Arial"/>
              <a:buChar char="•"/>
            </a:pPr>
            <a:r>
              <a:rPr sz="1200" b="1" i="0">
                <a:solidFill>
                  <a:srgbClr val="1E2430"/>
                </a:solidFill>
                <a:latin typeface="Calibri"/>
              </a:rPr>
              <a:t>TRL 4:</a:t>
            </a:r>
            <a:r>
              <a:rPr sz="1200" b="0" i="0">
                <a:solidFill>
                  <a:srgbClr val="1E2430"/>
                </a:solidFill>
                <a:latin typeface="Calibri"/>
              </a:rPr>
              <a:t> technology validated in the laboratory</a:t>
            </a:r>
          </a:p>
          <a:p>
            <a:pPr algn="l" marL="182880" indent="-182880">
              <a:lnSpc>
                <a:spcPct val="100000"/>
              </a:lnSpc>
              <a:spcAft>
                <a:spcPts val="400"/>
              </a:spcAft>
              <a:buClr>
                <a:srgbClr val="1F3A68"/>
              </a:buClr>
              <a:buFont typeface="Arial"/>
              <a:buChar char="•"/>
            </a:pPr>
            <a:r>
              <a:rPr sz="1200" b="1" i="0">
                <a:solidFill>
                  <a:srgbClr val="1E2430"/>
                </a:solidFill>
                <a:latin typeface="Calibri"/>
              </a:rPr>
              <a:t>Outcomes:</a:t>
            </a:r>
            <a:r>
              <a:rPr sz="1200" b="0" i="0">
                <a:solidFill>
                  <a:srgbClr val="1E2430"/>
                </a:solidFill>
                <a:latin typeface="Calibri"/>
              </a:rPr>
              <a:t> two journal manuscripts (Scopus) prepared for </a:t>
            </a:r>
            <a:r>
              <a:rPr sz="1200" b="0" i="1">
                <a:solidFill>
                  <a:srgbClr val="1E2430"/>
                </a:solidFill>
                <a:latin typeface="Calibri"/>
              </a:rPr>
              <a:t>Engineering Applications of Artificial Intelligence</a:t>
            </a:r>
            <a:r>
              <a:rPr sz="1200" b="0" i="0">
                <a:solidFill>
                  <a:srgbClr val="1E2430"/>
                </a:solidFill>
                <a:latin typeface="Calibri"/>
              </a:rPr>
              <a:t> (Elsevier); an open-source web application</a:t>
            </a:r>
          </a:p>
        </p:txBody>
      </p:sp>
    </p:spTree>
    <p:extLst>
      <p:ext uri="{BB962C8B-B14F-4D97-AF65-F5344CB8AC3E}">
        <p14:creationId xmlns:p14="http://schemas.microsoft.com/office/powerpoint/2010/main" val="233596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D49C0F-2490-21B4-8186-6F75540ACED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5DE9EA00-8D77-8DC9-1AE3-8B6FD1AF6BC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Framework/Architecture/Block Diagram</a:t>
            </a:r>
          </a:p>
        </p:txBody>
      </p:sp>
      <p:sp>
        <p:nvSpPr>
          <p:cNvPr id="2" name="Date Placeholder 1">
            <a:extLst>
              <a:ext uri="{FF2B5EF4-FFF2-40B4-BE49-F238E27FC236}">
                <a16:creationId xmlns:a16="http://schemas.microsoft.com/office/drawing/2014/main" xmlns="" id="{3B40592E-46EE-B4F2-7D01-D3568C2F685A}"/>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5BCDC439-5940-84EE-247A-E3018795A43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A6CB23C8-7091-8CFB-BF2C-3A19CCA810FF}"/>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8</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8872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Research pipelines (Kaggle, two Tesla T4 GPUs)</a:t>
            </a:r>
          </a:p>
        </p:txBody>
      </p:sp>
      <p:sp>
        <p:nvSpPr>
          <p:cNvPr id="8" name="Rectangle 7"/>
          <p:cNvSpPr/>
          <p:nvPr/>
        </p:nvSpPr>
        <p:spPr>
          <a:xfrm>
            <a:off x="548640"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2D MRI collections</a:t>
            </a:r>
          </a:p>
          <a:p>
            <a:pPr algn="ctr">
              <a:spcBef>
                <a:spcPts val="200"/>
              </a:spcBef>
            </a:pPr>
            <a:r>
              <a:rPr sz="950" b="0" i="0">
                <a:solidFill>
                  <a:srgbClr val="1E2430"/>
                </a:solidFill>
                <a:latin typeface="Calibri"/>
              </a:rPr>
              <a:t>Br35H, Chakrabarty; Bhuvaji, Cheng</a:t>
            </a:r>
          </a:p>
        </p:txBody>
      </p:sp>
      <p:sp>
        <p:nvSpPr>
          <p:cNvPr id="9" name="Rectangle 8"/>
          <p:cNvSpPr/>
          <p:nvPr/>
        </p:nvSpPr>
        <p:spPr>
          <a:xfrm>
            <a:off x="2450592"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Curation</a:t>
            </a:r>
          </a:p>
          <a:p>
            <a:pPr algn="ctr">
              <a:spcBef>
                <a:spcPts val="200"/>
              </a:spcBef>
            </a:pPr>
            <a:r>
              <a:rPr sz="950" b="0" i="0">
                <a:solidFill>
                  <a:srgbClr val="1E2430"/>
                </a:solidFill>
                <a:latin typeface="Calibri"/>
              </a:rPr>
              <a:t>brain crop, perceptual-hash deduplication</a:t>
            </a:r>
          </a:p>
        </p:txBody>
      </p:sp>
      <p:cxnSp>
        <p:nvCxnSpPr>
          <p:cNvPr id="10" name="Connector 9"/>
          <p:cNvCxnSpPr/>
          <p:nvPr/>
        </p:nvCxnSpPr>
        <p:spPr>
          <a:xfrm>
            <a:off x="2221992"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352544"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Group-aware split</a:t>
            </a:r>
          </a:p>
          <a:p>
            <a:pPr algn="ctr">
              <a:spcBef>
                <a:spcPts val="200"/>
              </a:spcBef>
            </a:pPr>
            <a:r>
              <a:rPr sz="950" b="0" i="0">
                <a:solidFill>
                  <a:srgbClr val="1E2430"/>
                </a:solidFill>
                <a:latin typeface="Calibri"/>
              </a:rPr>
              <a:t>five folds, held-out test, leakage audit</a:t>
            </a:r>
          </a:p>
        </p:txBody>
      </p:sp>
      <p:cxnSp>
        <p:nvCxnSpPr>
          <p:cNvPr id="12" name="Connector 11"/>
          <p:cNvCxnSpPr/>
          <p:nvPr/>
        </p:nvCxnSpPr>
        <p:spPr>
          <a:xfrm>
            <a:off x="4123944"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254496"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9 backbones × 5 folds</a:t>
            </a:r>
          </a:p>
          <a:p>
            <a:pPr algn="ctr">
              <a:spcBef>
                <a:spcPts val="200"/>
              </a:spcBef>
            </a:pPr>
            <a:r>
              <a:rPr sz="950" b="0" i="0">
                <a:solidFill>
                  <a:srgbClr val="1E2430"/>
                </a:solidFill>
                <a:latin typeface="Calibri"/>
              </a:rPr>
              <a:t>two tasks, equal optimiser steps</a:t>
            </a:r>
          </a:p>
        </p:txBody>
      </p:sp>
      <p:cxnSp>
        <p:nvCxnSpPr>
          <p:cNvPr id="14" name="Connector 13"/>
          <p:cNvCxnSpPr/>
          <p:nvPr/>
        </p:nvCxnSpPr>
        <p:spPr>
          <a:xfrm>
            <a:off x="6025896"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156448"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ensembles, CIs, McNemar, shortcut audit</a:t>
            </a:r>
          </a:p>
        </p:txBody>
      </p:sp>
      <p:cxnSp>
        <p:nvCxnSpPr>
          <p:cNvPr id="16" name="Connector 15"/>
          <p:cNvCxnSpPr/>
          <p:nvPr/>
        </p:nvCxnSpPr>
        <p:spPr>
          <a:xfrm>
            <a:off x="7927848"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48640"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BraTS 2020 + Africa</a:t>
            </a:r>
          </a:p>
          <a:p>
            <a:pPr algn="ctr">
              <a:spcBef>
                <a:spcPts val="200"/>
              </a:spcBef>
            </a:pPr>
            <a:r>
              <a:rPr sz="950" b="0" i="0">
                <a:solidFill>
                  <a:srgbClr val="1E2430"/>
                </a:solidFill>
                <a:latin typeface="Calibri"/>
              </a:rPr>
              <a:t>369 + 60 cases, four sequences</a:t>
            </a:r>
          </a:p>
        </p:txBody>
      </p:sp>
      <p:sp>
        <p:nvSpPr>
          <p:cNvPr id="18" name="Rectangle 17"/>
          <p:cNvSpPr/>
          <p:nvPr/>
        </p:nvSpPr>
        <p:spPr>
          <a:xfrm>
            <a:off x="2450592"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Preprocessing</a:t>
            </a:r>
          </a:p>
          <a:p>
            <a:pPr algn="ctr">
              <a:spcBef>
                <a:spcPts val="200"/>
              </a:spcBef>
            </a:pPr>
            <a:r>
              <a:rPr sz="950" b="0" i="0">
                <a:solidFill>
                  <a:srgbClr val="1E2430"/>
                </a:solidFill>
                <a:latin typeface="Calibri"/>
              </a:rPr>
              <a:t>brain crop, z-score, native 1 mm</a:t>
            </a:r>
          </a:p>
        </p:txBody>
      </p:sp>
      <p:cxnSp>
        <p:nvCxnSpPr>
          <p:cNvPr id="19" name="Connector 18"/>
          <p:cNvCxnSpPr/>
          <p:nvPr/>
        </p:nvCxnSpPr>
        <p:spPr>
          <a:xfrm>
            <a:off x="2221992"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Split</a:t>
            </a:r>
          </a:p>
          <a:p>
            <a:pPr algn="ctr">
              <a:spcBef>
                <a:spcPts val="200"/>
              </a:spcBef>
            </a:pPr>
            <a:r>
              <a:rPr sz="950" b="0" i="0">
                <a:solidFill>
                  <a:srgbClr val="1E2430"/>
                </a:solidFill>
                <a:latin typeface="Calibri"/>
              </a:rPr>
              <a:t>257 / 56 / 56 by grade; 60 external</a:t>
            </a:r>
          </a:p>
        </p:txBody>
      </p:sp>
      <p:cxnSp>
        <p:nvCxnSpPr>
          <p:cNvPr id="21" name="Connector 20"/>
          <p:cNvCxnSpPr/>
          <p:nvPr/>
        </p:nvCxnSpPr>
        <p:spPr>
          <a:xfrm>
            <a:off x="4123944"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254496"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networks + fusion</a:t>
            </a:r>
          </a:p>
          <a:p>
            <a:pPr algn="ctr">
              <a:spcBef>
                <a:spcPts val="200"/>
              </a:spcBef>
            </a:pPr>
            <a:r>
              <a:rPr sz="950" b="0" i="0">
                <a:solidFill>
                  <a:srgbClr val="1E2430"/>
                </a:solidFill>
                <a:latin typeface="Calibri"/>
              </a:rPr>
              <a:t>weights and threshold per region</a:t>
            </a:r>
          </a:p>
        </p:txBody>
      </p:sp>
      <p:cxnSp>
        <p:nvCxnSpPr>
          <p:cNvPr id="23" name="Connector 22"/>
          <p:cNvCxnSpPr/>
          <p:nvPr/>
        </p:nvCxnSpPr>
        <p:spPr>
          <a:xfrm>
            <a:off x="6025896"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156448"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internal, external, Wilcoxon, QC</a:t>
            </a:r>
          </a:p>
        </p:txBody>
      </p:sp>
      <p:cxnSp>
        <p:nvCxnSpPr>
          <p:cNvPr id="25" name="Connector 24"/>
          <p:cNvCxnSpPr/>
          <p:nvPr/>
        </p:nvCxnSpPr>
        <p:spPr>
          <a:xfrm>
            <a:off x="7927848"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0076688" y="1554480"/>
            <a:ext cx="1563623" cy="160020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Checkpoints</a:t>
            </a:r>
          </a:p>
          <a:p>
            <a:pPr algn="ctr">
              <a:spcBef>
                <a:spcPts val="200"/>
              </a:spcBef>
            </a:pPr>
            <a:r>
              <a:rPr sz="950" b="0" i="0">
                <a:solidFill>
                  <a:srgbClr val="1E2430"/>
                </a:solidFill>
                <a:latin typeface="Calibri"/>
              </a:rPr>
              <a:t>EfficientNetB0 for detection and classification; SegResNet for segmentation</a:t>
            </a:r>
          </a:p>
        </p:txBody>
      </p:sp>
      <p:cxnSp>
        <p:nvCxnSpPr>
          <p:cNvPr id="27" name="Connector 26"/>
          <p:cNvCxnSpPr/>
          <p:nvPr/>
        </p:nvCxnSpPr>
        <p:spPr>
          <a:xfrm>
            <a:off x="9829800" y="192024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29800" y="278892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338328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NeuroScan AI application</a:t>
            </a:r>
          </a:p>
        </p:txBody>
      </p:sp>
      <p:sp>
        <p:nvSpPr>
          <p:cNvPr id="30" name="Rectangle 29"/>
          <p:cNvSpPr/>
          <p:nvPr/>
        </p:nvSpPr>
        <p:spPr>
          <a:xfrm>
            <a:off x="548640" y="3749040"/>
            <a:ext cx="182880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Browser</a:t>
            </a:r>
          </a:p>
          <a:p>
            <a:pPr algn="ctr">
              <a:spcBef>
                <a:spcPts val="200"/>
              </a:spcBef>
            </a:pPr>
            <a:r>
              <a:rPr sz="950" b="0" i="0">
                <a:solidFill>
                  <a:srgbClr val="1E2430"/>
                </a:solidFill>
                <a:latin typeface="Calibri"/>
              </a:rPr>
              <a:t>React, vtk.js viewer</a:t>
            </a:r>
          </a:p>
        </p:txBody>
      </p:sp>
      <p:sp>
        <p:nvSpPr>
          <p:cNvPr id="31" name="Rectangle 30"/>
          <p:cNvSpPr/>
          <p:nvPr/>
        </p:nvSpPr>
        <p:spPr>
          <a:xfrm>
            <a:off x="2697480" y="3749040"/>
            <a:ext cx="196596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Reverse proxy</a:t>
            </a:r>
          </a:p>
          <a:p>
            <a:pPr algn="ctr">
              <a:spcBef>
                <a:spcPts val="200"/>
              </a:spcBef>
            </a:pPr>
            <a:r>
              <a:rPr sz="950" b="0" i="0">
                <a:solidFill>
                  <a:srgbClr val="1E2430"/>
                </a:solidFill>
                <a:latin typeface="Calibri"/>
              </a:rPr>
              <a:t>same origin, HttpOnly session cookie</a:t>
            </a:r>
          </a:p>
        </p:txBody>
      </p:sp>
      <p:sp>
        <p:nvSpPr>
          <p:cNvPr id="32" name="Rectangle 31"/>
          <p:cNvSpPr/>
          <p:nvPr/>
        </p:nvSpPr>
        <p:spPr>
          <a:xfrm>
            <a:off x="4983479" y="374904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FastAPI backend</a:t>
            </a:r>
          </a:p>
          <a:p>
            <a:pPr algn="ctr">
              <a:spcBef>
                <a:spcPts val="200"/>
              </a:spcBef>
            </a:pPr>
            <a:r>
              <a:rPr sz="950" b="0" i="0">
                <a:solidFill>
                  <a:srgbClr val="1E2430"/>
                </a:solidFill>
                <a:latin typeface="Calibri"/>
              </a:rPr>
              <a:t>23 routes: authentication, scans, slices, reports, health</a:t>
            </a:r>
          </a:p>
        </p:txBody>
      </p:sp>
      <p:sp>
        <p:nvSpPr>
          <p:cNvPr id="33" name="Rectangle 32"/>
          <p:cNvSpPr/>
          <p:nvPr/>
        </p:nvSpPr>
        <p:spPr>
          <a:xfrm>
            <a:off x="7452360" y="374904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PipelineRunner</a:t>
            </a:r>
          </a:p>
          <a:p>
            <a:pPr algn="ctr">
              <a:spcBef>
                <a:spcPts val="200"/>
              </a:spcBef>
            </a:pPr>
            <a:r>
              <a:rPr sz="950" b="0" i="0">
                <a:solidFill>
                  <a:srgbClr val="1E2430"/>
                </a:solidFill>
                <a:latin typeface="Calibri"/>
              </a:rPr>
              <a:t>one background worker; re-queues unfinished scans</a:t>
            </a:r>
          </a:p>
        </p:txBody>
      </p:sp>
      <p:cxnSp>
        <p:nvCxnSpPr>
          <p:cNvPr id="34" name="Connector 33"/>
          <p:cNvCxnSpPr/>
          <p:nvPr/>
        </p:nvCxnSpPr>
        <p:spPr>
          <a:xfrm>
            <a:off x="24048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90872" y="418338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15975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9784080" y="3749040"/>
            <a:ext cx="1856232" cy="242316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84080" y="3822192"/>
            <a:ext cx="1856232" cy="274320"/>
          </a:xfrm>
          <a:prstGeom prst="rect">
            <a:avLst/>
          </a:prstGeom>
          <a:noFill/>
        </p:spPr>
        <p:txBody>
          <a:bodyPr wrap="square" lIns="0" rIns="0" tIns="0" bIns="0" anchor="t">
            <a:noAutofit/>
          </a:bodyPr>
          <a:lstStyle/>
          <a:p>
            <a:pPr algn="ctr">
              <a:lnSpc>
                <a:spcPct val="100000"/>
              </a:lnSpc>
              <a:spcAft>
                <a:spcPts val="400"/>
              </a:spcAft>
            </a:pPr>
            <a:r>
              <a:rPr sz="1100" b="1" i="0">
                <a:solidFill>
                  <a:srgbClr val="1F3A68"/>
                </a:solidFill>
                <a:latin typeface="Calibri"/>
              </a:rPr>
              <a:t>BrainProcessor</a:t>
            </a:r>
          </a:p>
        </p:txBody>
      </p:sp>
      <p:sp>
        <p:nvSpPr>
          <p:cNvPr id="39" name="Rectangle 38"/>
          <p:cNvSpPr/>
          <p:nvPr/>
        </p:nvSpPr>
        <p:spPr>
          <a:xfrm>
            <a:off x="9875519" y="4133088"/>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Detection</a:t>
            </a:r>
          </a:p>
          <a:p>
            <a:pPr algn="ctr">
              <a:spcBef>
                <a:spcPts val="200"/>
              </a:spcBef>
            </a:pPr>
            <a:r>
              <a:rPr sz="900" b="0" i="0">
                <a:solidFill>
                  <a:srgbClr val="1E2430"/>
                </a:solidFill>
                <a:latin typeface="Calibri"/>
              </a:rPr>
              <a:t>EfficientNetB0 on the middle axial slice, 224² crop</a:t>
            </a:r>
          </a:p>
        </p:txBody>
      </p:sp>
      <p:sp>
        <p:nvSpPr>
          <p:cNvPr id="40" name="Rectangle 39"/>
          <p:cNvSpPr/>
          <p:nvPr/>
        </p:nvSpPr>
        <p:spPr>
          <a:xfrm>
            <a:off x="9875519" y="4800600"/>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Classification</a:t>
            </a:r>
          </a:p>
          <a:p>
            <a:pPr algn="ctr">
              <a:spcBef>
                <a:spcPts val="200"/>
              </a:spcBef>
            </a:pPr>
            <a:r>
              <a:rPr sz="900" b="0" i="0">
                <a:solidFill>
                  <a:srgbClr val="1E2430"/>
                </a:solidFill>
                <a:latin typeface="Calibri"/>
              </a:rPr>
              <a:t>EfficientNetB0: glioma, meningioma, pituitary</a:t>
            </a:r>
          </a:p>
        </p:txBody>
      </p:sp>
      <p:sp>
        <p:nvSpPr>
          <p:cNvPr id="41" name="Rectangle 40"/>
          <p:cNvSpPr/>
          <p:nvPr/>
        </p:nvSpPr>
        <p:spPr>
          <a:xfrm>
            <a:off x="9875519" y="5468112"/>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Segmentation</a:t>
            </a:r>
          </a:p>
          <a:p>
            <a:pPr algn="ctr">
              <a:spcBef>
                <a:spcPts val="200"/>
              </a:spcBef>
            </a:pPr>
            <a:r>
              <a:rPr sz="900" b="0" i="0">
                <a:solidFill>
                  <a:srgbClr val="1E2430"/>
                </a:solidFill>
                <a:latin typeface="Calibri"/>
              </a:rPr>
              <a:t>SegResNet on FLAIR, T1, T1CE, T2, 128³ windows: WT, TC, ET</a:t>
            </a:r>
          </a:p>
        </p:txBody>
      </p:sp>
      <p:cxnSp>
        <p:nvCxnSpPr>
          <p:cNvPr id="42" name="Connector 41"/>
          <p:cNvCxnSpPr/>
          <p:nvPr/>
        </p:nvCxnSpPr>
        <p:spPr>
          <a:xfrm>
            <a:off x="94914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881360" y="3182112"/>
            <a:ext cx="0" cy="539496"/>
          </a:xfrm>
          <a:prstGeom prst="line">
            <a:avLst/>
          </a:prstGeom>
          <a:ln w="15875">
            <a:solidFill>
              <a:srgbClr val="1F3A6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4983479" y="493776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SQLite and Alembic</a:t>
            </a:r>
          </a:p>
          <a:p>
            <a:pPr algn="ctr">
              <a:spcBef>
                <a:spcPts val="200"/>
              </a:spcBef>
            </a:pPr>
            <a:r>
              <a:rPr sz="950" b="0" i="0">
                <a:solidFill>
                  <a:srgbClr val="1E2430"/>
                </a:solidFill>
                <a:latin typeface="Calibri"/>
              </a:rPr>
              <a:t>users and scans; WAL mode; migrations</a:t>
            </a:r>
          </a:p>
        </p:txBody>
      </p:sp>
      <p:sp>
        <p:nvSpPr>
          <p:cNvPr id="45" name="Rectangle 44"/>
          <p:cNvSpPr/>
          <p:nvPr/>
        </p:nvSpPr>
        <p:spPr>
          <a:xfrm>
            <a:off x="7452360" y="493776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Upload store</a:t>
            </a:r>
          </a:p>
          <a:p>
            <a:pPr algn="ctr">
              <a:spcBef>
                <a:spcPts val="200"/>
              </a:spcBef>
            </a:pPr>
            <a:r>
              <a:rPr sz="950" b="0" i="0">
                <a:solidFill>
                  <a:srgbClr val="1E2430"/>
                </a:solidFill>
                <a:latin typeface="Calibri"/>
              </a:rPr>
              <a:t>per-scan volumes and segmentation mask</a:t>
            </a:r>
          </a:p>
        </p:txBody>
      </p:sp>
      <p:cxnSp>
        <p:nvCxnSpPr>
          <p:cNvPr id="46" name="Connector 45"/>
          <p:cNvCxnSpPr/>
          <p:nvPr/>
        </p:nvCxnSpPr>
        <p:spPr>
          <a:xfrm>
            <a:off x="60579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582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48640" y="4937760"/>
            <a:ext cx="4114800" cy="86868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Outputs to the user</a:t>
            </a:r>
          </a:p>
          <a:p>
            <a:pPr algn="ctr">
              <a:spcBef>
                <a:spcPts val="200"/>
              </a:spcBef>
            </a:pPr>
            <a:r>
              <a:rPr sz="950" b="0" i="0">
                <a:solidFill>
                  <a:srgbClr val="1E2430"/>
                </a:solidFill>
                <a:latin typeface="Calibri"/>
              </a:rPr>
              <a:t>class probabilities, WT, TC and ET volumes, linked multi-planar and 3D views, PDF and CSV reports</a:t>
            </a:r>
          </a:p>
        </p:txBody>
      </p:sp>
      <p:cxnSp>
        <p:nvCxnSpPr>
          <p:cNvPr id="49" name="Connector 48"/>
          <p:cNvCxnSpPr/>
          <p:nvPr/>
        </p:nvCxnSpPr>
        <p:spPr>
          <a:xfrm flipH="1">
            <a:off x="4690872" y="537210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3813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FE95AF1-B807-AC15-9C1A-B86677AF63D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0C9A0194-5820-F292-3A94-449C000E51A7}"/>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Functional Requirements and Modules</a:t>
            </a:r>
          </a:p>
        </p:txBody>
      </p:sp>
      <p:sp>
        <p:nvSpPr>
          <p:cNvPr id="2" name="Date Placeholder 1">
            <a:extLst>
              <a:ext uri="{FF2B5EF4-FFF2-40B4-BE49-F238E27FC236}">
                <a16:creationId xmlns:a16="http://schemas.microsoft.com/office/drawing/2014/main" xmlns="" id="{D4F25267-3005-EC45-A624-B78484DFA4EC}"/>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610022FF-AD0C-E15E-5F17-B2827B5546B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BD8D6198-8B2C-26FB-53D2-A5B87C95A4FB}"/>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9</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Functional requirements</a:t>
            </a:r>
          </a:p>
        </p:txBody>
      </p:sp>
      <p:sp>
        <p:nvSpPr>
          <p:cNvPr id="8" name="TextBox 7"/>
          <p:cNvSpPr txBox="1"/>
          <p:nvPr/>
        </p:nvSpPr>
        <p:spPr>
          <a:xfrm>
            <a:off x="548640"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0" i="0">
                <a:solidFill>
                  <a:srgbClr val="1E2430"/>
                </a:solidFill>
                <a:latin typeface="Calibri"/>
              </a:rPr>
              <a:t>Register, sign in and out, change the password; optional TOTP two-factor authentication</a:t>
            </a:r>
          </a:p>
          <a:p>
            <a:pPr algn="l" marL="182880" indent="-182880">
              <a:lnSpc>
                <a:spcPct val="100000"/>
              </a:lnSpc>
              <a:spcAft>
                <a:spcPts val="700"/>
              </a:spcAft>
              <a:buClr>
                <a:srgbClr val="1F3A68"/>
              </a:buClr>
              <a:buFont typeface="Arial"/>
              <a:buChar char="•"/>
            </a:pPr>
            <a:r>
              <a:rPr sz="1200" b="0" i="0">
                <a:solidFill>
                  <a:srgbClr val="1E2430"/>
                </a:solidFill>
                <a:latin typeface="Calibri"/>
              </a:rPr>
              <a:t>Upload one to four NIfTI volumes (FLAIR, T1, T1CE, T2) per case; modality detected from the file name</a:t>
            </a:r>
          </a:p>
          <a:p>
            <a:pPr algn="l" marL="182880" indent="-182880">
              <a:lnSpc>
                <a:spcPct val="100000"/>
              </a:lnSpc>
              <a:spcAft>
                <a:spcPts val="700"/>
              </a:spcAft>
              <a:buClr>
                <a:srgbClr val="1F3A68"/>
              </a:buClr>
              <a:buFont typeface="Arial"/>
              <a:buChar char="•"/>
            </a:pPr>
            <a:r>
              <a:rPr sz="1200" b="0" i="0">
                <a:solidFill>
                  <a:srgbClr val="1E2430"/>
                </a:solidFill>
                <a:latin typeface="Calibri"/>
              </a:rPr>
              <a:t>Process each scan in the background with live status, step and progress; retry on failure</a:t>
            </a:r>
          </a:p>
          <a:p>
            <a:pPr algn="l" marL="182880" indent="-182880">
              <a:lnSpc>
                <a:spcPct val="100000"/>
              </a:lnSpc>
              <a:spcAft>
                <a:spcPts val="700"/>
              </a:spcAft>
              <a:buClr>
                <a:srgbClr val="1F3A68"/>
              </a:buClr>
              <a:buFont typeface="Arial"/>
              <a:buChar char="•"/>
            </a:pPr>
            <a:r>
              <a:rPr sz="1200" b="0" i="0">
                <a:solidFill>
                  <a:srgbClr val="1E2430"/>
                </a:solidFill>
                <a:latin typeface="Calibri"/>
              </a:rPr>
              <a:t>Detect a tumour, classify its type with class probabilities, and segment WT, TC and ET with volumes</a:t>
            </a:r>
          </a:p>
          <a:p>
            <a:pPr algn="l" marL="182880" indent="-182880">
              <a:lnSpc>
                <a:spcPct val="100000"/>
              </a:lnSpc>
              <a:spcAft>
                <a:spcPts val="700"/>
              </a:spcAft>
              <a:buClr>
                <a:srgbClr val="1F3A68"/>
              </a:buClr>
              <a:buFont typeface="Arial"/>
              <a:buChar char="•"/>
            </a:pPr>
            <a:r>
              <a:rPr sz="1200" b="0" i="0">
                <a:solidFill>
                  <a:srgbClr val="1E2430"/>
                </a:solidFill>
                <a:latin typeface="Calibri"/>
              </a:rPr>
              <a:t>View linked axial, coronal, sagittal and 3D panes with overlay, contrast, zoom and ruler</a:t>
            </a:r>
          </a:p>
          <a:p>
            <a:pPr algn="l" marL="182880" indent="-182880">
              <a:lnSpc>
                <a:spcPct val="100000"/>
              </a:lnSpc>
              <a:spcAft>
                <a:spcPts val="700"/>
              </a:spcAft>
              <a:buClr>
                <a:srgbClr val="1F3A68"/>
              </a:buClr>
              <a:buFont typeface="Arial"/>
              <a:buChar char="•"/>
            </a:pPr>
            <a:r>
              <a:rPr sz="1200" b="0" i="0">
                <a:solidFill>
                  <a:srgbClr val="1E2430"/>
                </a:solidFill>
                <a:latin typeface="Calibri"/>
              </a:rPr>
              <a:t>Search, rename and delete scans; dashboard with counts, recent scans and a volume chart</a:t>
            </a:r>
          </a:p>
          <a:p>
            <a:pPr algn="l" marL="182880" indent="-182880">
              <a:lnSpc>
                <a:spcPct val="100000"/>
              </a:lnSpc>
              <a:spcAft>
                <a:spcPts val="700"/>
              </a:spcAft>
              <a:buClr>
                <a:srgbClr val="1F3A68"/>
              </a:buClr>
              <a:buFont typeface="Arial"/>
              <a:buChar char="•"/>
            </a:pPr>
            <a:r>
              <a:rPr sz="1200" b="0" i="0">
                <a:solidFill>
                  <a:srgbClr val="1E2430"/>
                </a:solidFill>
                <a:latin typeface="Calibri"/>
              </a:rPr>
              <a:t>PDF and CSV report per scan; CSV export of all scans</a:t>
            </a:r>
          </a:p>
          <a:p>
            <a:pPr algn="l" marL="182880" indent="-182880">
              <a:lnSpc>
                <a:spcPct val="100000"/>
              </a:lnSpc>
              <a:spcAft>
                <a:spcPts val="700"/>
              </a:spcAft>
              <a:buClr>
                <a:srgbClr val="1F3A68"/>
              </a:buClr>
              <a:buFont typeface="Arial"/>
              <a:buChar char="•"/>
            </a:pPr>
            <a:r>
              <a:rPr sz="1200" b="0" i="0">
                <a:solidFill>
                  <a:srgbClr val="1E2430"/>
                </a:solidFill>
                <a:latin typeface="Calibri"/>
              </a:rPr>
              <a:t>Operator account recovery from the command line</a:t>
            </a:r>
          </a:p>
        </p:txBody>
      </p:sp>
      <p:sp>
        <p:nvSpPr>
          <p:cNvPr id="9" name="TextBox 8"/>
          <p:cNvSpPr txBox="1"/>
          <p:nvPr/>
        </p:nvSpPr>
        <p:spPr>
          <a:xfrm>
            <a:off x="4754879"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Modules</a:t>
            </a:r>
          </a:p>
        </p:txBody>
      </p:sp>
      <p:sp>
        <p:nvSpPr>
          <p:cNvPr id="10" name="TextBox 9"/>
          <p:cNvSpPr txBox="1"/>
          <p:nvPr/>
        </p:nvSpPr>
        <p:spPr>
          <a:xfrm>
            <a:off x="4754879"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1" i="0">
                <a:solidFill>
                  <a:srgbClr val="1E2430"/>
                </a:solidFill>
                <a:latin typeface="Calibri"/>
              </a:rPr>
              <a:t>Data curation:</a:t>
            </a:r>
            <a:r>
              <a:rPr sz="1200" b="0" i="0">
                <a:solidFill>
                  <a:srgbClr val="1E2430"/>
                </a:solidFill>
                <a:latin typeface="Calibri"/>
              </a:rPr>
              <a:t> brain crop, perceptual-hash deduplication, label-noise exclusion, group split</a:t>
            </a:r>
          </a:p>
          <a:p>
            <a:pPr algn="l" marL="182880" indent="-182880">
              <a:lnSpc>
                <a:spcPct val="100000"/>
              </a:lnSpc>
              <a:spcAft>
                <a:spcPts val="700"/>
              </a:spcAft>
              <a:buClr>
                <a:srgbClr val="1F3A68"/>
              </a:buClr>
              <a:buFont typeface="Arial"/>
              <a:buChar char="•"/>
            </a:pPr>
            <a:r>
              <a:rPr sz="1200" b="1" i="0">
                <a:solidFill>
                  <a:srgbClr val="1E2430"/>
                </a:solidFill>
                <a:latin typeface="Calibri"/>
              </a:rPr>
              <a:t>2D benchmark:</a:t>
            </a:r>
            <a:r>
              <a:rPr sz="1200" b="0" i="0">
                <a:solidFill>
                  <a:srgbClr val="1E2430"/>
                </a:solidFill>
                <a:latin typeface="Calibri"/>
              </a:rPr>
              <a:t> 9 backbones × 5 folds plus a background-only run; 54 runs per task</a:t>
            </a:r>
          </a:p>
          <a:p>
            <a:pPr algn="l" marL="182880" indent="-182880">
              <a:lnSpc>
                <a:spcPct val="100000"/>
              </a:lnSpc>
              <a:spcAft>
                <a:spcPts val="700"/>
              </a:spcAft>
              <a:buClr>
                <a:srgbClr val="1F3A68"/>
              </a:buClr>
              <a:buFont typeface="Arial"/>
              <a:buChar char="•"/>
            </a:pPr>
            <a:r>
              <a:rPr sz="1200" b="1" i="0">
                <a:solidFill>
                  <a:srgbClr val="1E2430"/>
                </a:solidFill>
                <a:latin typeface="Calibri"/>
              </a:rPr>
              <a:t>3D study:</a:t>
            </a:r>
            <a:r>
              <a:rPr sz="1200" b="0" i="0">
                <a:solidFill>
                  <a:srgbClr val="1E2430"/>
                </a:solidFill>
                <a:latin typeface="Calibri"/>
              </a:rPr>
              <a:t> three networks, per-region fusion, internal and external tests, disagreement QC</a:t>
            </a:r>
          </a:p>
          <a:p>
            <a:pPr algn="l" marL="182880" indent="-182880">
              <a:lnSpc>
                <a:spcPct val="100000"/>
              </a:lnSpc>
              <a:spcAft>
                <a:spcPts val="700"/>
              </a:spcAft>
              <a:buClr>
                <a:srgbClr val="1F3A68"/>
              </a:buClr>
              <a:buFont typeface="Arial"/>
              <a:buChar char="•"/>
            </a:pPr>
            <a:r>
              <a:rPr sz="1200" b="1" i="0">
                <a:solidFill>
                  <a:srgbClr val="1E2430"/>
                </a:solidFill>
                <a:latin typeface="Calibri"/>
              </a:rPr>
              <a:t>Inference engine:</a:t>
            </a:r>
            <a:r>
              <a:rPr sz="1200" b="0" i="0">
                <a:solidFill>
                  <a:srgbClr val="1E2430"/>
                </a:solidFill>
                <a:latin typeface="Calibri"/>
              </a:rPr>
              <a:t> BrainProcessor with safe weight loading, the training crop and the mask in FLAIR space</a:t>
            </a:r>
          </a:p>
          <a:p>
            <a:pPr algn="l" marL="182880" indent="-182880">
              <a:lnSpc>
                <a:spcPct val="100000"/>
              </a:lnSpc>
              <a:spcAft>
                <a:spcPts val="700"/>
              </a:spcAft>
              <a:buClr>
                <a:srgbClr val="1F3A68"/>
              </a:buClr>
              <a:buFont typeface="Arial"/>
              <a:buChar char="•"/>
            </a:pPr>
            <a:r>
              <a:rPr sz="1200" b="1" i="0">
                <a:solidFill>
                  <a:srgbClr val="1E2430"/>
                </a:solidFill>
                <a:latin typeface="Calibri"/>
              </a:rPr>
              <a:t>Backend and pipeline:</a:t>
            </a:r>
            <a:r>
              <a:rPr sz="1200" b="0" i="0">
                <a:solidFill>
                  <a:srgbClr val="1E2430"/>
                </a:solidFill>
                <a:latin typeface="Calibri"/>
              </a:rPr>
              <a:t> FastAPI (23 routes), one worker, SQLite in WAL mode, Alembic</a:t>
            </a:r>
          </a:p>
          <a:p>
            <a:pPr algn="l" marL="182880" indent="-182880">
              <a:lnSpc>
                <a:spcPct val="100000"/>
              </a:lnSpc>
              <a:spcAft>
                <a:spcPts val="700"/>
              </a:spcAft>
              <a:buClr>
                <a:srgbClr val="1F3A68"/>
              </a:buClr>
              <a:buFont typeface="Arial"/>
              <a:buChar char="•"/>
            </a:pPr>
            <a:r>
              <a:rPr sz="1200" b="1" i="0">
                <a:solidFill>
                  <a:srgbClr val="1E2430"/>
                </a:solidFill>
                <a:latin typeface="Calibri"/>
              </a:rPr>
              <a:t>Security:</a:t>
            </a:r>
            <a:r>
              <a:rPr sz="1200" b="0" i="0">
                <a:solidFill>
                  <a:srgbClr val="1E2430"/>
                </a:solidFill>
                <a:latin typeface="Calibri"/>
              </a:rPr>
              <a:t> bcrypt, revocable JWT cookies, CSRF header, lockout, rate limits, TOTP</a:t>
            </a:r>
          </a:p>
          <a:p>
            <a:pPr algn="l" marL="182880" indent="-182880">
              <a:lnSpc>
                <a:spcPct val="100000"/>
              </a:lnSpc>
              <a:spcAft>
                <a:spcPts val="700"/>
              </a:spcAft>
              <a:buClr>
                <a:srgbClr val="1F3A68"/>
              </a:buClr>
              <a:buFont typeface="Arial"/>
              <a:buChar char="•"/>
            </a:pPr>
            <a:r>
              <a:rPr sz="1200" b="1" i="0">
                <a:solidFill>
                  <a:srgbClr val="1E2430"/>
                </a:solidFill>
                <a:latin typeface="Calibri"/>
              </a:rPr>
              <a:t>Viewer:</a:t>
            </a:r>
            <a:r>
              <a:rPr sz="1200" b="0" i="0">
                <a:solidFill>
                  <a:srgbClr val="1E2430"/>
                </a:solidFill>
                <a:latin typeface="Calibri"/>
              </a:rPr>
              <a:t> React and vtk.js; linked multi-planar and 3D views, slab modes, ruler</a:t>
            </a:r>
          </a:p>
          <a:p>
            <a:pPr algn="l" marL="182880" indent="-182880">
              <a:lnSpc>
                <a:spcPct val="100000"/>
              </a:lnSpc>
              <a:spcAft>
                <a:spcPts val="700"/>
              </a:spcAft>
              <a:buClr>
                <a:srgbClr val="1F3A68"/>
              </a:buClr>
              <a:buFont typeface="Arial"/>
              <a:buChar char="•"/>
            </a:pPr>
            <a:r>
              <a:rPr sz="1200" b="1" i="0">
                <a:solidFill>
                  <a:srgbClr val="1E2430"/>
                </a:solidFill>
                <a:latin typeface="Calibri"/>
              </a:rPr>
              <a:t>Reports:</a:t>
            </a:r>
            <a:r>
              <a:rPr sz="1200" b="0" i="0">
                <a:solidFill>
                  <a:srgbClr val="1E2430"/>
                </a:solidFill>
                <a:latin typeface="Calibri"/>
              </a:rPr>
              <a:t> PDF MRI report with key images; CSV export with formula escaping</a:t>
            </a:r>
          </a:p>
        </p:txBody>
      </p:sp>
      <p:pic>
        <p:nvPicPr>
          <p:cNvPr id="11" name="Picture 10" descr="scan-viewer-panes.png"/>
          <p:cNvPicPr>
            <a:picLocks noChangeAspect="1"/>
          </p:cNvPicPr>
          <p:nvPr/>
        </p:nvPicPr>
        <p:blipFill>
          <a:blip r:embed="rId2"/>
          <a:stretch>
            <a:fillRect/>
          </a:stretch>
        </p:blipFill>
        <p:spPr>
          <a:xfrm>
            <a:off x="8961119" y="1234440"/>
            <a:ext cx="2679192" cy="2679192"/>
          </a:xfrm>
          <a:prstGeom prst="rect">
            <a:avLst/>
          </a:prstGeom>
        </p:spPr>
      </p:pic>
      <p:sp>
        <p:nvSpPr>
          <p:cNvPr id="12" name="TextBox 11"/>
          <p:cNvSpPr txBox="1"/>
          <p:nvPr/>
        </p:nvSpPr>
        <p:spPr>
          <a:xfrm>
            <a:off x="8961119" y="3968496"/>
            <a:ext cx="2679192" cy="5262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NeuroScan AI viewer: linked axial, 3D, coronal and sagittal panes with the WT, TC and ET overlay on a BraTS case</a:t>
            </a:r>
          </a:p>
        </p:txBody>
      </p:sp>
    </p:spTree>
    <p:extLst>
      <p:ext uri="{BB962C8B-B14F-4D97-AF65-F5344CB8AC3E}">
        <p14:creationId xmlns:p14="http://schemas.microsoft.com/office/powerpoint/2010/main" val="3191299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1556E8-0003-02C5-D37D-A5CC4CE44D5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Curation and Leakage Control</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sp>
        <p:nvSpPr>
          <p:cNvPr id="8" name="Rectangle 7"/>
          <p:cNvSpPr/>
          <p:nvPr/>
        </p:nvSpPr>
        <p:spPr>
          <a:xfrm>
            <a:off x="548640"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1. Brain crop</a:t>
            </a:r>
          </a:p>
          <a:p>
            <a:pPr algn="ctr">
              <a:spcBef>
                <a:spcPts val="200"/>
              </a:spcBef>
            </a:pPr>
            <a:r>
              <a:rPr sz="950" b="0" i="0">
                <a:solidFill>
                  <a:srgbClr val="1E2430"/>
                </a:solidFill>
                <a:latin typeface="Calibri"/>
              </a:rPr>
              <a:t>greyscale, 5×5 Gaussian, threshold 45, largest contour [85]</a:t>
            </a:r>
          </a:p>
        </p:txBody>
      </p:sp>
      <p:sp>
        <p:nvSpPr>
          <p:cNvPr id="9" name="Rectangle 8"/>
          <p:cNvSpPr/>
          <p:nvPr/>
        </p:nvSpPr>
        <p:spPr>
          <a:xfrm>
            <a:off x="2812694"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 Perceptual hash</a:t>
            </a:r>
          </a:p>
          <a:p>
            <a:pPr algn="ctr">
              <a:spcBef>
                <a:spcPts val="200"/>
              </a:spcBef>
            </a:pPr>
            <a:r>
              <a:rPr sz="950" b="0" i="0">
                <a:solidFill>
                  <a:srgbClr val="1E2430"/>
                </a:solidFill>
                <a:latin typeface="Calibri"/>
              </a:rPr>
              <a:t>64-bit pHash [68] and a 64×64 thumbnail per image</a:t>
            </a:r>
          </a:p>
        </p:txBody>
      </p:sp>
      <p:cxnSp>
        <p:nvCxnSpPr>
          <p:cNvPr id="10" name="Connector 9"/>
          <p:cNvCxnSpPr/>
          <p:nvPr/>
        </p:nvCxnSpPr>
        <p:spPr>
          <a:xfrm>
            <a:off x="2611526"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076748"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Deduplicate</a:t>
            </a:r>
          </a:p>
          <a:p>
            <a:pPr algn="ctr">
              <a:spcBef>
                <a:spcPts val="200"/>
              </a:spcBef>
            </a:pPr>
            <a:r>
              <a:rPr sz="950" b="0" i="0">
                <a:solidFill>
                  <a:srgbClr val="1E2430"/>
                </a:solidFill>
                <a:latin typeface="Calibri"/>
              </a:rPr>
              <a:t>same label, Hamming ≤ 5 [69]: keep one; cross-label NCC ≥ 0.98 [86]: drop both</a:t>
            </a:r>
          </a:p>
        </p:txBody>
      </p:sp>
      <p:cxnSp>
        <p:nvCxnSpPr>
          <p:cNvPr id="12" name="Connector 11"/>
          <p:cNvCxnSpPr/>
          <p:nvPr/>
        </p:nvCxnSpPr>
        <p:spPr>
          <a:xfrm>
            <a:off x="4875580"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340803"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4. Group</a:t>
            </a:r>
          </a:p>
          <a:p>
            <a:pPr algn="ctr">
              <a:spcBef>
                <a:spcPts val="200"/>
              </a:spcBef>
            </a:pPr>
            <a:r>
              <a:rPr sz="950" b="0" i="0">
                <a:solidFill>
                  <a:srgbClr val="1E2430"/>
                </a:solidFill>
                <a:latin typeface="Calibri"/>
              </a:rPr>
              <a:t>Hamming ≤ 8 or NCC ≥ 0.98: 821 and 1,867 groups as a patient proxy</a:t>
            </a:r>
          </a:p>
        </p:txBody>
      </p:sp>
      <p:cxnSp>
        <p:nvCxnSpPr>
          <p:cNvPr id="14" name="Connector 13"/>
          <p:cNvCxnSpPr/>
          <p:nvPr/>
        </p:nvCxnSpPr>
        <p:spPr>
          <a:xfrm>
            <a:off x="7139635"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604857"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5. Split and audit</a:t>
            </a:r>
          </a:p>
          <a:p>
            <a:pPr algn="ctr">
              <a:spcBef>
                <a:spcPts val="200"/>
              </a:spcBef>
            </a:pPr>
            <a:r>
              <a:rPr sz="950" b="0" i="0">
                <a:solidFill>
                  <a:srgbClr val="1E2430"/>
                </a:solidFill>
                <a:latin typeface="Calibri"/>
              </a:rPr>
              <a:t>stratified group k-fold [87, 88]: 15% test, five folds; no test image near development</a:t>
            </a:r>
          </a:p>
        </p:txBody>
      </p:sp>
      <p:cxnSp>
        <p:nvCxnSpPr>
          <p:cNvPr id="16" name="Connector 15"/>
          <p:cNvCxnSpPr/>
          <p:nvPr/>
        </p:nvCxnSpPr>
        <p:spPr>
          <a:xfrm>
            <a:off x="9403689"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468880"/>
          <a:ext cx="5486400" cy="1261872"/>
        </p:xfrm>
        <a:graphic>
          <a:graphicData uri="http://schemas.openxmlformats.org/drawingml/2006/table">
            <a:tbl>
              <a:tblPr firstRow="0" bandRow="0">
                <a:tableStyleId>{5C22544A-7EE6-4342-B048-85BDC9FD1C3A}</a:tableStyleId>
              </a:tblPr>
              <a:tblGrid>
                <a:gridCol w="731520"/>
                <a:gridCol w="1965960"/>
                <a:gridCol w="868680"/>
                <a:gridCol w="1097280"/>
                <a:gridCol w="457200"/>
                <a:gridCol w="365760"/>
              </a:tblGrid>
              <a:tr h="420624">
                <a:tc>
                  <a:txBody>
                    <a:bodyPr wrap="square"/>
                    <a:lstStyle/>
                    <a:p>
                      <a:pPr algn="l"/>
                      <a:r>
                        <a:rPr sz="1000" b="1" i="0">
                          <a:solidFill>
                            <a:srgbClr val="FFFFFF"/>
                          </a:solidFill>
                          <a:latin typeface="Calibri"/>
                        </a:rPr>
                        <a:t>Task</a:t>
                      </a:r>
                    </a:p>
                  </a:txBody>
                  <a:tcPr marL="64008" marR="64008" marT="27432" marB="27432" anchor="ctr">
                    <a:solidFill>
                      <a:srgbClr val="1F3A68"/>
                    </a:solidFill>
                  </a:tcPr>
                </a:tc>
                <a:tc>
                  <a:txBody>
                    <a:bodyPr wrap="square"/>
                    <a:lstStyle/>
                    <a:p>
                      <a:pPr algn="l"/>
                      <a:r>
                        <a:rPr sz="1000" b="1" i="0">
                          <a:solidFill>
                            <a:srgbClr val="FFFFFF"/>
                          </a:solidFill>
                          <a:latin typeface="Calibri"/>
                        </a:rPr>
                        <a:t>Sources</a:t>
                      </a:r>
                    </a:p>
                  </a:txBody>
                  <a:tcPr marL="64008" marR="64008" marT="27432" marB="27432" anchor="ctr">
                    <a:solidFill>
                      <a:srgbClr val="1F3A68"/>
                    </a:solidFill>
                  </a:tcPr>
                </a:tc>
                <a:tc>
                  <a:txBody>
                    <a:bodyPr wrap="square"/>
                    <a:lstStyle/>
                    <a:p>
                      <a:pPr algn="ctr"/>
                      <a:r>
                        <a:rPr sz="1000" b="1" i="0">
                          <a:solidFill>
                            <a:srgbClr val="FFFFFF"/>
                          </a:solidFill>
                          <a:latin typeface="Calibri"/>
                        </a:rPr>
                        <a:t>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After deduplication</a:t>
                      </a:r>
                    </a:p>
                  </a:txBody>
                  <a:tcPr marL="64008" marR="64008" marT="27432" marB="27432" anchor="ctr">
                    <a:solidFill>
                      <a:srgbClr val="1F3A68"/>
                    </a:solidFill>
                  </a:tcPr>
                </a:tc>
                <a:tc>
                  <a:txBody>
                    <a:bodyPr wrap="square"/>
                    <a:lstStyle/>
                    <a:p>
                      <a:pPr algn="ctr"/>
                      <a:r>
                        <a:rPr sz="1000" b="1" i="0">
                          <a:solidFill>
                            <a:srgbClr val="FFFFFF"/>
                          </a:solidFill>
                          <a:latin typeface="Calibri"/>
                        </a:rPr>
                        <a:t>Dev.</a:t>
                      </a:r>
                    </a:p>
                  </a:txBody>
                  <a:tcPr marL="64008" marR="64008" marT="27432" marB="27432" anchor="ctr">
                    <a:solidFill>
                      <a:srgbClr val="1F3A68"/>
                    </a:solidFill>
                  </a:tcPr>
                </a:tc>
                <a:tc>
                  <a:txBody>
                    <a:bodyPr wrap="square"/>
                    <a:lstStyle/>
                    <a:p>
                      <a:pPr algn="ctr"/>
                      <a:r>
                        <a:rPr sz="1000" b="1" i="0">
                          <a:solidFill>
                            <a:srgbClr val="FFFFFF"/>
                          </a:solidFill>
                          <a:latin typeface="Calibri"/>
                        </a:rPr>
                        <a:t>Test</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Detection</a:t>
                      </a:r>
                    </a:p>
                  </a:txBody>
                  <a:tcPr marL="64008" marR="64008" marT="27432" marB="27432" anchor="ctr">
                    <a:solidFill>
                      <a:srgbClr val="FFFFFF"/>
                    </a:solidFill>
                  </a:tcPr>
                </a:tc>
                <a:tc>
                  <a:txBody>
                    <a:bodyPr wrap="square"/>
                    <a:lstStyle/>
                    <a:p>
                      <a:pPr algn="l"/>
                      <a:r>
                        <a:rPr sz="1000" b="0" i="0">
                          <a:solidFill>
                            <a:srgbClr val="1E2430"/>
                          </a:solidFill>
                          <a:latin typeface="Calibri"/>
                        </a:rPr>
                        <a:t>Br35H [62], Chakrabarty [63]</a:t>
                      </a:r>
                    </a:p>
                  </a:txBody>
                  <a:tcPr marL="64008" marR="64008" marT="27432" marB="27432" anchor="ctr">
                    <a:solidFill>
                      <a:srgbClr val="FFFFFF"/>
                    </a:solidFill>
                  </a:tcPr>
                </a:tc>
                <a:tc>
                  <a:txBody>
                    <a:bodyPr wrap="square"/>
                    <a:lstStyle/>
                    <a:p>
                      <a:pPr algn="ctr"/>
                      <a:r>
                        <a:rPr sz="1000" b="0" i="0">
                          <a:solidFill>
                            <a:srgbClr val="1E2430"/>
                          </a:solidFill>
                          <a:latin typeface="Calibri"/>
                        </a:rPr>
                        <a:t>3,000 + 253</a:t>
                      </a:r>
                    </a:p>
                  </a:txBody>
                  <a:tcPr marL="64008" marR="64008" marT="27432" marB="27432" anchor="ctr">
                    <a:solidFill>
                      <a:srgbClr val="FFFFFF"/>
                    </a:solidFill>
                  </a:tcPr>
                </a:tc>
                <a:tc>
                  <a:txBody>
                    <a:bodyPr wrap="square"/>
                    <a:lstStyle/>
                    <a:p>
                      <a:pPr algn="ctr"/>
                      <a:r>
                        <a:rPr sz="1000" b="0" i="0">
                          <a:solidFill>
                            <a:srgbClr val="1E2430"/>
                          </a:solidFill>
                          <a:latin typeface="Calibri"/>
                        </a:rPr>
                        <a:t>1,185 (−63.57%)</a:t>
                      </a:r>
                    </a:p>
                  </a:txBody>
                  <a:tcPr marL="64008" marR="64008" marT="27432" marB="27432" anchor="ctr">
                    <a:solidFill>
                      <a:srgbClr val="FFFFFF"/>
                    </a:solidFill>
                  </a:tcPr>
                </a:tc>
                <a:tc>
                  <a:txBody>
                    <a:bodyPr wrap="square"/>
                    <a:lstStyle/>
                    <a:p>
                      <a:pPr algn="ctr"/>
                      <a:r>
                        <a:rPr sz="1000" b="0" i="0">
                          <a:solidFill>
                            <a:srgbClr val="1E2430"/>
                          </a:solidFill>
                          <a:latin typeface="Calibri"/>
                        </a:rPr>
                        <a:t>1,014</a:t>
                      </a:r>
                    </a:p>
                  </a:txBody>
                  <a:tcPr marL="64008" marR="64008" marT="27432" marB="27432" anchor="ctr">
                    <a:solidFill>
                      <a:srgbClr val="FFFFFF"/>
                    </a:solidFill>
                  </a:tcPr>
                </a:tc>
                <a:tc>
                  <a:txBody>
                    <a:bodyPr wrap="square"/>
                    <a:lstStyle/>
                    <a:p>
                      <a:pPr algn="ctr"/>
                      <a:r>
                        <a:rPr sz="1000" b="0" i="0">
                          <a:solidFill>
                            <a:srgbClr val="1E2430"/>
                          </a:solidFill>
                          <a:latin typeface="Calibri"/>
                        </a:rPr>
                        <a:t>171</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Subtype</a:t>
                      </a:r>
                    </a:p>
                  </a:txBody>
                  <a:tcPr marL="64008" marR="64008" marT="27432" marB="27432" anchor="ctr">
                    <a:solidFill>
                      <a:srgbClr val="F3F5F8"/>
                    </a:solidFill>
                  </a:tcPr>
                </a:tc>
                <a:tc>
                  <a:txBody>
                    <a:bodyPr wrap="square"/>
                    <a:lstStyle/>
                    <a:p>
                      <a:pPr algn="l"/>
                      <a:r>
                        <a:rPr sz="1000" b="0" i="0">
                          <a:solidFill>
                            <a:srgbClr val="1E2430"/>
                          </a:solidFill>
                          <a:latin typeface="Calibri"/>
                        </a:rPr>
                        <a:t>Bhuvaji [64], Cheng [16, 65, 66]</a:t>
                      </a:r>
                    </a:p>
                  </a:txBody>
                  <a:tcPr marL="64008" marR="64008" marT="27432" marB="27432" anchor="ctr">
                    <a:solidFill>
                      <a:srgbClr val="F3F5F8"/>
                    </a:solidFill>
                  </a:tcPr>
                </a:tc>
                <a:tc>
                  <a:txBody>
                    <a:bodyPr wrap="square"/>
                    <a:lstStyle/>
                    <a:p>
                      <a:pPr algn="ctr"/>
                      <a:r>
                        <a:rPr sz="1000" b="0" i="0">
                          <a:solidFill>
                            <a:srgbClr val="1E2430"/>
                          </a:solidFill>
                          <a:latin typeface="Calibri"/>
                        </a:rPr>
                        <a:t>2,764 + 3,064</a:t>
                      </a:r>
                    </a:p>
                  </a:txBody>
                  <a:tcPr marL="64008" marR="64008" marT="27432" marB="27432" anchor="ctr">
                    <a:solidFill>
                      <a:srgbClr val="F3F5F8"/>
                    </a:solidFill>
                  </a:tcPr>
                </a:tc>
                <a:tc>
                  <a:txBody>
                    <a:bodyPr wrap="square"/>
                    <a:lstStyle/>
                    <a:p>
                      <a:pPr algn="ctr"/>
                      <a:r>
                        <a:rPr sz="1000" b="0" i="0">
                          <a:solidFill>
                            <a:srgbClr val="1E2430"/>
                          </a:solidFill>
                          <a:latin typeface="Calibri"/>
                        </a:rPr>
                        <a:t>4,730 (−18.84%)</a:t>
                      </a:r>
                    </a:p>
                  </a:txBody>
                  <a:tcPr marL="64008" marR="64008" marT="27432" marB="27432" anchor="ctr">
                    <a:solidFill>
                      <a:srgbClr val="F3F5F8"/>
                    </a:solidFill>
                  </a:tcPr>
                </a:tc>
                <a:tc>
                  <a:txBody>
                    <a:bodyPr wrap="square"/>
                    <a:lstStyle/>
                    <a:p>
                      <a:pPr algn="ctr"/>
                      <a:r>
                        <a:rPr sz="1000" b="0" i="0">
                          <a:solidFill>
                            <a:srgbClr val="1E2430"/>
                          </a:solidFill>
                          <a:latin typeface="Calibri"/>
                        </a:rPr>
                        <a:t>4,685</a:t>
                      </a:r>
                    </a:p>
                  </a:txBody>
                  <a:tcPr marL="64008" marR="64008" marT="27432" marB="27432" anchor="ctr">
                    <a:solidFill>
                      <a:srgbClr val="F3F5F8"/>
                    </a:solidFill>
                  </a:tcPr>
                </a:tc>
                <a:tc>
                  <a:txBody>
                    <a:bodyPr wrap="square"/>
                    <a:lstStyle/>
                    <a:p>
                      <a:pPr algn="ctr"/>
                      <a:r>
                        <a:rPr sz="1000" b="0" i="0">
                          <a:solidFill>
                            <a:srgbClr val="1E2430"/>
                          </a:solidFill>
                          <a:latin typeface="Calibri"/>
                        </a:rPr>
                        <a:t>45</a:t>
                      </a:r>
                    </a:p>
                  </a:txBody>
                  <a:tcPr marL="64008" marR="64008" marT="27432" marB="27432" anchor="ctr">
                    <a:solidFill>
                      <a:srgbClr val="F3F5F8"/>
                    </a:solidFill>
                  </a:tcPr>
                </a:tc>
              </a:tr>
            </a:tbl>
          </a:graphicData>
        </a:graphic>
      </p:graphicFrame>
      <p:pic>
        <p:nvPicPr>
          <p:cNvPr id="18" name="Picture 17" descr="detection-samples-crop-mask.png"/>
          <p:cNvPicPr>
            <a:picLocks noChangeAspect="1"/>
          </p:cNvPicPr>
          <p:nvPr/>
        </p:nvPicPr>
        <p:blipFill>
          <a:blip r:embed="rId2"/>
          <a:stretch>
            <a:fillRect/>
          </a:stretch>
        </p:blipFill>
        <p:spPr>
          <a:xfrm>
            <a:off x="548640" y="3959352"/>
            <a:ext cx="5486400" cy="1891566"/>
          </a:xfrm>
          <a:prstGeom prst="rect">
            <a:avLst/>
          </a:prstGeom>
        </p:spPr>
      </p:pic>
      <p:sp>
        <p:nvSpPr>
          <p:cNvPr id="19" name="TextBox 18"/>
          <p:cNvSpPr txBox="1"/>
          <p:nvPr/>
        </p:nvSpPr>
        <p:spPr>
          <a:xfrm>
            <a:off x="548640" y="5905782"/>
            <a:ext cx="548640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Original image, brain crop used for training, and head mask used by the attention audit</a:t>
            </a:r>
          </a:p>
        </p:txBody>
      </p:sp>
      <p:graphicFrame>
        <p:nvGraphicFramePr>
          <p:cNvPr id="20" name="Chart 19"/>
          <p:cNvGraphicFramePr>
            <a:graphicFrameLocks noGrp="1"/>
          </p:cNvGraphicFramePr>
          <p:nvPr/>
        </p:nvGraphicFramePr>
        <p:xfrm>
          <a:off x="6263640" y="2468880"/>
          <a:ext cx="5376672" cy="1987296"/>
        </p:xfrm>
        <a:graphic>
          <a:graphicData uri="http://schemas.openxmlformats.org/drawingml/2006/chart">
            <c:chart xmlns:c="http://schemas.openxmlformats.org/drawingml/2006/chart" r:id="rId3"/>
          </a:graphicData>
        </a:graphic>
      </p:graphicFrame>
      <p:sp>
        <p:nvSpPr>
          <p:cNvPr id="21" name="Rectangle 20"/>
          <p:cNvSpPr/>
          <p:nvPr/>
        </p:nvSpPr>
        <p:spPr>
          <a:xfrm>
            <a:off x="6263640" y="4684776"/>
            <a:ext cx="5376672" cy="14874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849367"/>
            <a:ext cx="5047488" cy="115824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Eight of 31 cross-label pairs in the subtype pool were label noise; the detection pool had none.</a:t>
            </a:r>
          </a:p>
          <a:p>
            <a:pPr algn="l" marL="180594" indent="-180594">
              <a:lnSpc>
                <a:spcPct val="100000"/>
              </a:lnSpc>
              <a:spcAft>
                <a:spcPts val="400"/>
              </a:spcAft>
              <a:buClr>
                <a:srgbClr val="1F3A68"/>
              </a:buClr>
              <a:buFont typeface="Arial"/>
              <a:buChar char="•"/>
            </a:pPr>
            <a:r>
              <a:rPr sz="1100" b="0" i="0">
                <a:solidFill>
                  <a:srgbClr val="1E2430"/>
                </a:solidFill>
                <a:latin typeface="Calibri"/>
              </a:rPr>
              <a:t>One subtype group held 1,431 images, so the subtype test set has only 45 images (1 glioma, 13 meningioma, 31 pituitary).</a:t>
            </a:r>
          </a:p>
          <a:p>
            <a:pPr algn="l" marL="180594" indent="-180594">
              <a:lnSpc>
                <a:spcPct val="100000"/>
              </a:lnSpc>
              <a:spcAft>
                <a:spcPts val="400"/>
              </a:spcAft>
              <a:buClr>
                <a:srgbClr val="1F3A68"/>
              </a:buClr>
              <a:buFont typeface="Arial"/>
              <a:buChar char="•"/>
            </a:pPr>
            <a:r>
              <a:rPr sz="1100" b="0" i="0">
                <a:solidFill>
                  <a:srgbClr val="1E2430"/>
                </a:solidFill>
                <a:latin typeface="Calibri"/>
              </a:rPr>
              <a:t>The all-pairs search grows with the square of the pool; multi-index hashing [70] would scale it to larger collections.</a:t>
            </a:r>
          </a:p>
        </p:txBody>
      </p:sp>
    </p:spTree>
    <p:extLst>
      <p:ext uri="{BB962C8B-B14F-4D97-AF65-F5344CB8AC3E}">
        <p14:creationId xmlns:p14="http://schemas.microsoft.com/office/powerpoint/2010/main" val="3666188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C49A39-F362-DB35-B5DF-7E322AB9CAE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3754A46F-4AC3-5AF1-0B78-C0B5112BD14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Conclusion and Future Work</a:t>
            </a:r>
          </a:p>
        </p:txBody>
      </p:sp>
      <p:sp>
        <p:nvSpPr>
          <p:cNvPr id="2" name="Date Placeholder 1">
            <a:extLst>
              <a:ext uri="{FF2B5EF4-FFF2-40B4-BE49-F238E27FC236}">
                <a16:creationId xmlns:a16="http://schemas.microsoft.com/office/drawing/2014/main" xmlns="" id="{851BAA61-633E-E24B-7DEE-4B2A2B1FA9A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AB93C553-2D0C-5A0A-39DC-21C43BD88BF0}"/>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6BF7A7E9-45BE-62F4-D3A6-F19DC6ABED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12</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8" name="TextBox 7"/>
          <p:cNvSpPr txBox="1"/>
          <p:nvPr/>
        </p:nvSpPr>
        <p:spPr>
          <a:xfrm>
            <a:off x="960120" y="123444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Cost decides in 2D.</a:t>
            </a:r>
            <a:r>
              <a:rPr sz="1300" b="0" i="0">
                <a:solidFill>
                  <a:srgbClr val="1E2430"/>
                </a:solidFill>
                <a:latin typeface="Calibri"/>
              </a:rPr>
              <a:t> All nine backbones reach 97.08% to 99.42% detection accuracy with no significant difference; EfficientNetB0 matches the leaders with 4.01 M parameters and 0.77 GFLOPs.</a:t>
            </a:r>
          </a:p>
        </p:txBody>
      </p:sp>
      <p:sp>
        <p:nvSpPr>
          <p:cNvPr id="9" name="TextBox 8"/>
          <p:cNvSpPr txBox="1"/>
          <p:nvPr/>
        </p:nvSpPr>
        <p:spPr>
          <a:xfrm>
            <a:off x="548640" y="220370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0" name="TextBox 9"/>
          <p:cNvSpPr txBox="1"/>
          <p:nvPr/>
        </p:nvSpPr>
        <p:spPr>
          <a:xfrm>
            <a:off x="960120" y="224028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Leakage and shortcuts are real.</a:t>
            </a:r>
            <a:r>
              <a:rPr sz="1300" b="0" i="0">
                <a:solidFill>
                  <a:srgbClr val="1E2430"/>
                </a:solidFill>
                <a:latin typeface="Calibri"/>
              </a:rPr>
              <a:t> Deduplication removed 63.57% and 18.84% of the images, and background-only models still beat chance: public 2D collections carry non-anatomical label cues.</a:t>
            </a:r>
          </a:p>
        </p:txBody>
      </p:sp>
      <p:sp>
        <p:nvSpPr>
          <p:cNvPr id="11" name="TextBox 10"/>
          <p:cNvSpPr txBox="1"/>
          <p:nvPr/>
        </p:nvSpPr>
        <p:spPr>
          <a:xfrm>
            <a:off x="548640" y="32095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2" name="TextBox 11"/>
          <p:cNvSpPr txBox="1"/>
          <p:nvPr/>
        </p:nvSpPr>
        <p:spPr>
          <a:xfrm>
            <a:off x="960120" y="324612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Fusion does not beat SegResNet in 3D.</a:t>
            </a:r>
            <a:r>
              <a:rPr sz="1300" b="0" i="0">
                <a:solidFill>
                  <a:srgbClr val="1E2430"/>
                </a:solidFill>
                <a:latin typeface="Calibri"/>
              </a:rPr>
              <a:t> The region-adaptive ensemble (0.8530 internal, 0.7966 external) beats two of its networks but not SegResNet alone (0.8717, 0.7967), at six times its cost.</a:t>
            </a:r>
          </a:p>
        </p:txBody>
      </p:sp>
      <p:sp>
        <p:nvSpPr>
          <p:cNvPr id="13" name="TextBox 12"/>
          <p:cNvSpPr txBox="1"/>
          <p:nvPr/>
        </p:nvSpPr>
        <p:spPr>
          <a:xfrm>
            <a:off x="548640" y="421538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4" name="TextBox 13"/>
          <p:cNvSpPr txBox="1"/>
          <p:nvPr/>
        </p:nvSpPr>
        <p:spPr>
          <a:xfrm>
            <a:off x="960120" y="4251959"/>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Disagreement is the useful product.</a:t>
            </a:r>
            <a:r>
              <a:rPr sz="1300" b="0" i="0">
                <a:solidFill>
                  <a:srgbClr val="1E2430"/>
                </a:solidFill>
                <a:latin typeface="Calibri"/>
              </a:rPr>
              <a:t> Disagreement between the networks flags failed cases with AUC 0.993 internally and 0.870 externally; every model loses 0.047 to 0.075 Dice on BraTS-Africa, and LGG ET Dice is 0.37 to 0.58.</a:t>
            </a:r>
          </a:p>
        </p:txBody>
      </p:sp>
      <p:sp>
        <p:nvSpPr>
          <p:cNvPr id="15" name="TextBox 14"/>
          <p:cNvSpPr txBox="1"/>
          <p:nvPr/>
        </p:nvSpPr>
        <p:spPr>
          <a:xfrm>
            <a:off x="548640" y="52212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6" name="TextBox 15"/>
          <p:cNvSpPr txBox="1"/>
          <p:nvPr/>
        </p:nvSpPr>
        <p:spPr>
          <a:xfrm>
            <a:off x="960120" y="5257799"/>
            <a:ext cx="6172200" cy="44196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From benchmark to tool.</a:t>
            </a:r>
            <a:r>
              <a:rPr sz="1300" b="0" i="0">
                <a:solidFill>
                  <a:srgbClr val="1E2430"/>
                </a:solidFill>
                <a:latin typeface="Calibri"/>
              </a:rPr>
              <a:t> NeuroScan AI deploys EfficientNetB0 and SegResNet in a secure, tested application; it is a research prototype, not a diagnostic device.</a:t>
            </a:r>
          </a:p>
        </p:txBody>
      </p:sp>
      <p:sp>
        <p:nvSpPr>
          <p:cNvPr id="17" name="Rectangle 16"/>
          <p:cNvSpPr/>
          <p:nvPr/>
        </p:nvSpPr>
        <p:spPr>
          <a:xfrm>
            <a:off x="7360920" y="1234440"/>
            <a:ext cx="4279392" cy="28387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25512" y="1399032"/>
            <a:ext cx="3950208" cy="25095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Future work</a:t>
            </a:r>
          </a:p>
          <a:p>
            <a:pPr algn="l" marL="182880" indent="-182880">
              <a:lnSpc>
                <a:spcPct val="100000"/>
              </a:lnSpc>
              <a:spcAft>
                <a:spcPts val="400"/>
              </a:spcAft>
              <a:buClr>
                <a:srgbClr val="1F3A68"/>
              </a:buClr>
              <a:buFont typeface="Arial"/>
              <a:buChar char="•"/>
            </a:pPr>
            <a:r>
              <a:rPr sz="1200" b="0" i="0">
                <a:solidFill>
                  <a:srgbClr val="1E2430"/>
                </a:solidFill>
                <a:latin typeface="Calibri"/>
              </a:rPr>
              <a:t>Patient-level splits and external, multi-centre validation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Grouping that keeps every subtype in the test set</a:t>
            </a:r>
          </a:p>
          <a:p>
            <a:pPr algn="l" marL="182880" indent="-182880">
              <a:lnSpc>
                <a:spcPct val="100000"/>
              </a:lnSpc>
              <a:spcAft>
                <a:spcPts val="400"/>
              </a:spcAft>
              <a:buClr>
                <a:srgbClr val="1F3A68"/>
              </a:buClr>
              <a:buFont typeface="Arial"/>
              <a:buChar char="•"/>
            </a:pPr>
            <a:r>
              <a:rPr sz="1200" b="0" i="0">
                <a:solidFill>
                  <a:srgbClr val="1E2430"/>
                </a:solidFill>
                <a:latin typeface="Calibri"/>
              </a:rPr>
              <a:t>Standardise image borders, then repeat the shortcut test</a:t>
            </a:r>
          </a:p>
          <a:p>
            <a:pPr algn="l" marL="182880" indent="-182880">
              <a:lnSpc>
                <a:spcPct val="100000"/>
              </a:lnSpc>
              <a:spcAft>
                <a:spcPts val="400"/>
              </a:spcAft>
              <a:buClr>
                <a:srgbClr val="1F3A68"/>
              </a:buClr>
              <a:buFont typeface="Arial"/>
              <a:buChar char="•"/>
            </a:pPr>
            <a:r>
              <a:rPr sz="1200" b="0" i="0">
                <a:solidFill>
                  <a:srgbClr val="1E2430"/>
                </a:solidFill>
                <a:latin typeface="Calibri"/>
              </a:rPr>
              <a:t>3D multi-sequence detection and classification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Several seeds and cross-validated fusion for the 3D study</a:t>
            </a:r>
          </a:p>
          <a:p>
            <a:pPr algn="l" marL="182880" indent="-182880">
              <a:lnSpc>
                <a:spcPct val="100000"/>
              </a:lnSpc>
              <a:spcAft>
                <a:spcPts val="400"/>
              </a:spcAft>
              <a:buClr>
                <a:srgbClr val="1F3A68"/>
              </a:buClr>
              <a:buFont typeface="Arial"/>
              <a:buChar char="•"/>
            </a:pPr>
            <a:r>
              <a:rPr sz="1200" b="0" i="0">
                <a:solidFill>
                  <a:srgbClr val="1E2430"/>
                </a:solidFill>
                <a:latin typeface="Calibri"/>
              </a:rPr>
              <a:t>More external cohorts with raw clinical preprocessing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Show member disagreement in the application; grade-aware ET post-processing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Calibration on larger held-out sets; DICOM input and physical volumes in the application</a:t>
            </a:r>
          </a:p>
        </p:txBody>
      </p:sp>
      <p:sp>
        <p:nvSpPr>
          <p:cNvPr id="19" name="Rectangle 18"/>
          <p:cNvSpPr/>
          <p:nvPr/>
        </p:nvSpPr>
        <p:spPr>
          <a:xfrm>
            <a:off x="7360920" y="4301744"/>
            <a:ext cx="4279392" cy="161950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25512" y="4466336"/>
            <a:ext cx="3950208" cy="12903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Recommendation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Deploy SegResNet (3D) and EfficientNetB0 (2D); use a second, different network to measure disagreement rather than to fuse</a:t>
            </a:r>
          </a:p>
          <a:p>
            <a:pPr algn="l" marL="182880" indent="-182880">
              <a:lnSpc>
                <a:spcPct val="100000"/>
              </a:lnSpc>
              <a:spcAft>
                <a:spcPts val="400"/>
              </a:spcAft>
              <a:buClr>
                <a:srgbClr val="1F3A68"/>
              </a:buClr>
              <a:buFont typeface="Arial"/>
              <a:buChar char="•"/>
            </a:pPr>
            <a:r>
              <a:rPr sz="1200" b="0" i="0">
                <a:solidFill>
                  <a:srgbClr val="1E2430"/>
                </a:solidFill>
                <a:latin typeface="Calibri"/>
              </a:rPr>
              <a:t>Validate externally before trusting an internal ranking: it changed on BraTS-Africa</a:t>
            </a:r>
          </a:p>
        </p:txBody>
      </p:sp>
    </p:spTree>
    <p:extLst>
      <p:ext uri="{BB962C8B-B14F-4D97-AF65-F5344CB8AC3E}">
        <p14:creationId xmlns:p14="http://schemas.microsoft.com/office/powerpoint/2010/main" val="1317498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1EE89F-6F96-DF9C-768A-8B2A7BEAD23D}"/>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Outcome Achieved</a:t>
            </a:r>
          </a:p>
        </p:txBody>
      </p:sp>
      <p:sp>
        <p:nvSpPr>
          <p:cNvPr id="4" name="Date Placeholder 3">
            <a:extLst>
              <a:ext uri="{FF2B5EF4-FFF2-40B4-BE49-F238E27FC236}">
                <a16:creationId xmlns:a16="http://schemas.microsoft.com/office/drawing/2014/main" xmlns="" id="{7F86E621-0A63-DDD2-60A0-511D9D7C817E}"/>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74966F66-9685-CC43-3B74-035A03CAF328}"/>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32234F7B-54B7-5C34-9356-A94BE39E215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13</a:t>
            </a:fld>
            <a:endParaRPr lang="en-IN"/>
          </a:p>
        </p:txBody>
      </p:sp>
      <p:sp>
        <p:nvSpPr>
          <p:cNvPr id="7" name="TextBox 6"/>
          <p:cNvSpPr txBox="1"/>
          <p:nvPr/>
        </p:nvSpPr>
        <p:spPr>
          <a:xfrm>
            <a:off x="548640" y="1234440"/>
            <a:ext cx="11091672" cy="312928"/>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Journal publication:</a:t>
            </a:r>
            <a:r>
              <a:rPr sz="1600" b="0" i="0">
                <a:solidFill>
                  <a:srgbClr val="1E2430"/>
                </a:solidFill>
                <a:latin typeface="Calibri"/>
              </a:rPr>
              <a:t> two manuscripts prepared for </a:t>
            </a:r>
            <a:r>
              <a:rPr sz="1600" b="0" i="1">
                <a:solidFill>
                  <a:srgbClr val="1E2430"/>
                </a:solidFill>
                <a:latin typeface="Calibri"/>
              </a:rPr>
              <a:t>Engineering Applications of Artificial Intelligence</a:t>
            </a:r>
            <a:r>
              <a:rPr sz="1600" b="0" i="0">
                <a:solidFill>
                  <a:srgbClr val="1E2430"/>
                </a:solidFill>
                <a:latin typeface="Calibri"/>
              </a:rPr>
              <a:t> (Elsevier, Scopus indexed)</a:t>
            </a:r>
          </a:p>
        </p:txBody>
      </p:sp>
      <p:sp>
        <p:nvSpPr>
          <p:cNvPr id="8" name="Rectangle 7"/>
          <p:cNvSpPr/>
          <p:nvPr/>
        </p:nvSpPr>
        <p:spPr>
          <a:xfrm>
            <a:off x="548640"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1</a:t>
            </a:r>
          </a:p>
          <a:p>
            <a:pPr algn="l">
              <a:lnSpc>
                <a:spcPct val="100000"/>
              </a:lnSpc>
              <a:spcAft>
                <a:spcPts val="600"/>
              </a:spcAft>
            </a:pPr>
            <a:r>
              <a:rPr sz="1300" b="1" i="0">
                <a:solidFill>
                  <a:srgbClr val="1E2430"/>
                </a:solidFill>
                <a:latin typeface="Calibri"/>
              </a:rPr>
              <a:t>“Brain Tumour Magnetic Resonance Image Classification with Perceptual-Hash Deduplication: A Comparative Study Using Advanced Deep Learning Models”</a:t>
            </a:r>
          </a:p>
          <a:p>
            <a:pPr algn="l">
              <a:lnSpc>
                <a:spcPct val="100000"/>
              </a:lnSpc>
              <a:spcAft>
                <a:spcPts val="600"/>
              </a:spcAft>
            </a:pPr>
            <a:r>
              <a:rPr sz="1200" b="0" i="0">
                <a:solidFill>
                  <a:srgbClr val="5B6472"/>
                </a:solidFill>
                <a:latin typeface="Calibri"/>
              </a:rPr>
              <a:t>P. Mital, V. Lawand, Biji C. L., M. A. Dar and G. P. Doss C.</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0" name="Rectangle 9"/>
          <p:cNvSpPr/>
          <p:nvPr/>
        </p:nvSpPr>
        <p:spPr>
          <a:xfrm>
            <a:off x="6208776"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2</a:t>
            </a:r>
          </a:p>
          <a:p>
            <a:pPr algn="l">
              <a:lnSpc>
                <a:spcPct val="100000"/>
              </a:lnSpc>
              <a:spcAft>
                <a:spcPts val="600"/>
              </a:spcAft>
            </a:pPr>
            <a:r>
              <a:rPr sz="1300" b="1" i="0">
                <a:solidFill>
                  <a:srgbClr val="1E2430"/>
                </a:solidFill>
                <a:latin typeface="Calibri"/>
              </a:rPr>
              <a:t>“Region-Adaptive CNN-Transformer Ensembles for Brain Tumour Segmentation with External Validation and Disagreement-Based Quality Control”</a:t>
            </a:r>
          </a:p>
          <a:p>
            <a:pPr algn="l">
              <a:lnSpc>
                <a:spcPct val="100000"/>
              </a:lnSpc>
              <a:spcAft>
                <a:spcPts val="600"/>
              </a:spcAft>
            </a:pPr>
            <a:r>
              <a:rPr sz="1200" b="0" i="0">
                <a:solidFill>
                  <a:srgbClr val="5B6472"/>
                </a:solidFill>
                <a:latin typeface="Calibri"/>
              </a:rPr>
              <a:t>P. Mital, V. Lawand and Biji C. L.</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2" name="Rectangle 11"/>
          <p:cNvSpPr/>
          <p:nvPr/>
        </p:nvSpPr>
        <p:spPr>
          <a:xfrm>
            <a:off x="548640" y="3796792"/>
            <a:ext cx="11091672" cy="130454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961383"/>
            <a:ext cx="10762488" cy="97535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Others</a:t>
            </a:r>
          </a:p>
          <a:p>
            <a:pPr algn="l" marL="182880" indent="-182880">
              <a:lnSpc>
                <a:spcPct val="100000"/>
              </a:lnSpc>
              <a:spcAft>
                <a:spcPts val="400"/>
              </a:spcAft>
              <a:buClr>
                <a:srgbClr val="1F3A68"/>
              </a:buClr>
              <a:buFont typeface="Arial"/>
              <a:buChar char="•"/>
            </a:pPr>
            <a:r>
              <a:rPr sz="1200" b="0" i="0">
                <a:solidFill>
                  <a:srgbClr val="1E2430"/>
                </a:solidFill>
                <a:latin typeface="Calibri"/>
              </a:rPr>
              <a:t>Open-source NeuroScan AI web application (TRL 4) with 64 backend and 39 frontend automated tests</a:t>
            </a:r>
          </a:p>
          <a:p>
            <a:pPr algn="l" marL="182880" indent="-182880">
              <a:lnSpc>
                <a:spcPct val="100000"/>
              </a:lnSpc>
              <a:spcAft>
                <a:spcPts val="400"/>
              </a:spcAft>
              <a:buClr>
                <a:srgbClr val="1F3A68"/>
              </a:buClr>
              <a:buFont typeface="Arial"/>
              <a:buChar char="•"/>
            </a:pPr>
            <a:r>
              <a:rPr sz="1200" b="0" i="0">
                <a:solidFill>
                  <a:srgbClr val="1E2430"/>
                </a:solidFill>
                <a:latin typeface="Calibri"/>
              </a:rPr>
              <a:t>Research notebooks with all outputs: splits, per-run metrics, plots and the trained checkpoints</a:t>
            </a:r>
          </a:p>
          <a:p>
            <a:pPr algn="l" marL="182880" indent="-182880">
              <a:lnSpc>
                <a:spcPct val="100000"/>
              </a:lnSpc>
              <a:spcAft>
                <a:spcPts val="400"/>
              </a:spcAft>
              <a:buClr>
                <a:srgbClr val="1F3A68"/>
              </a:buClr>
              <a:buFont typeface="Arial"/>
              <a:buChar char="•"/>
            </a:pPr>
            <a:r>
              <a:rPr sz="1200" b="0" i="0">
                <a:solidFill>
                  <a:srgbClr val="1E2430"/>
                </a:solidFill>
                <a:latin typeface="Calibri"/>
              </a:rPr>
              <a:t>Repository: https://github.com/parthmital/NeuroScan-AI</a:t>
            </a:r>
          </a:p>
        </p:txBody>
      </p:sp>
    </p:spTree>
    <p:extLst>
      <p:ext uri="{BB962C8B-B14F-4D97-AF65-F5344CB8AC3E}">
        <p14:creationId xmlns:p14="http://schemas.microsoft.com/office/powerpoint/2010/main" val="4071570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70E1A0-FA4A-8258-6E10-9F00EDC0BC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(1/3)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[1]	</a:t>
            </a:r>
            <a:r>
              <a:rPr sz="740" i="0">
                <a:solidFill>
                  <a:srgbClr val="1E2430"/>
                </a:solidFill>
                <a:latin typeface="Calibri"/>
              </a:rPr>
              <a:t>Q. T. Ostrom et al., “CBTRUS statistical report: Primary brain and other central nervous system tumors diagnosed in the United States in 2016–2020,” </a:t>
            </a:r>
            <a:r>
              <a:rPr sz="740" i="1">
                <a:solidFill>
                  <a:srgbClr val="1E2430"/>
                </a:solidFill>
                <a:latin typeface="Calibri"/>
              </a:rPr>
              <a:t>Neuro-Oncology</a:t>
            </a:r>
            <a:r>
              <a:rPr sz="740" i="0">
                <a:solidFill>
                  <a:srgbClr val="1E2430"/>
                </a:solidFill>
                <a:latin typeface="Calibri"/>
              </a:rPr>
              <a:t>, vol. 25, suppl. 4, pp. iv1–iv99, 2023.</a:t>
            </a:r>
          </a:p>
          <a:p>
            <a:pPr marL="274320" indent="-274320">
              <a:spcAft>
                <a:spcPts val="100"/>
              </a:spcAft>
            </a:pPr>
            <a:r>
              <a:rPr sz="740" i="0">
                <a:solidFill>
                  <a:srgbClr val="1E2430"/>
                </a:solidFill>
                <a:latin typeface="Calibri"/>
              </a:rPr>
              <a:t>[2]	</a:t>
            </a:r>
            <a:r>
              <a:rPr sz="740" i="0">
                <a:solidFill>
                  <a:srgbClr val="1E2430"/>
                </a:solidFill>
                <a:latin typeface="Calibri"/>
              </a:rPr>
              <a:t>S. Bakas et al., “Advancing The Cancer Genome Atlas glioma MRI collections with expert segmentation labels and radiomic features,” </a:t>
            </a:r>
            <a:r>
              <a:rPr sz="740" i="1">
                <a:solidFill>
                  <a:srgbClr val="1E2430"/>
                </a:solidFill>
                <a:latin typeface="Calibri"/>
              </a:rPr>
              <a:t>Scientific Data</a:t>
            </a:r>
            <a:r>
              <a:rPr sz="740" i="0">
                <a:solidFill>
                  <a:srgbClr val="1E2430"/>
                </a:solidFill>
                <a:latin typeface="Calibri"/>
              </a:rPr>
              <a:t>, vol. 4, Art. no. 170117, 2017.</a:t>
            </a:r>
          </a:p>
          <a:p>
            <a:pPr marL="274320" indent="-274320">
              <a:spcAft>
                <a:spcPts val="100"/>
              </a:spcAft>
            </a:pPr>
            <a:r>
              <a:rPr sz="740" i="0">
                <a:solidFill>
                  <a:srgbClr val="1E2430"/>
                </a:solidFill>
                <a:latin typeface="Calibri"/>
              </a:rPr>
              <a:t>[3]	</a:t>
            </a:r>
            <a:r>
              <a:rPr sz="740" i="0">
                <a:solidFill>
                  <a:srgbClr val="1E2430"/>
                </a:solidFill>
                <a:latin typeface="Calibri"/>
              </a:rPr>
              <a:t>J. E. Villanueva-Meyer, M. C. Mabray, and S. Cha, “Current clinical brain tumor imaging,” </a:t>
            </a:r>
            <a:r>
              <a:rPr sz="740" i="1">
                <a:solidFill>
                  <a:srgbClr val="1E2430"/>
                </a:solidFill>
                <a:latin typeface="Calibri"/>
              </a:rPr>
              <a:t>Neurosurgery</a:t>
            </a:r>
            <a:r>
              <a:rPr sz="740" i="0">
                <a:solidFill>
                  <a:srgbClr val="1E2430"/>
                </a:solidFill>
                <a:latin typeface="Calibri"/>
              </a:rPr>
              <a:t>, vol. 81, no. 3, pp. 397–415, 2017.</a:t>
            </a:r>
          </a:p>
          <a:p>
            <a:pPr marL="274320" indent="-274320">
              <a:spcAft>
                <a:spcPts val="100"/>
              </a:spcAft>
            </a:pPr>
            <a:r>
              <a:rPr sz="740" i="0">
                <a:solidFill>
                  <a:srgbClr val="1E2430"/>
                </a:solidFill>
                <a:latin typeface="Calibri"/>
              </a:rPr>
              <a:t>[4]	</a:t>
            </a:r>
            <a:r>
              <a:rPr sz="740" i="0">
                <a:solidFill>
                  <a:srgbClr val="1E2430"/>
                </a:solidFill>
                <a:latin typeface="Calibri"/>
              </a:rPr>
              <a:t>D. N. Louis et al., “The 2021 WHO classification of tumors of the central nervous system: A summary,” </a:t>
            </a:r>
            <a:r>
              <a:rPr sz="740" i="1">
                <a:solidFill>
                  <a:srgbClr val="1E2430"/>
                </a:solidFill>
                <a:latin typeface="Calibri"/>
              </a:rPr>
              <a:t>Neuro-Oncology</a:t>
            </a:r>
            <a:r>
              <a:rPr sz="740" i="0">
                <a:solidFill>
                  <a:srgbClr val="1E2430"/>
                </a:solidFill>
                <a:latin typeface="Calibri"/>
              </a:rPr>
              <a:t>, vol. 23, no. 8, pp. 1231–1251, 2021.</a:t>
            </a:r>
          </a:p>
          <a:p>
            <a:pPr marL="274320" indent="-274320">
              <a:spcAft>
                <a:spcPts val="100"/>
              </a:spcAft>
            </a:pPr>
            <a:r>
              <a:rPr sz="740" i="0">
                <a:solidFill>
                  <a:srgbClr val="1E2430"/>
                </a:solidFill>
                <a:latin typeface="Calibri"/>
              </a:rPr>
              <a:t>[5]	</a:t>
            </a:r>
            <a:r>
              <a:rPr sz="740" i="0">
                <a:solidFill>
                  <a:srgbClr val="1E2430"/>
                </a:solidFill>
                <a:latin typeface="Calibri"/>
              </a:rPr>
              <a:t>S. Bauer, R. Wiest, L.-P. Nolte, and M. Reyes, “A survey of MRI-based medical image analysis for brain tumor studies,” </a:t>
            </a:r>
            <a:r>
              <a:rPr sz="740" i="1">
                <a:solidFill>
                  <a:srgbClr val="1E2430"/>
                </a:solidFill>
                <a:latin typeface="Calibri"/>
              </a:rPr>
              <a:t>Physics in Medicine and Biology</a:t>
            </a:r>
            <a:r>
              <a:rPr sz="740" i="0">
                <a:solidFill>
                  <a:srgbClr val="1E2430"/>
                </a:solidFill>
                <a:latin typeface="Calibri"/>
              </a:rPr>
              <a:t>, vol. 58, no. 13, pp. R97–R129, 2013.</a:t>
            </a:r>
          </a:p>
          <a:p>
            <a:pPr marL="274320" indent="-274320">
              <a:spcAft>
                <a:spcPts val="100"/>
              </a:spcAft>
            </a:pPr>
            <a:r>
              <a:rPr sz="740" i="0">
                <a:solidFill>
                  <a:srgbClr val="1E2430"/>
                </a:solidFill>
                <a:latin typeface="Calibri"/>
              </a:rPr>
              <a:t>[6]	</a:t>
            </a:r>
            <a:r>
              <a:rPr sz="740" i="0">
                <a:solidFill>
                  <a:srgbClr val="1E2430"/>
                </a:solidFill>
                <a:latin typeface="Calibri"/>
              </a:rPr>
              <a:t>A. L. Beam and I. S. Kohane, “Big data and machine learning in health care,” </a:t>
            </a:r>
            <a:r>
              <a:rPr sz="740" i="1">
                <a:solidFill>
                  <a:srgbClr val="1E2430"/>
                </a:solidFill>
                <a:latin typeface="Calibri"/>
              </a:rPr>
              <a:t>JAMA</a:t>
            </a:r>
            <a:r>
              <a:rPr sz="740" i="0">
                <a:solidFill>
                  <a:srgbClr val="1E2430"/>
                </a:solidFill>
                <a:latin typeface="Calibri"/>
              </a:rPr>
              <a:t>, vol. 319, no. 13, pp. 1317–1318, 2018.</a:t>
            </a:r>
          </a:p>
          <a:p>
            <a:pPr marL="274320" indent="-274320">
              <a:spcAft>
                <a:spcPts val="100"/>
              </a:spcAft>
            </a:pPr>
            <a:r>
              <a:rPr sz="740" i="0">
                <a:solidFill>
                  <a:srgbClr val="1E2430"/>
                </a:solidFill>
                <a:latin typeface="Calibri"/>
              </a:rPr>
              <a:t>[7]	</a:t>
            </a:r>
            <a:r>
              <a:rPr sz="740" i="0">
                <a:solidFill>
                  <a:srgbClr val="1E2430"/>
                </a:solidFill>
                <a:latin typeface="Calibri"/>
              </a:rPr>
              <a:t>J. De Fauw et al., “Clinically applicable deep learning for diagnosis and referral in retinal disease,” </a:t>
            </a:r>
            <a:r>
              <a:rPr sz="740" i="1">
                <a:solidFill>
                  <a:srgbClr val="1E2430"/>
                </a:solidFill>
                <a:latin typeface="Calibri"/>
              </a:rPr>
              <a:t>Nature Medicine</a:t>
            </a:r>
            <a:r>
              <a:rPr sz="740" i="0">
                <a:solidFill>
                  <a:srgbClr val="1E2430"/>
                </a:solidFill>
                <a:latin typeface="Calibri"/>
              </a:rPr>
              <a:t>, vol. 24, no. 9, pp. 1342–1350, 2018.</a:t>
            </a:r>
          </a:p>
          <a:p>
            <a:pPr marL="274320" indent="-274320">
              <a:spcAft>
                <a:spcPts val="100"/>
              </a:spcAft>
            </a:pPr>
            <a:r>
              <a:rPr sz="740" i="0">
                <a:solidFill>
                  <a:srgbClr val="1E2430"/>
                </a:solidFill>
                <a:latin typeface="Calibri"/>
              </a:rPr>
              <a:t>[8]	</a:t>
            </a:r>
            <a:r>
              <a:rPr sz="740" i="0">
                <a:solidFill>
                  <a:srgbClr val="1E2430"/>
                </a:solidFill>
                <a:latin typeface="Calibri"/>
              </a:rPr>
              <a:t>S. Kapoor and A. Narayanan, “Leakage and the reproducibility crisis in machine-learning-based science,” </a:t>
            </a:r>
            <a:r>
              <a:rPr sz="740" i="1">
                <a:solidFill>
                  <a:srgbClr val="1E2430"/>
                </a:solidFill>
                <a:latin typeface="Calibri"/>
              </a:rPr>
              <a:t>Patterns</a:t>
            </a:r>
            <a:r>
              <a:rPr sz="740" i="0">
                <a:solidFill>
                  <a:srgbClr val="1E2430"/>
                </a:solidFill>
                <a:latin typeface="Calibri"/>
              </a:rPr>
              <a:t>, vol. 4, no. 9, Art. no. 100804, 2023.</a:t>
            </a:r>
          </a:p>
          <a:p>
            <a:pPr marL="274320" indent="-274320">
              <a:spcAft>
                <a:spcPts val="100"/>
              </a:spcAft>
            </a:pPr>
            <a:r>
              <a:rPr sz="740" i="0">
                <a:solidFill>
                  <a:srgbClr val="1E2430"/>
                </a:solidFill>
                <a:latin typeface="Calibri"/>
              </a:rPr>
              <a:t>[9]	</a:t>
            </a:r>
            <a:r>
              <a:rPr sz="740" i="0">
                <a:solidFill>
                  <a:srgbClr val="1E2430"/>
                </a:solidFill>
                <a:latin typeface="Calibri"/>
              </a:rPr>
              <a:t>M. Roberts et al., “Common pitfalls and recommendations for using machine learning to detect and prognosticate for COVID-19 using chest radiographs and CT scans,” </a:t>
            </a:r>
            <a:r>
              <a:rPr sz="740" i="1">
                <a:solidFill>
                  <a:srgbClr val="1E2430"/>
                </a:solidFill>
                <a:latin typeface="Calibri"/>
              </a:rPr>
              <a:t>Nature Machine Intelligence</a:t>
            </a:r>
            <a:r>
              <a:rPr sz="740" i="0">
                <a:solidFill>
                  <a:srgbClr val="1E2430"/>
                </a:solidFill>
                <a:latin typeface="Calibri"/>
              </a:rPr>
              <a:t>, vol. 3, no. 3, pp. 199–217, 2021.</a:t>
            </a:r>
          </a:p>
          <a:p>
            <a:pPr marL="274320" indent="-274320">
              <a:spcAft>
                <a:spcPts val="100"/>
              </a:spcAft>
            </a:pPr>
            <a:r>
              <a:rPr sz="740" i="0">
                <a:solidFill>
                  <a:srgbClr val="1E2430"/>
                </a:solidFill>
                <a:latin typeface="Calibri"/>
              </a:rPr>
              <a:t>[10]	</a:t>
            </a:r>
            <a:r>
              <a:rPr sz="740" i="0">
                <a:solidFill>
                  <a:srgbClr val="1E2430"/>
                </a:solidFill>
                <a:latin typeface="Calibri"/>
              </a:rPr>
              <a:t>M. Adewole et al., “The BraTS-Africa dataset: Expanding the brain tumor segmentation data to capture African populations,” </a:t>
            </a:r>
            <a:r>
              <a:rPr sz="740" i="1">
                <a:solidFill>
                  <a:srgbClr val="1E2430"/>
                </a:solidFill>
                <a:latin typeface="Calibri"/>
              </a:rPr>
              <a:t>Radiology: Artificial Intelligence</a:t>
            </a:r>
            <a:r>
              <a:rPr sz="740" i="0">
                <a:solidFill>
                  <a:srgbClr val="1E2430"/>
                </a:solidFill>
                <a:latin typeface="Calibri"/>
              </a:rPr>
              <a:t>, vol. 7, no. 4, Art. no. e240528, 2025.</a:t>
            </a:r>
          </a:p>
          <a:p>
            <a:pPr marL="274320" indent="-274320">
              <a:spcAft>
                <a:spcPts val="100"/>
              </a:spcAft>
            </a:pPr>
            <a:r>
              <a:rPr sz="740" i="0">
                <a:solidFill>
                  <a:srgbClr val="1E2430"/>
                </a:solidFill>
                <a:latin typeface="Calibri"/>
              </a:rPr>
              <a:t>[11]	</a:t>
            </a:r>
            <a:r>
              <a:rPr sz="740" i="0">
                <a:solidFill>
                  <a:srgbClr val="1E2430"/>
                </a:solidFill>
                <a:latin typeface="Calibri"/>
              </a:rPr>
              <a:t>F. Isensee, P. F. Jaeger, S. A. A. Kohl, J. Petersen, and K. H. Maier-Hein, “nnU-Net: A self-configuring method for deep learning-based biomedical image segmentation,” </a:t>
            </a:r>
            <a:r>
              <a:rPr sz="740" i="1">
                <a:solidFill>
                  <a:srgbClr val="1E2430"/>
                </a:solidFill>
                <a:latin typeface="Calibri"/>
              </a:rPr>
              <a:t>Nature Methods</a:t>
            </a:r>
            <a:r>
              <a:rPr sz="740" i="0">
                <a:solidFill>
                  <a:srgbClr val="1E2430"/>
                </a:solidFill>
                <a:latin typeface="Calibri"/>
              </a:rPr>
              <a:t>, vol. 18, no. 2, pp. 203–211, 2021.</a:t>
            </a:r>
          </a:p>
          <a:p>
            <a:pPr marL="274320" indent="-274320">
              <a:spcAft>
                <a:spcPts val="100"/>
              </a:spcAft>
            </a:pPr>
            <a:r>
              <a:rPr sz="740" i="0">
                <a:solidFill>
                  <a:srgbClr val="1E2430"/>
                </a:solidFill>
                <a:latin typeface="Calibri"/>
              </a:rPr>
              <a:t>[12]	</a:t>
            </a:r>
            <a:r>
              <a:rPr sz="740" i="0">
                <a:solidFill>
                  <a:srgbClr val="1E2430"/>
                </a:solidFill>
                <a:latin typeface="Calibri"/>
              </a:rPr>
              <a:t>A. Myronenko, “3D MRI brain tumor segmentation using autoencoder regularization,” in </a:t>
            </a:r>
            <a:r>
              <a:rPr sz="740" i="1">
                <a:solidFill>
                  <a:srgbClr val="1E2430"/>
                </a:solidFill>
                <a:latin typeface="Calibri"/>
              </a:rPr>
              <a:t>Brainlesion: Glioma, Multiple Sclerosis, Stroke and Traumatic Brain Injuries (BrainLes 2018)</a:t>
            </a:r>
            <a:r>
              <a:rPr sz="740" i="0">
                <a:solidFill>
                  <a:srgbClr val="1E2430"/>
                </a:solidFill>
                <a:latin typeface="Calibri"/>
              </a:rPr>
              <a:t>, 2019, pp. 311–320.</a:t>
            </a:r>
          </a:p>
          <a:p>
            <a:pPr marL="274320" indent="-274320">
              <a:spcAft>
                <a:spcPts val="100"/>
              </a:spcAft>
            </a:pPr>
            <a:r>
              <a:rPr sz="740" i="0">
                <a:solidFill>
                  <a:srgbClr val="1E2430"/>
                </a:solidFill>
                <a:latin typeface="Calibri"/>
              </a:rPr>
              <a:t>[13]	</a:t>
            </a:r>
            <a:r>
              <a:rPr sz="740" i="0">
                <a:solidFill>
                  <a:srgbClr val="1E2430"/>
                </a:solidFill>
                <a:latin typeface="Calibri"/>
              </a:rPr>
              <a:t>Y. He, V. Nath, D. Yang, Y. Tang, A. Myronenko, and D. Xu, “SwinUNETR-V2: Stronger Swin transformers with stagewise convolutions for 3D medical image segmentation,” in </a:t>
            </a:r>
            <a:r>
              <a:rPr sz="740" i="1">
                <a:solidFill>
                  <a:srgbClr val="1E2430"/>
                </a:solidFill>
                <a:latin typeface="Calibri"/>
              </a:rPr>
              <a:t>Medical Image Computing and Computer Assisted Intervention (MICCAI 2023)</a:t>
            </a:r>
            <a:r>
              <a:rPr sz="740" i="0">
                <a:solidFill>
                  <a:srgbClr val="1E2430"/>
                </a:solidFill>
                <a:latin typeface="Calibri"/>
              </a:rPr>
              <a:t>, 2023, pp. 416–426.</a:t>
            </a:r>
          </a:p>
          <a:p>
            <a:pPr marL="274320" indent="-274320">
              <a:spcAft>
                <a:spcPts val="100"/>
              </a:spcAft>
            </a:pPr>
            <a:r>
              <a:rPr sz="740" i="0">
                <a:solidFill>
                  <a:srgbClr val="1E2430"/>
                </a:solidFill>
                <a:latin typeface="Calibri"/>
              </a:rPr>
              <a:t>[14]	</a:t>
            </a:r>
            <a:r>
              <a:rPr sz="740" i="0">
                <a:solidFill>
                  <a:srgbClr val="1E2430"/>
                </a:solidFill>
                <a:latin typeface="Calibri"/>
              </a:rPr>
              <a:t>N. Gordillo, E. Montseny, and P. Sobrevilla, “State of the art survey on MRI brain tumor segmentation,” </a:t>
            </a:r>
            <a:r>
              <a:rPr sz="740" i="1">
                <a:solidFill>
                  <a:srgbClr val="1E2430"/>
                </a:solidFill>
                <a:latin typeface="Calibri"/>
              </a:rPr>
              <a:t>Magnetic Resonance Imaging</a:t>
            </a:r>
            <a:r>
              <a:rPr sz="740" i="0">
                <a:solidFill>
                  <a:srgbClr val="1E2430"/>
                </a:solidFill>
                <a:latin typeface="Calibri"/>
              </a:rPr>
              <a:t>, vol. 31, no. 8, pp. 1426–1438, 2013.</a:t>
            </a:r>
          </a:p>
          <a:p>
            <a:pPr marL="274320" indent="-274320">
              <a:spcAft>
                <a:spcPts val="100"/>
              </a:spcAft>
            </a:pPr>
            <a:r>
              <a:rPr sz="740" i="0">
                <a:solidFill>
                  <a:srgbClr val="1E2430"/>
                </a:solidFill>
                <a:latin typeface="Calibri"/>
              </a:rPr>
              <a:t>[15]	</a:t>
            </a:r>
            <a:r>
              <a:rPr sz="740" i="0">
                <a:solidFill>
                  <a:srgbClr val="1E2430"/>
                </a:solidFill>
                <a:latin typeface="Calibri"/>
              </a:rPr>
              <a:t>E. I. Zacharaki et al., “Classification of brain tumor type and grade using MRI texture and shape in a machine learning scheme,” </a:t>
            </a:r>
            <a:r>
              <a:rPr sz="740" i="1">
                <a:solidFill>
                  <a:srgbClr val="1E2430"/>
                </a:solidFill>
                <a:latin typeface="Calibri"/>
              </a:rPr>
              <a:t>Magnetic Resonance in Medicine</a:t>
            </a:r>
            <a:r>
              <a:rPr sz="740" i="0">
                <a:solidFill>
                  <a:srgbClr val="1E2430"/>
                </a:solidFill>
                <a:latin typeface="Calibri"/>
              </a:rPr>
              <a:t>, vol. 62, no. 6, pp. 1609–1618, 2009.</a:t>
            </a:r>
          </a:p>
          <a:p>
            <a:pPr marL="274320" indent="-274320">
              <a:spcAft>
                <a:spcPts val="100"/>
              </a:spcAft>
            </a:pPr>
            <a:r>
              <a:rPr sz="740" i="0">
                <a:solidFill>
                  <a:srgbClr val="1E2430"/>
                </a:solidFill>
                <a:latin typeface="Calibri"/>
              </a:rPr>
              <a:t>[16]	</a:t>
            </a:r>
            <a:r>
              <a:rPr sz="740" i="0">
                <a:solidFill>
                  <a:srgbClr val="1E2430"/>
                </a:solidFill>
                <a:latin typeface="Calibri"/>
              </a:rPr>
              <a:t>J. Cheng et al., “Enhanced performance of brain tumor classification via tumor region augmentation and partition,” </a:t>
            </a:r>
            <a:r>
              <a:rPr sz="740" i="1">
                <a:solidFill>
                  <a:srgbClr val="1E2430"/>
                </a:solidFill>
                <a:latin typeface="Calibri"/>
              </a:rPr>
              <a:t>PLoS ONE</a:t>
            </a:r>
            <a:r>
              <a:rPr sz="740" i="0">
                <a:solidFill>
                  <a:srgbClr val="1E2430"/>
                </a:solidFill>
                <a:latin typeface="Calibri"/>
              </a:rPr>
              <a:t>, vol. 10, no. 10, Art. no. e0140381, 2015.</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[17]	</a:t>
            </a:r>
            <a:r>
              <a:rPr sz="740" i="0">
                <a:solidFill>
                  <a:srgbClr val="1E2430"/>
                </a:solidFill>
                <a:latin typeface="Calibri"/>
              </a:rPr>
              <a:t>J. Seetha and S. S. Raja, “Brain tumor classification using convolutional neural networks,” </a:t>
            </a:r>
            <a:r>
              <a:rPr sz="740" i="1">
                <a:solidFill>
                  <a:srgbClr val="1E2430"/>
                </a:solidFill>
                <a:latin typeface="Calibri"/>
              </a:rPr>
              <a:t>Biomedical and Pharmacology Journal</a:t>
            </a:r>
            <a:r>
              <a:rPr sz="740" i="0">
                <a:solidFill>
                  <a:srgbClr val="1E2430"/>
                </a:solidFill>
                <a:latin typeface="Calibri"/>
              </a:rPr>
              <a:t>, vol. 11, no. 3, pp. 1457–1461, 2018.</a:t>
            </a:r>
          </a:p>
          <a:p>
            <a:pPr marL="274320" indent="-274320">
              <a:spcAft>
                <a:spcPts val="100"/>
              </a:spcAft>
            </a:pPr>
            <a:r>
              <a:rPr sz="740" i="0">
                <a:solidFill>
                  <a:srgbClr val="1E2430"/>
                </a:solidFill>
                <a:latin typeface="Calibri"/>
              </a:rPr>
              <a:t>[18]	</a:t>
            </a:r>
            <a:r>
              <a:rPr sz="740" i="0">
                <a:solidFill>
                  <a:srgbClr val="1E2430"/>
                </a:solidFill>
                <a:latin typeface="Calibri"/>
              </a:rPr>
              <a:t>M. Talo, U. B. Baloglu, Ö. Yıldırım, and U. R. Acharya, “Application of deep transfer learning for automated brain abnormality classification using MR images,” </a:t>
            </a:r>
            <a:r>
              <a:rPr sz="740" i="1">
                <a:solidFill>
                  <a:srgbClr val="1E2430"/>
                </a:solidFill>
                <a:latin typeface="Calibri"/>
              </a:rPr>
              <a:t>Cognitive Systems Research</a:t>
            </a:r>
            <a:r>
              <a:rPr sz="740" i="0">
                <a:solidFill>
                  <a:srgbClr val="1E2430"/>
                </a:solidFill>
                <a:latin typeface="Calibri"/>
              </a:rPr>
              <a:t>, vol. 54, pp. 176–188, 2019.</a:t>
            </a:r>
          </a:p>
          <a:p>
            <a:pPr marL="274320" indent="-274320">
              <a:spcAft>
                <a:spcPts val="100"/>
              </a:spcAft>
            </a:pPr>
            <a:r>
              <a:rPr sz="740" i="0">
                <a:solidFill>
                  <a:srgbClr val="1E2430"/>
                </a:solidFill>
                <a:latin typeface="Calibri"/>
              </a:rPr>
              <a:t>[19]	</a:t>
            </a:r>
            <a:r>
              <a:rPr sz="740" i="0">
                <a:solidFill>
                  <a:srgbClr val="1E2430"/>
                </a:solidFill>
                <a:latin typeface="Calibri"/>
              </a:rPr>
              <a:t>S. Deepak and P. M. Ameer, “Brain tumor classification using deep CNN features via transfer learning,” </a:t>
            </a:r>
            <a:r>
              <a:rPr sz="740" i="1">
                <a:solidFill>
                  <a:srgbClr val="1E2430"/>
                </a:solidFill>
                <a:latin typeface="Calibri"/>
              </a:rPr>
              <a:t>Computers in Biology and Medicine</a:t>
            </a:r>
            <a:r>
              <a:rPr sz="740" i="0">
                <a:solidFill>
                  <a:srgbClr val="1E2430"/>
                </a:solidFill>
                <a:latin typeface="Calibri"/>
              </a:rPr>
              <a:t>, vol. 111, Art. no. 103345, 2019.</a:t>
            </a:r>
          </a:p>
          <a:p>
            <a:pPr marL="274320" indent="-274320">
              <a:spcAft>
                <a:spcPts val="100"/>
              </a:spcAft>
            </a:pPr>
            <a:r>
              <a:rPr sz="740" i="0">
                <a:solidFill>
                  <a:srgbClr val="1E2430"/>
                </a:solidFill>
                <a:latin typeface="Calibri"/>
              </a:rPr>
              <a:t>[20]	</a:t>
            </a:r>
            <a:r>
              <a:rPr sz="740" i="0">
                <a:solidFill>
                  <a:srgbClr val="1E2430"/>
                </a:solidFill>
                <a:latin typeface="Calibri"/>
              </a:rPr>
              <a:t>N. Ghassemi, A. Shoeibi, and M. Rouhani, “Deep neural network with generative adversarial networks pre-training for brain tumor classification based on MR images,” </a:t>
            </a:r>
            <a:r>
              <a:rPr sz="740" i="1">
                <a:solidFill>
                  <a:srgbClr val="1E2430"/>
                </a:solidFill>
                <a:latin typeface="Calibri"/>
              </a:rPr>
              <a:t>Biomedical Signal Processing and Control</a:t>
            </a:r>
            <a:r>
              <a:rPr sz="740" i="0">
                <a:solidFill>
                  <a:srgbClr val="1E2430"/>
                </a:solidFill>
                <a:latin typeface="Calibri"/>
              </a:rPr>
              <a:t>, vol. 57, Art. no. 101678, 2020.</a:t>
            </a:r>
          </a:p>
          <a:p>
            <a:pPr marL="274320" indent="-274320">
              <a:spcAft>
                <a:spcPts val="100"/>
              </a:spcAft>
            </a:pPr>
            <a:r>
              <a:rPr sz="740" i="0">
                <a:solidFill>
                  <a:srgbClr val="1E2430"/>
                </a:solidFill>
                <a:latin typeface="Calibri"/>
              </a:rPr>
              <a:t>[21]	</a:t>
            </a:r>
            <a:r>
              <a:rPr sz="740" i="0">
                <a:solidFill>
                  <a:srgbClr val="1E2430"/>
                </a:solidFill>
                <a:latin typeface="Calibri"/>
              </a:rPr>
              <a:t>A. Rehman, S. Naz, M. I. Razzak, F. Akram, and M. Imran, “A deep learning-based framework for automatic brain tumors classification using transfer learning,” </a:t>
            </a:r>
            <a:r>
              <a:rPr sz="740" i="1">
                <a:solidFill>
                  <a:srgbClr val="1E2430"/>
                </a:solidFill>
                <a:latin typeface="Calibri"/>
              </a:rPr>
              <a:t>Circuits, Systems, and Signal Processing</a:t>
            </a:r>
            <a:r>
              <a:rPr sz="740" i="0">
                <a:solidFill>
                  <a:srgbClr val="1E2430"/>
                </a:solidFill>
                <a:latin typeface="Calibri"/>
              </a:rPr>
              <a:t>, vol. 39, no. 2, pp. 757–775, 2020.</a:t>
            </a:r>
          </a:p>
          <a:p>
            <a:pPr marL="274320" indent="-274320">
              <a:spcAft>
                <a:spcPts val="100"/>
              </a:spcAft>
            </a:pPr>
            <a:r>
              <a:rPr sz="740" i="0">
                <a:solidFill>
                  <a:srgbClr val="1E2430"/>
                </a:solidFill>
                <a:latin typeface="Calibri"/>
              </a:rPr>
              <a:t>[22]	</a:t>
            </a:r>
            <a:r>
              <a:rPr sz="740" i="0">
                <a:solidFill>
                  <a:srgbClr val="1E2430"/>
                </a:solidFill>
                <a:latin typeface="Calibri"/>
              </a:rPr>
              <a:t>N. Noreen, S. Palaniappan, A. Qayyum, I. Ahmad, M. Imran, and M. Shoaib, “A deep learning model based on concatenation approach for the diagnosis of brain tumor,” </a:t>
            </a:r>
            <a:r>
              <a:rPr sz="740" i="1">
                <a:solidFill>
                  <a:srgbClr val="1E2430"/>
                </a:solidFill>
                <a:latin typeface="Calibri"/>
              </a:rPr>
              <a:t>IEEE Access</a:t>
            </a:r>
            <a:r>
              <a:rPr sz="740" i="0">
                <a:solidFill>
                  <a:srgbClr val="1E2430"/>
                </a:solidFill>
                <a:latin typeface="Calibri"/>
              </a:rPr>
              <a:t>, vol. 8, pp. 55135–55144, 2020.</a:t>
            </a:r>
          </a:p>
          <a:p>
            <a:pPr marL="274320" indent="-274320">
              <a:spcAft>
                <a:spcPts val="100"/>
              </a:spcAft>
            </a:pPr>
            <a:r>
              <a:rPr sz="740" i="0">
                <a:solidFill>
                  <a:srgbClr val="1E2430"/>
                </a:solidFill>
                <a:latin typeface="Calibri"/>
              </a:rPr>
              <a:t>[23]	</a:t>
            </a:r>
            <a:r>
              <a:rPr sz="740" i="0">
                <a:solidFill>
                  <a:srgbClr val="1E2430"/>
                </a:solidFill>
                <a:latin typeface="Calibri"/>
              </a:rPr>
              <a:t>M. A. Khan et al., “Multimodal brain tumor classification using deep learning and robust feature selection: A machine learning application for radiologists,” </a:t>
            </a:r>
            <a:r>
              <a:rPr sz="740" i="1">
                <a:solidFill>
                  <a:srgbClr val="1E2430"/>
                </a:solidFill>
                <a:latin typeface="Calibri"/>
              </a:rPr>
              <a:t>Diagnostics</a:t>
            </a:r>
            <a:r>
              <a:rPr sz="740" i="0">
                <a:solidFill>
                  <a:srgbClr val="1E2430"/>
                </a:solidFill>
                <a:latin typeface="Calibri"/>
              </a:rPr>
              <a:t>, vol. 10, no. 8, Art. no. 565, 2020.</a:t>
            </a:r>
          </a:p>
          <a:p>
            <a:pPr marL="274320" indent="-274320">
              <a:spcAft>
                <a:spcPts val="100"/>
              </a:spcAft>
            </a:pPr>
            <a:r>
              <a:rPr sz="740" i="0">
                <a:solidFill>
                  <a:srgbClr val="1E2430"/>
                </a:solidFill>
                <a:latin typeface="Calibri"/>
              </a:rPr>
              <a:t>[24]	</a:t>
            </a:r>
            <a:r>
              <a:rPr sz="740" i="0">
                <a:solidFill>
                  <a:srgbClr val="1E2430"/>
                </a:solidFill>
                <a:latin typeface="Calibri"/>
              </a:rPr>
              <a:t>S. Tummala, S. Kadry, S. A. C. Bukhari, and H. T. Rauf, “Classification of brain tumor from magnetic resonance imaging using vision transformers ensembling,” </a:t>
            </a:r>
            <a:r>
              <a:rPr sz="740" i="1">
                <a:solidFill>
                  <a:srgbClr val="1E2430"/>
                </a:solidFill>
                <a:latin typeface="Calibri"/>
              </a:rPr>
              <a:t>Current Oncology</a:t>
            </a:r>
            <a:r>
              <a:rPr sz="740" i="0">
                <a:solidFill>
                  <a:srgbClr val="1E2430"/>
                </a:solidFill>
                <a:latin typeface="Calibri"/>
              </a:rPr>
              <a:t>, vol. 29, no. 10, pp. 7498–7511, 2022.</a:t>
            </a:r>
          </a:p>
          <a:p>
            <a:pPr marL="274320" indent="-274320">
              <a:spcAft>
                <a:spcPts val="100"/>
              </a:spcAft>
            </a:pPr>
            <a:r>
              <a:rPr sz="740" i="0">
                <a:solidFill>
                  <a:srgbClr val="1E2430"/>
                </a:solidFill>
                <a:latin typeface="Calibri"/>
              </a:rPr>
              <a:t>[25]	</a:t>
            </a:r>
            <a:r>
              <a:rPr sz="740" i="0">
                <a:solidFill>
                  <a:srgbClr val="1E2430"/>
                </a:solidFill>
                <a:latin typeface="Calibri"/>
              </a:rPr>
              <a:t>A. A. Asiri et al., “Advancing brain tumor detection: Harnessing the Swin Transformer's power for accurate classification and performance analysis,” </a:t>
            </a:r>
            <a:r>
              <a:rPr sz="740" i="1">
                <a:solidFill>
                  <a:srgbClr val="1E2430"/>
                </a:solidFill>
                <a:latin typeface="Calibri"/>
              </a:rPr>
              <a:t>PeerJ Computer Science</a:t>
            </a:r>
            <a:r>
              <a:rPr sz="740" i="0">
                <a:solidFill>
                  <a:srgbClr val="1E2430"/>
                </a:solidFill>
                <a:latin typeface="Calibri"/>
              </a:rPr>
              <a:t>, vol. 10, Art. no. e1867, 2024.</a:t>
            </a:r>
          </a:p>
          <a:p>
            <a:pPr marL="274320" indent="-274320">
              <a:spcAft>
                <a:spcPts val="100"/>
              </a:spcAft>
            </a:pPr>
            <a:r>
              <a:rPr sz="740" i="0">
                <a:solidFill>
                  <a:srgbClr val="1E2430"/>
                </a:solidFill>
                <a:latin typeface="Calibri"/>
              </a:rPr>
              <a:t>[26]	</a:t>
            </a:r>
            <a:r>
              <a:rPr sz="740" i="0">
                <a:solidFill>
                  <a:srgbClr val="1E2430"/>
                </a:solidFill>
                <a:latin typeface="Calibri"/>
              </a:rPr>
              <a:t>Y. LeCun, L. Bottou, Y. Bengio, and P. Haffner, “Gradient-based learning applied to document recognition,” </a:t>
            </a:r>
            <a:r>
              <a:rPr sz="740" i="1">
                <a:solidFill>
                  <a:srgbClr val="1E2430"/>
                </a:solidFill>
                <a:latin typeface="Calibri"/>
              </a:rPr>
              <a:t>Proceedings of the IEEE</a:t>
            </a:r>
            <a:r>
              <a:rPr sz="740" i="0">
                <a:solidFill>
                  <a:srgbClr val="1E2430"/>
                </a:solidFill>
                <a:latin typeface="Calibri"/>
              </a:rPr>
              <a:t>, vol. 86, no. 11, pp. 2278–2324, 1998.</a:t>
            </a:r>
          </a:p>
          <a:p>
            <a:pPr marL="274320" indent="-274320">
              <a:spcAft>
                <a:spcPts val="100"/>
              </a:spcAft>
            </a:pPr>
            <a:r>
              <a:rPr sz="740" i="0">
                <a:solidFill>
                  <a:srgbClr val="1E2430"/>
                </a:solidFill>
                <a:latin typeface="Calibri"/>
              </a:rPr>
              <a:t>[27]	</a:t>
            </a:r>
            <a:r>
              <a:rPr sz="740" i="0">
                <a:solidFill>
                  <a:srgbClr val="1E2430"/>
                </a:solidFill>
                <a:latin typeface="Calibri"/>
              </a:rPr>
              <a:t>Y. LeCun, Y. Bengio, and G. Hinton, “Deep learning,” </a:t>
            </a:r>
            <a:r>
              <a:rPr sz="740" i="1">
                <a:solidFill>
                  <a:srgbClr val="1E2430"/>
                </a:solidFill>
                <a:latin typeface="Calibri"/>
              </a:rPr>
              <a:t>Nature</a:t>
            </a:r>
            <a:r>
              <a:rPr sz="740" i="0">
                <a:solidFill>
                  <a:srgbClr val="1E2430"/>
                </a:solidFill>
                <a:latin typeface="Calibri"/>
              </a:rPr>
              <a:t>, vol. 521, no. 7553, pp. 436–444, 2015.</a:t>
            </a:r>
          </a:p>
          <a:p>
            <a:pPr marL="274320" indent="-274320">
              <a:spcAft>
                <a:spcPts val="100"/>
              </a:spcAft>
            </a:pPr>
            <a:r>
              <a:rPr sz="740" i="0">
                <a:solidFill>
                  <a:srgbClr val="1E2430"/>
                </a:solidFill>
                <a:latin typeface="Calibri"/>
              </a:rPr>
              <a:t>[28]	</a:t>
            </a:r>
            <a:r>
              <a:rPr sz="740" i="0">
                <a:solidFill>
                  <a:srgbClr val="1E2430"/>
                </a:solidFill>
                <a:latin typeface="Calibri"/>
              </a:rPr>
              <a:t>A. Krizhevsky, I. Sutskever, and G. E. Hinton, “ImageNet classification with deep convolutional neural networks,” </a:t>
            </a:r>
            <a:r>
              <a:rPr sz="740" i="1">
                <a:solidFill>
                  <a:srgbClr val="1E2430"/>
                </a:solidFill>
                <a:latin typeface="Calibri"/>
              </a:rPr>
              <a:t>Communications of the ACM</a:t>
            </a:r>
            <a:r>
              <a:rPr sz="740" i="0">
                <a:solidFill>
                  <a:srgbClr val="1E2430"/>
                </a:solidFill>
                <a:latin typeface="Calibri"/>
              </a:rPr>
              <a:t>, vol. 60, no. 6, pp. 84–90, 2017.</a:t>
            </a:r>
          </a:p>
          <a:p>
            <a:pPr marL="274320" indent="-274320">
              <a:spcAft>
                <a:spcPts val="100"/>
              </a:spcAft>
            </a:pPr>
            <a:r>
              <a:rPr sz="740" i="0">
                <a:solidFill>
                  <a:srgbClr val="1E2430"/>
                </a:solidFill>
                <a:latin typeface="Calibri"/>
              </a:rPr>
              <a:t>[29]	</a:t>
            </a:r>
            <a:r>
              <a:rPr sz="740" i="0">
                <a:solidFill>
                  <a:srgbClr val="1E2430"/>
                </a:solidFill>
                <a:latin typeface="Calibri"/>
              </a:rPr>
              <a:t>J. Deng, W. Dong, R. Socher, L.-J. Li, K. Li, and L. Fei-Fei, “ImageNet: A large-scale hierarchical image database,” in </a:t>
            </a:r>
            <a:r>
              <a:rPr sz="740" i="1">
                <a:solidFill>
                  <a:srgbClr val="1E2430"/>
                </a:solidFill>
                <a:latin typeface="Calibri"/>
              </a:rPr>
              <a:t>Proc. IEEE Conference on Computer Vision and Pattern Recognition (CVPR)</a:t>
            </a:r>
            <a:r>
              <a:rPr sz="740" i="0">
                <a:solidFill>
                  <a:srgbClr val="1E2430"/>
                </a:solidFill>
                <a:latin typeface="Calibri"/>
              </a:rPr>
              <a:t>, 2009, pp. 248–255.</a:t>
            </a:r>
          </a:p>
          <a:p>
            <a:pPr marL="274320" indent="-274320">
              <a:spcAft>
                <a:spcPts val="100"/>
              </a:spcAft>
            </a:pPr>
            <a:r>
              <a:rPr sz="740" i="0">
                <a:solidFill>
                  <a:srgbClr val="1E2430"/>
                </a:solidFill>
                <a:latin typeface="Calibri"/>
              </a:rPr>
              <a:t>[30]	</a:t>
            </a:r>
            <a:r>
              <a:rPr sz="740" i="0">
                <a:solidFill>
                  <a:srgbClr val="1E2430"/>
                </a:solidFill>
                <a:latin typeface="Calibri"/>
              </a:rPr>
              <a:t>O. Russakovsky et al., “ImageNet large scale visual recognition challenge,” </a:t>
            </a:r>
            <a:r>
              <a:rPr sz="740" i="1">
                <a:solidFill>
                  <a:srgbClr val="1E2430"/>
                </a:solidFill>
                <a:latin typeface="Calibri"/>
              </a:rPr>
              <a:t>International Journal of Computer Vision</a:t>
            </a:r>
            <a:r>
              <a:rPr sz="740" i="0">
                <a:solidFill>
                  <a:srgbClr val="1E2430"/>
                </a:solidFill>
                <a:latin typeface="Calibri"/>
              </a:rPr>
              <a:t>, vol. 115, no. 3, pp. 211–252, 2015.</a:t>
            </a:r>
          </a:p>
          <a:p>
            <a:pPr marL="274320" indent="-274320">
              <a:spcAft>
                <a:spcPts val="100"/>
              </a:spcAft>
            </a:pPr>
            <a:r>
              <a:rPr sz="740" i="0">
                <a:solidFill>
                  <a:srgbClr val="1E2430"/>
                </a:solidFill>
                <a:latin typeface="Calibri"/>
              </a:rPr>
              <a:t>[31]	</a:t>
            </a:r>
            <a:r>
              <a:rPr sz="740" i="0">
                <a:solidFill>
                  <a:srgbClr val="1E2430"/>
                </a:solidFill>
                <a:latin typeface="Calibri"/>
              </a:rPr>
              <a:t>K. Simonyan and A. Zisserman, “Very deep convolutional networks for large-scale image recognition,” in </a:t>
            </a:r>
            <a:r>
              <a:rPr sz="740" i="1">
                <a:solidFill>
                  <a:srgbClr val="1E2430"/>
                </a:solidFill>
                <a:latin typeface="Calibri"/>
              </a:rPr>
              <a:t>Proc. International Conference on Learning Representations (ICLR)</a:t>
            </a:r>
            <a:r>
              <a:rPr sz="740" i="0">
                <a:solidFill>
                  <a:srgbClr val="1E2430"/>
                </a:solidFill>
                <a:latin typeface="Calibri"/>
              </a:rPr>
              <a:t>, 2015.</a:t>
            </a:r>
          </a:p>
          <a:p>
            <a:pPr marL="274320" indent="-274320">
              <a:spcAft>
                <a:spcPts val="100"/>
              </a:spcAft>
            </a:pPr>
            <a:r>
              <a:rPr sz="740" i="0">
                <a:solidFill>
                  <a:srgbClr val="1E2430"/>
                </a:solidFill>
                <a:latin typeface="Calibri"/>
              </a:rPr>
              <a:t>[32]	</a:t>
            </a:r>
            <a:r>
              <a:rPr sz="740" i="0">
                <a:solidFill>
                  <a:srgbClr val="1E2430"/>
                </a:solidFill>
                <a:latin typeface="Calibri"/>
              </a:rPr>
              <a:t>C. Szegedy, V. Vanhoucke, S. Ioffe, J. Shlens, and Z. Wojna, “Rethinking the inception architecture for computer vision,” in </a:t>
            </a:r>
            <a:r>
              <a:rPr sz="740" i="1">
                <a:solidFill>
                  <a:srgbClr val="1E2430"/>
                </a:solidFill>
                <a:latin typeface="Calibri"/>
              </a:rPr>
              <a:t>Proc. IEEE Conference on Computer Vision and Pattern Recognition (CVPR)</a:t>
            </a:r>
            <a:r>
              <a:rPr sz="740" i="0">
                <a:solidFill>
                  <a:srgbClr val="1E2430"/>
                </a:solidFill>
                <a:latin typeface="Calibri"/>
              </a:rPr>
              <a:t>, 2016, pp. 2818–2826.</a:t>
            </a:r>
          </a:p>
        </p:txBody>
      </p:sp>
    </p:spTree>
    <p:extLst>
      <p:ext uri="{BB962C8B-B14F-4D97-AF65-F5344CB8AC3E}">
        <p14:creationId xmlns:p14="http://schemas.microsoft.com/office/powerpoint/2010/main" val="3510526248"/>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Backbones, Training and Evaluation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Table 7"/>
          <p:cNvGraphicFramePr>
            <a:graphicFrameLocks noGrp="1"/>
          </p:cNvGraphicFramePr>
          <p:nvPr/>
        </p:nvGraphicFramePr>
        <p:xfrm>
          <a:off x="548640" y="1234440"/>
          <a:ext cx="6720840" cy="3108960"/>
        </p:xfrm>
        <a:graphic>
          <a:graphicData uri="http://schemas.openxmlformats.org/drawingml/2006/table">
            <a:tbl>
              <a:tblPr firstRow="0" bandRow="0">
                <a:tableStyleId>{5C22544A-7EE6-4342-B048-85BDC9FD1C3A}</a:tableStyleId>
              </a:tblPr>
              <a:tblGrid>
                <a:gridCol w="2697480"/>
                <a:gridCol w="914400"/>
                <a:gridCol w="822960"/>
                <a:gridCol w="685800"/>
                <a:gridCol w="868680"/>
                <a:gridCol w="731520"/>
              </a:tblGrid>
              <a:tr h="310896">
                <a:tc>
                  <a:txBody>
                    <a:bodyPr wrap="square"/>
                    <a:lstStyle/>
                    <a:p>
                      <a:pPr algn="l"/>
                      <a:r>
                        <a:rPr sz="1050" b="1" i="0">
                          <a:solidFill>
                            <a:srgbClr val="FFFFFF"/>
                          </a:solidFill>
                          <a:latin typeface="Calibri"/>
                        </a:rPr>
                        <a:t>Backbone</a:t>
                      </a:r>
                    </a:p>
                  </a:txBody>
                  <a:tcPr marL="64008" marR="64008" marT="27432" marB="27432" anchor="ctr">
                    <a:solidFill>
                      <a:srgbClr val="1F3A68"/>
                    </a:solidFill>
                  </a:tcPr>
                </a:tc>
                <a:tc>
                  <a:txBody>
                    <a:bodyPr wrap="square"/>
                    <a:lstStyle/>
                    <a:p>
                      <a:pPr algn="l"/>
                      <a:r>
                        <a:rPr sz="1050" b="1" i="0">
                          <a:solidFill>
                            <a:srgbClr val="FFFFFF"/>
                          </a:solidFill>
                          <a:latin typeface="Calibri"/>
                        </a:rPr>
                        <a:t>Family</a:t>
                      </a:r>
                    </a:p>
                  </a:txBody>
                  <a:tcPr marL="64008" marR="64008" marT="27432" marB="27432" anchor="ctr">
                    <a:solidFill>
                      <a:srgbClr val="1F3A68"/>
                    </a:solidFill>
                  </a:tcPr>
                </a:tc>
                <a:tc>
                  <a:txBody>
                    <a:bodyPr wrap="square"/>
                    <a:lstStyle/>
                    <a:p>
                      <a:pPr algn="ctr"/>
                      <a:r>
                        <a:rPr sz="105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50" b="1" i="0">
                          <a:solidFill>
                            <a:srgbClr val="FFFFFF"/>
                          </a:solidFill>
                          <a:latin typeface="Calibri"/>
                        </a:rPr>
                        <a:t>GFLOPs</a:t>
                      </a:r>
                    </a:p>
                  </a:txBody>
                  <a:tcPr marL="64008" marR="64008" marT="27432" marB="27432" anchor="ctr">
                    <a:solidFill>
                      <a:srgbClr val="1F3A68"/>
                    </a:solidFill>
                  </a:tcPr>
                </a:tc>
                <a:tc>
                  <a:txBody>
                    <a:bodyPr wrap="square"/>
                    <a:lstStyle/>
                    <a:p>
                      <a:pPr algn="ctr"/>
                      <a:r>
                        <a:rPr sz="1050" b="1" i="0">
                          <a:solidFill>
                            <a:srgbClr val="FFFFFF"/>
                          </a:solidFill>
                          <a:latin typeface="Calibri"/>
                        </a:rPr>
                        <a:t>Latency (ms)</a:t>
                      </a:r>
                    </a:p>
                  </a:txBody>
                  <a:tcPr marL="64008" marR="64008" marT="27432" marB="27432" anchor="ctr">
                    <a:solidFill>
                      <a:srgbClr val="1F3A68"/>
                    </a:solidFill>
                  </a:tcPr>
                </a:tc>
                <a:tc>
                  <a:txBody>
                    <a:bodyPr wrap="square"/>
                    <a:lstStyle/>
                    <a:p>
                      <a:pPr algn="ctr"/>
                      <a:r>
                        <a:rPr sz="1050" b="1" i="0">
                          <a:solidFill>
                            <a:srgbClr val="FFFFFF"/>
                          </a:solidFill>
                          <a:latin typeface="Calibri"/>
                        </a:rPr>
                        <a:t>Images/s</a:t>
                      </a:r>
                    </a:p>
                  </a:txBody>
                  <a:tcPr marL="64008" marR="64008" marT="27432" marB="27432" anchor="ctr">
                    <a:solidFill>
                      <a:srgbClr val="1F3A68"/>
                    </a:solidFill>
                  </a:tcPr>
                </a:tc>
              </a:tr>
              <a:tr h="310896">
                <a:tc>
                  <a:txBody>
                    <a:bodyPr wrap="square"/>
                    <a:lstStyle/>
                    <a:p>
                      <a:pPr algn="l"/>
                      <a:r>
                        <a:rPr sz="1050" b="0" i="0">
                          <a:solidFill>
                            <a:srgbClr val="1E2430"/>
                          </a:solidFill>
                          <a:latin typeface="Calibri"/>
                        </a:rPr>
                        <a:t>ResNet50 [33]</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23.51</a:t>
                      </a:r>
                    </a:p>
                  </a:txBody>
                  <a:tcPr marL="64008" marR="64008" marT="27432" marB="27432" anchor="ctr">
                    <a:solidFill>
                      <a:srgbClr val="FFFFFF"/>
                    </a:solidFill>
                  </a:tcPr>
                </a:tc>
                <a:tc>
                  <a:txBody>
                    <a:bodyPr wrap="square"/>
                    <a:lstStyle/>
                    <a:p>
                      <a:pPr algn="ctr"/>
                      <a:r>
                        <a:rPr sz="1050" b="0" i="0">
                          <a:solidFill>
                            <a:srgbClr val="1E2430"/>
                          </a:solidFill>
                          <a:latin typeface="Calibri"/>
                        </a:rPr>
                        <a:t>8.17</a:t>
                      </a:r>
                    </a:p>
                  </a:txBody>
                  <a:tcPr marL="64008" marR="64008" marT="27432" marB="27432" anchor="ctr">
                    <a:solidFill>
                      <a:srgbClr val="FFFFFF"/>
                    </a:solidFill>
                  </a:tcPr>
                </a:tc>
                <a:tc>
                  <a:txBody>
                    <a:bodyPr wrap="square"/>
                    <a:lstStyle/>
                    <a:p>
                      <a:pPr algn="ctr"/>
                      <a:r>
                        <a:rPr sz="1050" b="0" i="0">
                          <a:solidFill>
                            <a:srgbClr val="1E2430"/>
                          </a:solidFill>
                          <a:latin typeface="Calibri"/>
                        </a:rPr>
                        <a:t>9.57</a:t>
                      </a:r>
                    </a:p>
                  </a:txBody>
                  <a:tcPr marL="64008" marR="64008" marT="27432" marB="27432" anchor="ctr">
                    <a:solidFill>
                      <a:srgbClr val="FFFFFF"/>
                    </a:solidFill>
                  </a:tcPr>
                </a:tc>
                <a:tc>
                  <a:txBody>
                    <a:bodyPr wrap="square"/>
                    <a:lstStyle/>
                    <a:p>
                      <a:pPr algn="ctr"/>
                      <a:r>
                        <a:rPr sz="1050" b="0" i="0">
                          <a:solidFill>
                            <a:srgbClr val="1E2430"/>
                          </a:solidFill>
                          <a:latin typeface="Calibri"/>
                        </a:rPr>
                        <a:t>777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VGG16 [31]</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134.26</a:t>
                      </a:r>
                    </a:p>
                  </a:txBody>
                  <a:tcPr marL="64008" marR="64008" marT="27432" marB="27432" anchor="ctr">
                    <a:solidFill>
                      <a:srgbClr val="F3F5F8"/>
                    </a:solidFill>
                  </a:tcPr>
                </a:tc>
                <a:tc>
                  <a:txBody>
                    <a:bodyPr wrap="square"/>
                    <a:lstStyle/>
                    <a:p>
                      <a:pPr algn="ctr"/>
                      <a:r>
                        <a:rPr sz="1050" b="0" i="0">
                          <a:solidFill>
                            <a:srgbClr val="1E2430"/>
                          </a:solidFill>
                          <a:latin typeface="Calibri"/>
                        </a:rPr>
                        <a:t>30.93</a:t>
                      </a:r>
                    </a:p>
                  </a:txBody>
                  <a:tcPr marL="64008" marR="64008" marT="27432" marB="27432" anchor="ctr">
                    <a:solidFill>
                      <a:srgbClr val="F3F5F8"/>
                    </a:solidFill>
                  </a:tcPr>
                </a:tc>
                <a:tc>
                  <a:txBody>
                    <a:bodyPr wrap="square"/>
                    <a:lstStyle/>
                    <a:p>
                      <a:pPr algn="ctr"/>
                      <a:r>
                        <a:rPr sz="1050" b="0" i="0">
                          <a:solidFill>
                            <a:srgbClr val="1E2430"/>
                          </a:solidFill>
                          <a:latin typeface="Calibri"/>
                        </a:rPr>
                        <a:t>7.72</a:t>
                      </a:r>
                    </a:p>
                  </a:txBody>
                  <a:tcPr marL="64008" marR="64008" marT="27432" marB="27432" anchor="ctr">
                    <a:solidFill>
                      <a:srgbClr val="F3F5F8"/>
                    </a:solidFill>
                  </a:tcPr>
                </a:tc>
                <a:tc>
                  <a:txBody>
                    <a:bodyPr wrap="square"/>
                    <a:lstStyle/>
                    <a:p>
                      <a:pPr algn="ctr"/>
                      <a:r>
                        <a:rPr sz="1050" b="0" i="0">
                          <a:solidFill>
                            <a:srgbClr val="1E2430"/>
                          </a:solidFill>
                          <a:latin typeface="Calibri"/>
                        </a:rPr>
                        <a:t>387</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DenseNet121 [34]</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6.95</a:t>
                      </a:r>
                    </a:p>
                  </a:txBody>
                  <a:tcPr marL="64008" marR="64008" marT="27432" marB="27432" anchor="ctr">
                    <a:solidFill>
                      <a:srgbClr val="FFFFFF"/>
                    </a:solidFill>
                  </a:tcPr>
                </a:tc>
                <a:tc>
                  <a:txBody>
                    <a:bodyPr wrap="square"/>
                    <a:lstStyle/>
                    <a:p>
                      <a:pPr algn="ctr"/>
                      <a:r>
                        <a:rPr sz="1050" b="0" i="0">
                          <a:solidFill>
                            <a:srgbClr val="1E2430"/>
                          </a:solidFill>
                          <a:latin typeface="Calibri"/>
                        </a:rPr>
                        <a:t>5.67</a:t>
                      </a:r>
                    </a:p>
                  </a:txBody>
                  <a:tcPr marL="64008" marR="64008" marT="27432" marB="27432" anchor="ctr">
                    <a:solidFill>
                      <a:srgbClr val="FFFFFF"/>
                    </a:solidFill>
                  </a:tcPr>
                </a:tc>
                <a:tc>
                  <a:txBody>
                    <a:bodyPr wrap="square"/>
                    <a:lstStyle/>
                    <a:p>
                      <a:pPr algn="ctr"/>
                      <a:r>
                        <a:rPr sz="1050" b="0" i="0">
                          <a:solidFill>
                            <a:srgbClr val="1E2430"/>
                          </a:solidFill>
                          <a:latin typeface="Calibri"/>
                        </a:rPr>
                        <a:t>23.58</a:t>
                      </a:r>
                    </a:p>
                  </a:txBody>
                  <a:tcPr marL="64008" marR="64008" marT="27432" marB="27432" anchor="ctr">
                    <a:solidFill>
                      <a:srgbClr val="FFFFFF"/>
                    </a:solidFill>
                  </a:tcPr>
                </a:tc>
                <a:tc>
                  <a:txBody>
                    <a:bodyPr wrap="square"/>
                    <a:lstStyle/>
                    <a:p>
                      <a:pPr algn="ctr"/>
                      <a:r>
                        <a:rPr sz="1050" b="0" i="0">
                          <a:solidFill>
                            <a:srgbClr val="1E2430"/>
                          </a:solidFill>
                          <a:latin typeface="Calibri"/>
                        </a:rPr>
                        <a:t>657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EfficientNetB0 [35]</a:t>
                      </a:r>
                    </a:p>
                  </a:txBody>
                  <a:tcPr marL="64008" marR="64008" marT="27432" marB="27432" anchor="ctr">
                    <a:solidFill>
                      <a:srgbClr val="E6EBF2"/>
                    </a:solidFill>
                  </a:tcPr>
                </a:tc>
                <a:tc>
                  <a:txBody>
                    <a:bodyPr wrap="square"/>
                    <a:lstStyle/>
                    <a:p>
                      <a:pPr algn="l"/>
                      <a:r>
                        <a:rPr sz="1050" b="0" i="0">
                          <a:solidFill>
                            <a:srgbClr val="1E2430"/>
                          </a:solidFill>
                          <a:latin typeface="Calibri"/>
                        </a:rPr>
                        <a:t>CNN</a:t>
                      </a:r>
                    </a:p>
                  </a:txBody>
                  <a:tcPr marL="64008" marR="64008" marT="27432" marB="27432" anchor="ctr">
                    <a:solidFill>
                      <a:srgbClr val="E6EBF2"/>
                    </a:solidFill>
                  </a:tcPr>
                </a:tc>
                <a:tc>
                  <a:txBody>
                    <a:bodyPr wrap="square"/>
                    <a:lstStyle/>
                    <a:p>
                      <a:pPr algn="ctr"/>
                      <a:r>
                        <a:rPr sz="1050" b="0" i="0">
                          <a:solidFill>
                            <a:srgbClr val="1E2430"/>
                          </a:solidFill>
                          <a:latin typeface="Calibri"/>
                        </a:rPr>
                        <a:t>4.01</a:t>
                      </a:r>
                    </a:p>
                  </a:txBody>
                  <a:tcPr marL="64008" marR="64008" marT="27432" marB="27432" anchor="ctr">
                    <a:solidFill>
                      <a:srgbClr val="E6EBF2"/>
                    </a:solidFill>
                  </a:tcPr>
                </a:tc>
                <a:tc>
                  <a:txBody>
                    <a:bodyPr wrap="square"/>
                    <a:lstStyle/>
                    <a:p>
                      <a:pPr algn="ctr"/>
                      <a:r>
                        <a:rPr sz="1050" b="0" i="0">
                          <a:solidFill>
                            <a:srgbClr val="1E2430"/>
                          </a:solidFill>
                          <a:latin typeface="Calibri"/>
                        </a:rPr>
                        <a:t>0.77</a:t>
                      </a:r>
                    </a:p>
                  </a:txBody>
                  <a:tcPr marL="64008" marR="64008" marT="27432" marB="27432" anchor="ctr">
                    <a:solidFill>
                      <a:srgbClr val="E6EBF2"/>
                    </a:solidFill>
                  </a:tcPr>
                </a:tc>
                <a:tc>
                  <a:txBody>
                    <a:bodyPr wrap="square"/>
                    <a:lstStyle/>
                    <a:p>
                      <a:pPr algn="ctr"/>
                      <a:r>
                        <a:rPr sz="1050" b="0" i="0">
                          <a:solidFill>
                            <a:srgbClr val="1E2430"/>
                          </a:solidFill>
                          <a:latin typeface="Calibri"/>
                        </a:rPr>
                        <a:t>13.13</a:t>
                      </a:r>
                    </a:p>
                  </a:txBody>
                  <a:tcPr marL="64008" marR="64008" marT="27432" marB="27432" anchor="ctr">
                    <a:solidFill>
                      <a:srgbClr val="E6EBF2"/>
                    </a:solidFill>
                  </a:tcPr>
                </a:tc>
                <a:tc>
                  <a:txBody>
                    <a:bodyPr wrap="square"/>
                    <a:lstStyle/>
                    <a:p>
                      <a:pPr algn="ctr"/>
                      <a:r>
                        <a:rPr sz="1050" b="0" i="0">
                          <a:solidFill>
                            <a:srgbClr val="1E2430"/>
                          </a:solidFill>
                          <a:latin typeface="Calibri"/>
                        </a:rPr>
                        <a:t>1,393</a:t>
                      </a:r>
                    </a:p>
                  </a:txBody>
                  <a:tcPr marL="64008" marR="64008" marT="27432" marB="27432" anchor="ctr">
                    <a:solidFill>
                      <a:srgbClr val="E6EBF2"/>
                    </a:solidFill>
                  </a:tcPr>
                </a:tc>
              </a:tr>
              <a:tr h="310896">
                <a:tc>
                  <a:txBody>
                    <a:bodyPr wrap="square"/>
                    <a:lstStyle/>
                    <a:p>
                      <a:pPr algn="l"/>
                      <a:r>
                        <a:rPr sz="1050" b="0" i="0">
                          <a:solidFill>
                            <a:srgbClr val="1E2430"/>
                          </a:solidFill>
                          <a:latin typeface="Calibri"/>
                        </a:rPr>
                        <a:t>MobileNetV3-Large [36, 37]</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4.20</a:t>
                      </a:r>
                    </a:p>
                  </a:txBody>
                  <a:tcPr marL="64008" marR="64008" marT="27432" marB="27432" anchor="ctr">
                    <a:solidFill>
                      <a:srgbClr val="FFFFFF"/>
                    </a:solidFill>
                  </a:tcPr>
                </a:tc>
                <a:tc>
                  <a:txBody>
                    <a:bodyPr wrap="square"/>
                    <a:lstStyle/>
                    <a:p>
                      <a:pPr algn="ctr"/>
                      <a:r>
                        <a:rPr sz="1050" b="0" i="0">
                          <a:solidFill>
                            <a:srgbClr val="1E2430"/>
                          </a:solidFill>
                          <a:latin typeface="Calibri"/>
                        </a:rPr>
                        <a:t>0.43</a:t>
                      </a:r>
                    </a:p>
                  </a:txBody>
                  <a:tcPr marL="64008" marR="64008" marT="27432" marB="27432" anchor="ctr">
                    <a:solidFill>
                      <a:srgbClr val="FFFFFF"/>
                    </a:solidFill>
                  </a:tcPr>
                </a:tc>
                <a:tc>
                  <a:txBody>
                    <a:bodyPr wrap="square"/>
                    <a:lstStyle/>
                    <a:p>
                      <a:pPr algn="ctr"/>
                      <a:r>
                        <a:rPr sz="1050" b="0" i="0">
                          <a:solidFill>
                            <a:srgbClr val="1E2430"/>
                          </a:solidFill>
                          <a:latin typeface="Calibri"/>
                        </a:rPr>
                        <a:t>10.55</a:t>
                      </a:r>
                    </a:p>
                  </a:txBody>
                  <a:tcPr marL="64008" marR="64008" marT="27432" marB="27432" anchor="ctr">
                    <a:solidFill>
                      <a:srgbClr val="FFFFFF"/>
                    </a:solidFill>
                  </a:tcPr>
                </a:tc>
                <a:tc>
                  <a:txBody>
                    <a:bodyPr wrap="square"/>
                    <a:lstStyle/>
                    <a:p>
                      <a:pPr algn="ctr"/>
                      <a:r>
                        <a:rPr sz="1050" b="0" i="0">
                          <a:solidFill>
                            <a:srgbClr val="1E2430"/>
                          </a:solidFill>
                          <a:latin typeface="Calibri"/>
                        </a:rPr>
                        <a:t>2,301</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InceptionV3 [32]</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21.79</a:t>
                      </a:r>
                    </a:p>
                  </a:txBody>
                  <a:tcPr marL="64008" marR="64008" marT="27432" marB="27432" anchor="ctr">
                    <a:solidFill>
                      <a:srgbClr val="F3F5F8"/>
                    </a:solidFill>
                  </a:tcPr>
                </a:tc>
                <a:tc>
                  <a:txBody>
                    <a:bodyPr wrap="square"/>
                    <a:lstStyle/>
                    <a:p>
                      <a:pPr algn="ctr"/>
                      <a:r>
                        <a:rPr sz="1050" b="0" i="0">
                          <a:solidFill>
                            <a:srgbClr val="1E2430"/>
                          </a:solidFill>
                          <a:latin typeface="Calibri"/>
                        </a:rPr>
                        <a:t>11.42</a:t>
                      </a:r>
                    </a:p>
                  </a:txBody>
                  <a:tcPr marL="64008" marR="64008" marT="27432" marB="27432" anchor="ctr">
                    <a:solidFill>
                      <a:srgbClr val="F3F5F8"/>
                    </a:solidFill>
                  </a:tcPr>
                </a:tc>
                <a:tc>
                  <a:txBody>
                    <a:bodyPr wrap="square"/>
                    <a:lstStyle/>
                    <a:p>
                      <a:pPr algn="ctr"/>
                      <a:r>
                        <a:rPr sz="1050" b="0" i="0">
                          <a:solidFill>
                            <a:srgbClr val="1E2430"/>
                          </a:solidFill>
                          <a:latin typeface="Calibri"/>
                        </a:rPr>
                        <a:t>17.63</a:t>
                      </a:r>
                    </a:p>
                  </a:txBody>
                  <a:tcPr marL="64008" marR="64008" marT="27432" marB="27432" anchor="ctr">
                    <a:solidFill>
                      <a:srgbClr val="F3F5F8"/>
                    </a:solidFill>
                  </a:tcPr>
                </a:tc>
                <a:tc>
                  <a:txBody>
                    <a:bodyPr wrap="square"/>
                    <a:lstStyle/>
                    <a:p>
                      <a:pPr algn="ctr"/>
                      <a:r>
                        <a:rPr sz="1050" b="0" i="0">
                          <a:solidFill>
                            <a:srgbClr val="1E2430"/>
                          </a:solidFill>
                          <a:latin typeface="Calibri"/>
                        </a:rPr>
                        <a:t>512</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ViT-B/16 [38, 39]</a:t>
                      </a:r>
                    </a:p>
                  </a:txBody>
                  <a:tcPr marL="64008" marR="64008" marT="27432" marB="27432" anchor="ctr">
                    <a:solidFill>
                      <a:srgbClr val="FFFFFF"/>
                    </a:solidFill>
                  </a:tcPr>
                </a:tc>
                <a:tc>
                  <a:txBody>
                    <a:bodyPr wrap="square"/>
                    <a:lstStyle/>
                    <a:p>
                      <a:pPr algn="l"/>
                      <a:r>
                        <a:rPr sz="1050" b="0" i="0">
                          <a:solidFill>
                            <a:srgbClr val="1E2430"/>
                          </a:solidFill>
                          <a:latin typeface="Calibri"/>
                        </a:rPr>
                        <a:t>Transformer</a:t>
                      </a:r>
                    </a:p>
                  </a:txBody>
                  <a:tcPr marL="64008" marR="64008" marT="27432" marB="27432" anchor="ctr">
                    <a:solidFill>
                      <a:srgbClr val="FFFFFF"/>
                    </a:solidFill>
                  </a:tcPr>
                </a:tc>
                <a:tc>
                  <a:txBody>
                    <a:bodyPr wrap="square"/>
                    <a:lstStyle/>
                    <a:p>
                      <a:pPr algn="ctr"/>
                      <a:r>
                        <a:rPr sz="1050" b="0" i="0">
                          <a:solidFill>
                            <a:srgbClr val="1E2430"/>
                          </a:solidFill>
                          <a:latin typeface="Calibri"/>
                        </a:rPr>
                        <a:t>85.80</a:t>
                      </a:r>
                    </a:p>
                  </a:txBody>
                  <a:tcPr marL="64008" marR="64008" marT="27432" marB="27432" anchor="ctr">
                    <a:solidFill>
                      <a:srgbClr val="FFFFFF"/>
                    </a:solidFill>
                  </a:tcPr>
                </a:tc>
                <a:tc>
                  <a:txBody>
                    <a:bodyPr wrap="square"/>
                    <a:lstStyle/>
                    <a:p>
                      <a:pPr algn="ctr"/>
                      <a:r>
                        <a:rPr sz="1050" b="0" i="0">
                          <a:solidFill>
                            <a:srgbClr val="1E2430"/>
                          </a:solidFill>
                          <a:latin typeface="Calibri"/>
                        </a:rPr>
                        <a:t>22.54</a:t>
                      </a:r>
                    </a:p>
                  </a:txBody>
                  <a:tcPr marL="64008" marR="64008" marT="27432" marB="27432" anchor="ctr">
                    <a:solidFill>
                      <a:srgbClr val="FFFFFF"/>
                    </a:solidFill>
                  </a:tcPr>
                </a:tc>
                <a:tc>
                  <a:txBody>
                    <a:bodyPr wrap="square"/>
                    <a:lstStyle/>
                    <a:p>
                      <a:pPr algn="ctr"/>
                      <a:r>
                        <a:rPr sz="1050" b="0" i="0">
                          <a:solidFill>
                            <a:srgbClr val="1E2430"/>
                          </a:solidFill>
                          <a:latin typeface="Calibri"/>
                        </a:rPr>
                        <a:t>10.95</a:t>
                      </a:r>
                    </a:p>
                  </a:txBody>
                  <a:tcPr marL="64008" marR="64008" marT="27432" marB="27432" anchor="ctr">
                    <a:solidFill>
                      <a:srgbClr val="FFFFFF"/>
                    </a:solidFill>
                  </a:tcPr>
                </a:tc>
                <a:tc>
                  <a:txBody>
                    <a:bodyPr wrap="square"/>
                    <a:lstStyle/>
                    <a:p>
                      <a:pPr algn="ctr"/>
                      <a:r>
                        <a:rPr sz="1050" b="0" i="0">
                          <a:solidFill>
                            <a:srgbClr val="1E2430"/>
                          </a:solidFill>
                          <a:latin typeface="Calibri"/>
                        </a:rPr>
                        <a:t>272</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Swin-Base [40]</a:t>
                      </a:r>
                    </a:p>
                  </a:txBody>
                  <a:tcPr marL="64008" marR="64008" marT="27432" marB="27432" anchor="ctr">
                    <a:solidFill>
                      <a:srgbClr val="F3F5F8"/>
                    </a:solidFill>
                  </a:tcPr>
                </a:tc>
                <a:tc>
                  <a:txBody>
                    <a:bodyPr wrap="square"/>
                    <a:lstStyle/>
                    <a:p>
                      <a:pPr algn="l"/>
                      <a:r>
                        <a:rPr sz="1050" b="0" i="0">
                          <a:solidFill>
                            <a:srgbClr val="1E2430"/>
                          </a:solidFill>
                          <a:latin typeface="Calibri"/>
                        </a:rPr>
                        <a:t>Transformer</a:t>
                      </a:r>
                    </a:p>
                  </a:txBody>
                  <a:tcPr marL="64008" marR="64008" marT="27432" marB="27432" anchor="ctr">
                    <a:solidFill>
                      <a:srgbClr val="F3F5F8"/>
                    </a:solidFill>
                  </a:tcPr>
                </a:tc>
                <a:tc>
                  <a:txBody>
                    <a:bodyPr wrap="square"/>
                    <a:lstStyle/>
                    <a:p>
                      <a:pPr algn="ctr"/>
                      <a:r>
                        <a:rPr sz="1050" b="0" i="0">
                          <a:solidFill>
                            <a:srgbClr val="1E2430"/>
                          </a:solidFill>
                          <a:latin typeface="Calibri"/>
                        </a:rPr>
                        <a:t>86.74</a:t>
                      </a:r>
                    </a:p>
                  </a:txBody>
                  <a:tcPr marL="64008" marR="64008" marT="27432" marB="27432" anchor="ctr">
                    <a:solidFill>
                      <a:srgbClr val="F3F5F8"/>
                    </a:solidFill>
                  </a:tcPr>
                </a:tc>
                <a:tc>
                  <a:txBody>
                    <a:bodyPr wrap="square"/>
                    <a:lstStyle/>
                    <a:p>
                      <a:pPr algn="ctr"/>
                      <a:r>
                        <a:rPr sz="1050" b="0" i="0">
                          <a:solidFill>
                            <a:srgbClr val="1E2430"/>
                          </a:solidFill>
                          <a:latin typeface="Calibri"/>
                        </a:rPr>
                        <a:t>30.86</a:t>
                      </a:r>
                    </a:p>
                  </a:txBody>
                  <a:tcPr marL="64008" marR="64008" marT="27432" marB="27432" anchor="ctr">
                    <a:solidFill>
                      <a:srgbClr val="F3F5F8"/>
                    </a:solidFill>
                  </a:tcPr>
                </a:tc>
                <a:tc>
                  <a:txBody>
                    <a:bodyPr wrap="square"/>
                    <a:lstStyle/>
                    <a:p>
                      <a:pPr algn="ctr"/>
                      <a:r>
                        <a:rPr sz="1050" b="0" i="0">
                          <a:solidFill>
                            <a:srgbClr val="1E2430"/>
                          </a:solidFill>
                          <a:latin typeface="Calibri"/>
                        </a:rPr>
                        <a:t>36.29</a:t>
                      </a:r>
                    </a:p>
                  </a:txBody>
                  <a:tcPr marL="64008" marR="64008" marT="27432" marB="27432" anchor="ctr">
                    <a:solidFill>
                      <a:srgbClr val="F3F5F8"/>
                    </a:solidFill>
                  </a:tcPr>
                </a:tc>
                <a:tc>
                  <a:txBody>
                    <a:bodyPr wrap="square"/>
                    <a:lstStyle/>
                    <a:p>
                      <a:pPr algn="ctr"/>
                      <a:r>
                        <a:rPr sz="1050" b="0" i="0">
                          <a:solidFill>
                            <a:srgbClr val="1E2430"/>
                          </a:solidFill>
                          <a:latin typeface="Calibri"/>
                        </a:rPr>
                        <a:t>198</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CoAtNet-0 [41]</a:t>
                      </a:r>
                    </a:p>
                  </a:txBody>
                  <a:tcPr marL="64008" marR="64008" marT="27432" marB="27432" anchor="ctr">
                    <a:solidFill>
                      <a:srgbClr val="FFFFFF"/>
                    </a:solidFill>
                  </a:tcPr>
                </a:tc>
                <a:tc>
                  <a:txBody>
                    <a:bodyPr wrap="square"/>
                    <a:lstStyle/>
                    <a:p>
                      <a:pPr algn="l"/>
                      <a:r>
                        <a:rPr sz="1050" b="0" i="0">
                          <a:solidFill>
                            <a:srgbClr val="1E2430"/>
                          </a:solidFill>
                          <a:latin typeface="Calibri"/>
                        </a:rPr>
                        <a:t>Hybrid</a:t>
                      </a:r>
                    </a:p>
                  </a:txBody>
                  <a:tcPr marL="64008" marR="64008" marT="27432" marB="27432" anchor="ctr">
                    <a:solidFill>
                      <a:srgbClr val="FFFFFF"/>
                    </a:solidFill>
                  </a:tcPr>
                </a:tc>
                <a:tc>
                  <a:txBody>
                    <a:bodyPr wrap="square"/>
                    <a:lstStyle/>
                    <a:p>
                      <a:pPr algn="ctr"/>
                      <a:r>
                        <a:rPr sz="1050" b="0" i="0">
                          <a:solidFill>
                            <a:srgbClr val="1E2430"/>
                          </a:solidFill>
                          <a:latin typeface="Calibri"/>
                        </a:rPr>
                        <a:t>26.67</a:t>
                      </a:r>
                    </a:p>
                  </a:txBody>
                  <a:tcPr marL="64008" marR="64008" marT="27432" marB="27432" anchor="ctr">
                    <a:solidFill>
                      <a:srgbClr val="FFFFFF"/>
                    </a:solidFill>
                  </a:tcPr>
                </a:tc>
                <a:tc>
                  <a:txBody>
                    <a:bodyPr wrap="square"/>
                    <a:lstStyle/>
                    <a:p>
                      <a:pPr algn="ctr"/>
                      <a:r>
                        <a:rPr sz="1050" b="0" i="0">
                          <a:solidFill>
                            <a:srgbClr val="1E2430"/>
                          </a:solidFill>
                          <a:latin typeface="Calibri"/>
                        </a:rPr>
                        <a:t>8.42</a:t>
                      </a:r>
                    </a:p>
                  </a:txBody>
                  <a:tcPr marL="64008" marR="64008" marT="27432" marB="27432" anchor="ctr">
                    <a:solidFill>
                      <a:srgbClr val="FFFFFF"/>
                    </a:solidFill>
                  </a:tcPr>
                </a:tc>
                <a:tc>
                  <a:txBody>
                    <a:bodyPr wrap="square"/>
                    <a:lstStyle/>
                    <a:p>
                      <a:pPr algn="ctr"/>
                      <a:r>
                        <a:rPr sz="1050" b="0" i="0">
                          <a:solidFill>
                            <a:srgbClr val="1E2430"/>
                          </a:solidFill>
                          <a:latin typeface="Calibri"/>
                        </a:rPr>
                        <a:t>16.53</a:t>
                      </a:r>
                    </a:p>
                  </a:txBody>
                  <a:tcPr marL="64008" marR="64008" marT="27432" marB="27432" anchor="ctr">
                    <a:solidFill>
                      <a:srgbClr val="FFFFFF"/>
                    </a:solidFill>
                  </a:tcPr>
                </a:tc>
                <a:tc>
                  <a:txBody>
                    <a:bodyPr wrap="square"/>
                    <a:lstStyle/>
                    <a:p>
                      <a:pPr algn="ctr"/>
                      <a:r>
                        <a:rPr sz="1050" b="0" i="0">
                          <a:solidFill>
                            <a:srgbClr val="1E2430"/>
                          </a:solidFill>
                          <a:latin typeface="Calibri"/>
                        </a:rPr>
                        <a:t>513</a:t>
                      </a:r>
                    </a:p>
                  </a:txBody>
                  <a:tcPr marL="64008" marR="64008" marT="27432" marB="27432" anchor="ctr">
                    <a:solidFill>
                      <a:srgbClr val="FFFFFF"/>
                    </a:solidFill>
                  </a:tcPr>
                </a:tc>
              </a:tr>
            </a:tbl>
          </a:graphicData>
        </a:graphic>
      </p:graphicFrame>
      <p:sp>
        <p:nvSpPr>
          <p:cNvPr id="9" name="TextBox 8"/>
          <p:cNvSpPr txBox="1"/>
          <p:nvPr/>
        </p:nvSpPr>
        <p:spPr>
          <a:xfrm>
            <a:off x="548640" y="4572000"/>
            <a:ext cx="6720840" cy="1176528"/>
          </a:xfrm>
          <a:prstGeom prst="rect">
            <a:avLst/>
          </a:prstGeom>
          <a:noFill/>
        </p:spPr>
        <p:txBody>
          <a:bodyPr wrap="square" lIns="0" rIns="0" tIns="0" bIns="0" anchor="t">
            <a:noAutofit/>
          </a:bodyPr>
          <a:lstStyle/>
          <a:p>
            <a:pPr algn="l">
              <a:lnSpc>
                <a:spcPct val="100000"/>
              </a:lnSpc>
              <a:spcAft>
                <a:spcPts val="600"/>
              </a:spcAft>
            </a:pPr>
            <a:r>
              <a:rPr sz="1100" b="0" i="0">
                <a:solidFill>
                  <a:srgbClr val="1E2430"/>
                </a:solidFill>
                <a:latin typeface="Calibri"/>
              </a:rPr>
              <a:t>CNNs stack learned convolutional filters [26, 27]; transformers relate all image patches through self-attention. All models are ImageNet-pretrained [29, 30] torchvision or timm models in PyTorch [45], with a one-output (detection) or three-output (subtype) head.</a:t>
            </a:r>
          </a:p>
          <a:p>
            <a:pPr algn="l">
              <a:lnSpc>
                <a:spcPct val="100000"/>
              </a:lnSpc>
              <a:spcAft>
                <a:spcPts val="600"/>
              </a:spcAft>
            </a:pPr>
            <a:r>
              <a:rPr sz="1100" b="0" i="0">
                <a:solidFill>
                  <a:srgbClr val="1E2430"/>
                </a:solidFill>
                <a:latin typeface="Calibri"/>
              </a:rPr>
              <a:t>Cost was measured on one Tesla T4 in half precision: latency at batch size 1, throughput at batch size 32. </a:t>
            </a:r>
            <a:r>
              <a:rPr sz="1100" b="1" i="0">
                <a:solidFill>
                  <a:srgbClr val="1E2430"/>
                </a:solidFill>
                <a:latin typeface="Calibri"/>
              </a:rPr>
              <a:t>It spans a factor of about 72</a:t>
            </a:r>
            <a:r>
              <a:rPr sz="1100" b="0" i="0">
                <a:solidFill>
                  <a:srgbClr val="1E2430"/>
                </a:solidFill>
                <a:latin typeface="Calibri"/>
              </a:rPr>
              <a:t> (0.43 to 30.93 GFLOPs) while detection accuracy spans 2.34 points, and latency does not follow size: VGG16 (134 M parameters) takes 7.7 ms, DenseNet121 (6.95 M) 23.6 ms.</a:t>
            </a:r>
          </a:p>
        </p:txBody>
      </p:sp>
      <p:sp>
        <p:nvSpPr>
          <p:cNvPr id="10" name="Rectangle 9"/>
          <p:cNvSpPr/>
          <p:nvPr/>
        </p:nvSpPr>
        <p:spPr>
          <a:xfrm>
            <a:off x="7498079" y="1234440"/>
            <a:ext cx="4142232" cy="20589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62671" y="1399032"/>
            <a:ext cx="3813048" cy="17297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Identical training: 54 runs per task</a:t>
            </a:r>
          </a:p>
          <a:p>
            <a:pPr algn="l" marL="180594" indent="-180594">
              <a:lnSpc>
                <a:spcPct val="100000"/>
              </a:lnSpc>
              <a:spcAft>
                <a:spcPts val="400"/>
              </a:spcAft>
              <a:buClr>
                <a:srgbClr val="1F3A68"/>
              </a:buClr>
              <a:buFont typeface="Arial"/>
              <a:buChar char="•"/>
            </a:pPr>
            <a:r>
              <a:rPr sz="1100" b="0" i="0">
                <a:solidFill>
                  <a:srgbClr val="1E2430"/>
                </a:solidFill>
                <a:latin typeface="Calibri"/>
              </a:rPr>
              <a:t>AdamW [46], learning rate 3×10⁻⁴, weight decay 0.01</a:t>
            </a:r>
          </a:p>
          <a:p>
            <a:pPr algn="l" marL="180594" indent="-180594">
              <a:lnSpc>
                <a:spcPct val="100000"/>
              </a:lnSpc>
              <a:spcAft>
                <a:spcPts val="400"/>
              </a:spcAft>
              <a:buClr>
                <a:srgbClr val="1F3A68"/>
              </a:buClr>
              <a:buFont typeface="Arial"/>
              <a:buChar char="•"/>
            </a:pPr>
            <a:r>
              <a:rPr sz="1100" b="0" i="0">
                <a:solidFill>
                  <a:srgbClr val="1E2430"/>
                </a:solidFill>
                <a:latin typeface="Calibri"/>
              </a:rPr>
              <a:t>20 epochs; effective batch 64 by gradient accumulation, so every model takes the same optimiser steps</a:t>
            </a:r>
          </a:p>
          <a:p>
            <a:pPr algn="l" marL="180594" indent="-180594">
              <a:lnSpc>
                <a:spcPct val="100000"/>
              </a:lnSpc>
              <a:spcAft>
                <a:spcPts val="400"/>
              </a:spcAft>
              <a:buClr>
                <a:srgbClr val="1F3A68"/>
              </a:buClr>
              <a:buFont typeface="Arial"/>
              <a:buChar char="•"/>
            </a:pPr>
            <a:r>
              <a:rPr sz="1100" b="0" i="0">
                <a:solidFill>
                  <a:srgbClr val="1E2430"/>
                </a:solidFill>
                <a:latin typeface="Calibri"/>
              </a:rPr>
              <a:t>One-epoch warm-up and cosine decay [47]; half precision [48]; gradient clipping at 1.0 [89]</a:t>
            </a:r>
          </a:p>
          <a:p>
            <a:pPr algn="l" marL="180594" indent="-180594">
              <a:lnSpc>
                <a:spcPct val="100000"/>
              </a:lnSpc>
              <a:spcAft>
                <a:spcPts val="400"/>
              </a:spcAft>
              <a:buClr>
                <a:srgbClr val="1F3A68"/>
              </a:buClr>
              <a:buFont typeface="Arial"/>
              <a:buChar char="•"/>
            </a:pPr>
            <a:r>
              <a:rPr sz="1100" b="0" i="0">
                <a:solidFill>
                  <a:srgbClr val="1E2430"/>
                </a:solidFill>
                <a:latin typeface="Calibri"/>
              </a:rPr>
              <a:t>Flip, ±10° rotation, ±20% brightness and contrast; checkpoint at the lowest validation log-loss [80]</a:t>
            </a:r>
          </a:p>
        </p:txBody>
      </p:sp>
      <p:sp>
        <p:nvSpPr>
          <p:cNvPr id="12" name="Rectangle 11"/>
          <p:cNvSpPr/>
          <p:nvPr/>
        </p:nvSpPr>
        <p:spPr>
          <a:xfrm>
            <a:off x="7498079" y="3521964"/>
            <a:ext cx="4142232" cy="22265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62671" y="3686556"/>
            <a:ext cx="3813048" cy="18973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Evaluation protocol</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[78] and Youden threshold [90] fitted on each validation fold</a:t>
            </a:r>
          </a:p>
          <a:p>
            <a:pPr algn="l" marL="180594" indent="-180594">
              <a:lnSpc>
                <a:spcPct val="100000"/>
              </a:lnSpc>
              <a:spcAft>
                <a:spcPts val="400"/>
              </a:spcAft>
              <a:buClr>
                <a:srgbClr val="1F3A68"/>
              </a:buClr>
              <a:buFont typeface="Arial"/>
              <a:buChar char="•"/>
            </a:pPr>
            <a:r>
              <a:rPr sz="1100" b="0" i="0">
                <a:solidFill>
                  <a:srgbClr val="1E2430"/>
                </a:solidFill>
                <a:latin typeface="Calibri"/>
              </a:rPr>
              <a:t>Five fold models averaged into one fold-ensemble prediction per test image</a:t>
            </a:r>
          </a:p>
          <a:p>
            <a:pPr algn="l" marL="180594" indent="-180594">
              <a:lnSpc>
                <a:spcPct val="100000"/>
              </a:lnSpc>
              <a:spcAft>
                <a:spcPts val="400"/>
              </a:spcAft>
              <a:buClr>
                <a:srgbClr val="1F3A68"/>
              </a:buClr>
              <a:buFont typeface="Arial"/>
              <a:buChar char="•"/>
            </a:pPr>
            <a:r>
              <a:rPr sz="1100" b="0" i="0">
                <a:solidFill>
                  <a:srgbClr val="1E2430"/>
                </a:solidFill>
                <a:latin typeface="Calibri"/>
              </a:rPr>
              <a:t>Accuracy, macro F1, AUC [91, 92], MCC [93, 94] and ECE with 15 bins [79]</a:t>
            </a:r>
          </a:p>
          <a:p>
            <a:pPr algn="l" marL="180594" indent="-180594">
              <a:lnSpc>
                <a:spcPct val="100000"/>
              </a:lnSpc>
              <a:spcAft>
                <a:spcPts val="400"/>
              </a:spcAft>
              <a:buClr>
                <a:srgbClr val="1F3A68"/>
              </a:buClr>
              <a:buFont typeface="Arial"/>
              <a:buChar char="•"/>
            </a:pPr>
            <a:r>
              <a:rPr sz="1100" b="0" i="0">
                <a:solidFill>
                  <a:srgbClr val="1E2430"/>
                </a:solidFill>
                <a:latin typeface="Calibri"/>
              </a:rPr>
              <a:t>Bootstrap 95% CIs from 2,000 resamples [81]; exact McNemar tests [82], Holm-corrected over 36 pairs [83]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Detection and Subtype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Chart 7"/>
          <p:cNvGraphicFramePr>
            <a:graphicFrameLocks noGrp="1"/>
          </p:cNvGraphicFramePr>
          <p:nvPr/>
        </p:nvGraphicFramePr>
        <p:xfrm>
          <a:off x="548640" y="1234440"/>
          <a:ext cx="5669280" cy="3246120"/>
        </p:xfrm>
        <a:graphic>
          <a:graphicData uri="http://schemas.openxmlformats.org/drawingml/2006/chart">
            <c:chart xmlns:c="http://schemas.openxmlformats.org/drawingml/2006/chart" r:id="rId2"/>
          </a:graphicData>
        </a:graphic>
      </p:graphicFrame>
      <p:sp>
        <p:nvSpPr>
          <p:cNvPr id="9" name="Rectangle 8"/>
          <p:cNvSpPr/>
          <p:nvPr/>
        </p:nvSpPr>
        <p:spPr>
          <a:xfrm>
            <a:off x="640080" y="4572000"/>
            <a:ext cx="128016" cy="128016"/>
          </a:xfrm>
          <a:prstGeom prst="rect">
            <a:avLst/>
          </a:prstGeom>
          <a:solidFill>
            <a:srgbClr val="1F3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CNN</a:t>
            </a:r>
          </a:p>
        </p:txBody>
      </p:sp>
      <p:sp>
        <p:nvSpPr>
          <p:cNvPr id="11" name="Rectangle 10"/>
          <p:cNvSpPr/>
          <p:nvPr/>
        </p:nvSpPr>
        <p:spPr>
          <a:xfrm>
            <a:off x="1164463" y="4572000"/>
            <a:ext cx="128016" cy="128016"/>
          </a:xfrm>
          <a:prstGeom prst="rect">
            <a:avLst/>
          </a:prstGeom>
          <a:solidFill>
            <a:srgbClr val="B45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65630"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Transformer</a:t>
            </a:r>
          </a:p>
        </p:txBody>
      </p:sp>
      <p:sp>
        <p:nvSpPr>
          <p:cNvPr id="13" name="Rectangle 12"/>
          <p:cNvSpPr/>
          <p:nvPr/>
        </p:nvSpPr>
        <p:spPr>
          <a:xfrm>
            <a:off x="2099690" y="4572000"/>
            <a:ext cx="128016" cy="128016"/>
          </a:xfrm>
          <a:prstGeom prst="rect">
            <a:avLst/>
          </a:prstGeom>
          <a:solidFill>
            <a:srgbClr val="2E7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00859"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Hybrid</a:t>
            </a:r>
          </a:p>
        </p:txBody>
      </p:sp>
      <p:sp>
        <p:nvSpPr>
          <p:cNvPr id="15" name="TextBox 14"/>
          <p:cNvSpPr txBox="1"/>
          <p:nvPr/>
        </p:nvSpPr>
        <p:spPr>
          <a:xfrm>
            <a:off x="548640" y="4892040"/>
            <a:ext cx="5669280" cy="128016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CoAtNet-0 missed one tumour; EfficientNetB0 and ViT-B/16 detected all 107 tumours and raised one false alarm.</a:t>
            </a:r>
          </a:p>
          <a:p>
            <a:pPr algn="l" marL="180594" indent="-180594">
              <a:lnSpc>
                <a:spcPct val="100000"/>
              </a:lnSpc>
              <a:spcAft>
                <a:spcPts val="400"/>
              </a:spcAft>
              <a:buClr>
                <a:srgbClr val="1F3A68"/>
              </a:buClr>
              <a:buFont typeface="Arial"/>
              <a:buChar char="•"/>
            </a:pPr>
            <a:r>
              <a:rPr sz="1100" b="0" i="0">
                <a:solidFill>
                  <a:srgbClr val="1E2430"/>
                </a:solidFill>
                <a:latin typeface="Calibri"/>
              </a:rPr>
              <a:t>Every AUC lies between 0.9974 and 0.9997; the fold-to-fold standard deviation of accuracy, 0.32 to 2.20 points, matches the gaps between backbones.</a:t>
            </a:r>
          </a:p>
          <a:p>
            <a:pPr algn="l" marL="180594" indent="-180594">
              <a:lnSpc>
                <a:spcPct val="100000"/>
              </a:lnSpc>
              <a:spcAft>
                <a:spcPts val="400"/>
              </a:spcAft>
              <a:buClr>
                <a:srgbClr val="1F3A68"/>
              </a:buClr>
              <a:buFont typeface="Arial"/>
              <a:buChar char="•"/>
            </a:pPr>
            <a:r>
              <a:rPr sz="1100" b="0" i="0">
                <a:solidFill>
                  <a:srgbClr val="1E2430"/>
                </a:solidFill>
                <a:latin typeface="Calibri"/>
              </a:rPr>
              <a:t>On the test images furthest from development (Hamming 17 to 20), every model is correct.</a:t>
            </a:r>
          </a:p>
        </p:txBody>
      </p:sp>
      <p:sp>
        <p:nvSpPr>
          <p:cNvPr id="16" name="Rectangle 15"/>
          <p:cNvSpPr/>
          <p:nvPr/>
        </p:nvSpPr>
        <p:spPr>
          <a:xfrm>
            <a:off x="6446520"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11112"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99.42%</a:t>
            </a:r>
          </a:p>
        </p:txBody>
      </p:sp>
      <p:sp>
        <p:nvSpPr>
          <p:cNvPr id="18" name="TextBox 17"/>
          <p:cNvSpPr txBox="1"/>
          <p:nvPr/>
        </p:nvSpPr>
        <p:spPr>
          <a:xfrm>
            <a:off x="6611112"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best accuracy, 95% CI 98.25 to 100%</a:t>
            </a:r>
          </a:p>
        </p:txBody>
      </p:sp>
      <p:sp>
        <p:nvSpPr>
          <p:cNvPr id="19" name="Rectangle 18"/>
          <p:cNvSpPr/>
          <p:nvPr/>
        </p:nvSpPr>
        <p:spPr>
          <a:xfrm>
            <a:off x="8238744"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0 of 36</a:t>
            </a:r>
          </a:p>
        </p:txBody>
      </p:sp>
      <p:sp>
        <p:nvSpPr>
          <p:cNvPr id="21" name="TextBox 20"/>
          <p:cNvSpPr txBox="1"/>
          <p:nvPr/>
        </p:nvSpPr>
        <p:spPr>
          <a:xfrm>
            <a:off x="8403336"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model pairs significant after Holm</a:t>
            </a:r>
          </a:p>
        </p:txBody>
      </p:sp>
      <p:sp>
        <p:nvSpPr>
          <p:cNvPr id="22" name="Rectangle 21"/>
          <p:cNvSpPr/>
          <p:nvPr/>
        </p:nvSpPr>
        <p:spPr>
          <a:xfrm>
            <a:off x="10030967"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95559"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4.01 M</a:t>
            </a:r>
          </a:p>
        </p:txBody>
      </p:sp>
      <p:sp>
        <p:nvSpPr>
          <p:cNvPr id="24" name="TextBox 23"/>
          <p:cNvSpPr txBox="1"/>
          <p:nvPr/>
        </p:nvSpPr>
        <p:spPr>
          <a:xfrm>
            <a:off x="10195559"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parameters in EfficientNetB0</a:t>
            </a:r>
          </a:p>
        </p:txBody>
      </p:sp>
      <p:graphicFrame>
        <p:nvGraphicFramePr>
          <p:cNvPr id="25" name="Table 24"/>
          <p:cNvGraphicFramePr>
            <a:graphicFrameLocks noGrp="1"/>
          </p:cNvGraphicFramePr>
          <p:nvPr/>
        </p:nvGraphicFramePr>
        <p:xfrm>
          <a:off x="6446520" y="2514600"/>
          <a:ext cx="5193792" cy="1261872"/>
        </p:xfrm>
        <a:graphic>
          <a:graphicData uri="http://schemas.openxmlformats.org/drawingml/2006/table">
            <a:tbl>
              <a:tblPr firstRow="0" bandRow="0">
                <a:tableStyleId>{5C22544A-7EE6-4342-B048-85BDC9FD1C3A}</a:tableStyleId>
              </a:tblPr>
              <a:tblGrid>
                <a:gridCol w="2514600"/>
                <a:gridCol w="1188720"/>
                <a:gridCol w="731520"/>
                <a:gridCol w="758952"/>
              </a:tblGrid>
              <a:tr h="420624">
                <a:tc>
                  <a:txBody>
                    <a:bodyPr wrap="square"/>
                    <a:lstStyle/>
                    <a:p>
                      <a:pPr algn="l"/>
                      <a:r>
                        <a:rPr sz="1000" b="1" i="0">
                          <a:solidFill>
                            <a:srgbClr val="FFFFFF"/>
                          </a:solidFill>
                          <a:latin typeface="Calibri"/>
                        </a:rPr>
                        <a:t>Subtype (45 test 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Accuracy [95% CI]</a:t>
                      </a:r>
                    </a:p>
                  </a:txBody>
                  <a:tcPr marL="64008" marR="64008" marT="27432" marB="27432" anchor="ctr">
                    <a:solidFill>
                      <a:srgbClr val="1F3A68"/>
                    </a:solidFill>
                  </a:tcPr>
                </a:tc>
                <a:tc>
                  <a:txBody>
                    <a:bodyPr wrap="square"/>
                    <a:lstStyle/>
                    <a:p>
                      <a:pPr algn="ctr"/>
                      <a:r>
                        <a:rPr sz="1000" b="1" i="0">
                          <a:solidFill>
                            <a:srgbClr val="FFFFFF"/>
                          </a:solidFill>
                          <a:latin typeface="Calibri"/>
                        </a:rPr>
                        <a:t>Macro F1</a:t>
                      </a:r>
                    </a:p>
                  </a:txBody>
                  <a:tcPr marL="64008" marR="64008" marT="27432" marB="27432" anchor="ctr">
                    <a:solidFill>
                      <a:srgbClr val="1F3A68"/>
                    </a:solidFill>
                  </a:tcPr>
                </a:tc>
                <a:tc>
                  <a:txBody>
                    <a:bodyPr wrap="square"/>
                    <a:lstStyle/>
                    <a:p>
                      <a:pPr algn="ctr"/>
                      <a:r>
                        <a:rPr sz="1000" b="1" i="0">
                          <a:solidFill>
                            <a:srgbClr val="FFFFFF"/>
                          </a:solidFill>
                          <a:latin typeface="Calibri"/>
                        </a:rPr>
                        <a:t>MCC</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ResNet50, DenseNet121, InceptionV3, ViT-B/16, Swin-Base, CoAtNet-0</a:t>
                      </a:r>
                    </a:p>
                  </a:txBody>
                  <a:tcPr marL="64008" marR="64008" marT="27432" marB="27432" anchor="ctr">
                    <a:solidFill>
                      <a:srgbClr val="FFFFFF"/>
                    </a:solidFill>
                  </a:tcPr>
                </a:tc>
                <a:tc>
                  <a:txBody>
                    <a:bodyPr wrap="square"/>
                    <a:lstStyle/>
                    <a:p>
                      <a:pPr algn="ctr"/>
                      <a:r>
                        <a:rPr sz="1000" b="0" i="0">
                          <a:solidFill>
                            <a:srgbClr val="1E2430"/>
                          </a:solidFill>
                          <a:latin typeface="Calibri"/>
                        </a:rPr>
                        <a:t>100 [100, 100]</a:t>
                      </a:r>
                    </a:p>
                  </a:txBody>
                  <a:tcPr marL="64008" marR="64008" marT="27432" marB="27432" anchor="ctr">
                    <a:solidFill>
                      <a:srgbClr val="FFFFFF"/>
                    </a:solidFill>
                  </a:tcPr>
                </a:tc>
                <a:tc>
                  <a:txBody>
                    <a:bodyPr wrap="square"/>
                    <a:lstStyle/>
                    <a:p>
                      <a:pPr algn="ctr"/>
                      <a:r>
                        <a:rPr sz="1000" b="0" i="0">
                          <a:solidFill>
                            <a:srgbClr val="1E2430"/>
                          </a:solidFill>
                          <a:latin typeface="Calibri"/>
                        </a:rPr>
                        <a:t>100</a:t>
                      </a:r>
                    </a:p>
                  </a:txBody>
                  <a:tcPr marL="64008" marR="64008" marT="27432" marB="27432" anchor="ctr">
                    <a:solidFill>
                      <a:srgbClr val="FFFFFF"/>
                    </a:solidFill>
                  </a:tcPr>
                </a:tc>
                <a:tc>
                  <a:txBody>
                    <a:bodyPr wrap="square"/>
                    <a:lstStyle/>
                    <a:p>
                      <a:pPr algn="ctr"/>
                      <a:r>
                        <a:rPr sz="1000" b="0" i="0">
                          <a:solidFill>
                            <a:srgbClr val="1E2430"/>
                          </a:solidFill>
                          <a:latin typeface="Calibri"/>
                        </a:rPr>
                        <a:t>1.0000</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VGG16, EfficientNetB0, MobileNetV3-Large</a:t>
                      </a:r>
                    </a:p>
                  </a:txBody>
                  <a:tcPr marL="64008" marR="64008" marT="27432" marB="27432" anchor="ctr">
                    <a:solidFill>
                      <a:srgbClr val="F3F5F8"/>
                    </a:solidFill>
                  </a:tcPr>
                </a:tc>
                <a:tc>
                  <a:txBody>
                    <a:bodyPr wrap="square"/>
                    <a:lstStyle/>
                    <a:p>
                      <a:pPr algn="ctr"/>
                      <a:r>
                        <a:rPr sz="1000" b="0" i="0">
                          <a:solidFill>
                            <a:srgbClr val="1E2430"/>
                          </a:solidFill>
                          <a:latin typeface="Calibri"/>
                        </a:rPr>
                        <a:t>97.78 [93.33, 100]</a:t>
                      </a:r>
                    </a:p>
                  </a:txBody>
                  <a:tcPr marL="64008" marR="64008" marT="27432" marB="27432" anchor="ctr">
                    <a:solidFill>
                      <a:srgbClr val="F3F5F8"/>
                    </a:solidFill>
                  </a:tcPr>
                </a:tc>
                <a:tc>
                  <a:txBody>
                    <a:bodyPr wrap="square"/>
                    <a:lstStyle/>
                    <a:p>
                      <a:pPr algn="ctr"/>
                      <a:r>
                        <a:rPr sz="1000" b="0" i="0">
                          <a:solidFill>
                            <a:srgbClr val="1E2430"/>
                          </a:solidFill>
                          <a:latin typeface="Calibri"/>
                        </a:rPr>
                        <a:t>87.56</a:t>
                      </a:r>
                    </a:p>
                  </a:txBody>
                  <a:tcPr marL="64008" marR="64008" marT="27432" marB="27432" anchor="ctr">
                    <a:solidFill>
                      <a:srgbClr val="F3F5F8"/>
                    </a:solidFill>
                  </a:tcPr>
                </a:tc>
                <a:tc>
                  <a:txBody>
                    <a:bodyPr wrap="square"/>
                    <a:lstStyle/>
                    <a:p>
                      <a:pPr algn="ctr"/>
                      <a:r>
                        <a:rPr sz="1000" b="0" i="0">
                          <a:solidFill>
                            <a:srgbClr val="1E2430"/>
                          </a:solidFill>
                          <a:latin typeface="Calibri"/>
                        </a:rPr>
                        <a:t>0.9515</a:t>
                      </a:r>
                    </a:p>
                  </a:txBody>
                  <a:tcPr marL="64008" marR="64008" marT="27432" marB="27432" anchor="ctr">
                    <a:solidFill>
                      <a:srgbClr val="F3F5F8"/>
                    </a:solidFill>
                  </a:tcPr>
                </a:tc>
              </a:tr>
            </a:tbl>
          </a:graphicData>
        </a:graphic>
      </p:graphicFrame>
      <p:sp>
        <p:nvSpPr>
          <p:cNvPr id="26" name="TextBox 25"/>
          <p:cNvSpPr txBox="1"/>
          <p:nvPr/>
        </p:nvSpPr>
        <p:spPr>
          <a:xfrm>
            <a:off x="6446520" y="3886200"/>
            <a:ext cx="5193792" cy="3738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The single subtype error is a meningioma predicted as glioma; with one glioma among 45 test images, this test set cannot rank the models.</a:t>
            </a:r>
          </a:p>
        </p:txBody>
      </p:sp>
      <p:sp>
        <p:nvSpPr>
          <p:cNvPr id="27" name="Rectangle 26"/>
          <p:cNvSpPr/>
          <p:nvPr/>
        </p:nvSpPr>
        <p:spPr>
          <a:xfrm>
            <a:off x="6446520" y="4488688"/>
            <a:ext cx="5193792" cy="168351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11112" y="4653280"/>
            <a:ext cx="4864608" cy="1354328"/>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Calibration</a:t>
            </a:r>
          </a:p>
          <a:p>
            <a:pPr algn="l" marL="180594" indent="-180594">
              <a:lnSpc>
                <a:spcPct val="100000"/>
              </a:lnSpc>
              <a:spcAft>
                <a:spcPts val="400"/>
              </a:spcAft>
              <a:buClr>
                <a:srgbClr val="1F3A68"/>
              </a:buClr>
              <a:buFont typeface="Arial"/>
              <a:buChar char="•"/>
            </a:pPr>
            <a:r>
              <a:rPr sz="1100" b="0" i="0">
                <a:solidFill>
                  <a:srgbClr val="1E2430"/>
                </a:solidFill>
                <a:latin typeface="Calibri"/>
              </a:rPr>
              <a:t>ECE is 0.0146 to 0.0326 (detection) and 0.0044 to 0.0371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lowered ECE only for ResNet50 and ViT-B/16 (detection) and CoAtNet-0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Near-separable validation folds push the fitted temperature to its lower bound, e⁻³ ≈ 0.0498, which sharpens the test probabilities.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Interpretability and Shortcut Audit</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pic>
        <p:nvPicPr>
          <p:cNvPr id="8" name="Picture 7" descr="13_gradcam_efficientnetb0.png"/>
          <p:cNvPicPr>
            <a:picLocks noChangeAspect="1"/>
          </p:cNvPicPr>
          <p:nvPr/>
        </p:nvPicPr>
        <p:blipFill>
          <a:blip r:embed="rId2"/>
          <a:stretch>
            <a:fillRect/>
          </a:stretch>
        </p:blipFill>
        <p:spPr>
          <a:xfrm>
            <a:off x="548640" y="1234440"/>
            <a:ext cx="7498079" cy="2024809"/>
          </a:xfrm>
          <a:prstGeom prst="rect">
            <a:avLst/>
          </a:prstGeom>
        </p:spPr>
      </p:pic>
      <p:sp>
        <p:nvSpPr>
          <p:cNvPr id="9" name="Rectangle 8"/>
          <p:cNvSpPr/>
          <p:nvPr/>
        </p:nvSpPr>
        <p:spPr>
          <a:xfrm>
            <a:off x="8275319" y="1234440"/>
            <a:ext cx="3364992" cy="2024809"/>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9911" y="1399032"/>
            <a:ext cx="3035808" cy="1695625"/>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Where the models look</a:t>
            </a:r>
          </a:p>
          <a:p>
            <a:pPr algn="l" marL="180594" indent="-180594">
              <a:lnSpc>
                <a:spcPct val="100000"/>
              </a:lnSpc>
              <a:spcAft>
                <a:spcPts val="400"/>
              </a:spcAft>
              <a:buClr>
                <a:srgbClr val="1F3A68"/>
              </a:buClr>
              <a:buFont typeface="Arial"/>
              <a:buChar char="•"/>
            </a:pPr>
            <a:r>
              <a:rPr sz="1100" b="0" i="0">
                <a:solidFill>
                  <a:srgbClr val="1E2430"/>
                </a:solidFill>
                <a:latin typeface="Calibri"/>
              </a:rPr>
              <a:t>Grad-CAM [74]: correct tumour predictions peak on the lesion; a missed temporal lesion peaks at the lower border</a:t>
            </a:r>
          </a:p>
          <a:p>
            <a:pPr algn="l" marL="180594" indent="-180594">
              <a:lnSpc>
                <a:spcPct val="100000"/>
              </a:lnSpc>
              <a:spcAft>
                <a:spcPts val="400"/>
              </a:spcAft>
              <a:buClr>
                <a:srgbClr val="1F3A68"/>
              </a:buClr>
              <a:buFont typeface="Arial"/>
              <a:buChar char="•"/>
            </a:pPr>
            <a:r>
              <a:rPr sz="1100" b="0" i="0">
                <a:solidFill>
                  <a:srgbClr val="1E2430"/>
                </a:solidFill>
                <a:latin typeface="Calibri"/>
              </a:rPr>
              <a:t>ViT-B/16 attention rollout [76] puts 42.1% of its weight outside the head on tumour-negative images</a:t>
            </a:r>
          </a:p>
          <a:p>
            <a:pPr algn="l" marL="180594" indent="-180594">
              <a:lnSpc>
                <a:spcPct val="100000"/>
              </a:lnSpc>
              <a:spcAft>
                <a:spcPts val="400"/>
              </a:spcAft>
              <a:buClr>
                <a:srgbClr val="1F3A68"/>
              </a:buClr>
              <a:buFont typeface="Arial"/>
              <a:buChar char="•"/>
            </a:pPr>
            <a:r>
              <a:rPr sz="1100" b="0" i="0">
                <a:solidFill>
                  <a:srgbClr val="1E2430"/>
                </a:solidFill>
                <a:latin typeface="Calibri"/>
              </a:rPr>
              <a:t>Occlusion sensitivity [75] outside the head: 0.7% to 19.4% (detection)</a:t>
            </a:r>
          </a:p>
        </p:txBody>
      </p:sp>
      <p:graphicFrame>
        <p:nvGraphicFramePr>
          <p:cNvPr id="11" name="Chart 10"/>
          <p:cNvGraphicFramePr>
            <a:graphicFrameLocks noGrp="1"/>
          </p:cNvGraphicFramePr>
          <p:nvPr/>
        </p:nvGraphicFramePr>
        <p:xfrm>
          <a:off x="548640" y="3487849"/>
          <a:ext cx="7498079" cy="2684350"/>
        </p:xfrm>
        <a:graphic>
          <a:graphicData uri="http://schemas.openxmlformats.org/drawingml/2006/chart">
            <c:chart xmlns:c="http://schemas.openxmlformats.org/drawingml/2006/chart" r:id="rId3"/>
          </a:graphicData>
        </a:graphic>
      </p:graphicFrame>
      <p:sp>
        <p:nvSpPr>
          <p:cNvPr id="12" name="Rectangle 11"/>
          <p:cNvSpPr/>
          <p:nvPr/>
        </p:nvSpPr>
        <p:spPr>
          <a:xfrm>
            <a:off x="8275319" y="3487849"/>
            <a:ext cx="3364992" cy="268435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1" y="3652441"/>
            <a:ext cx="3035808" cy="2355166"/>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Masking and shortcut findings</a:t>
            </a:r>
          </a:p>
          <a:p>
            <a:pPr algn="l" marL="180594" indent="-180594">
              <a:lnSpc>
                <a:spcPct val="100000"/>
              </a:lnSpc>
              <a:spcAft>
                <a:spcPts val="400"/>
              </a:spcAft>
              <a:buClr>
                <a:srgbClr val="1F3A68"/>
              </a:buClr>
              <a:buFont typeface="Arial"/>
              <a:buChar char="•"/>
            </a:pPr>
            <a:r>
              <a:rPr sz="1100" b="0" i="0">
                <a:solidFill>
                  <a:srgbClr val="1E2430"/>
                </a:solidFill>
                <a:latin typeface="Calibri"/>
              </a:rPr>
              <a:t>Head-only inputs (Otsu head mask [95]) keep 93.7% to 96.8% (detection) and 94.2% to 99.6% (subtype) accuracy</a:t>
            </a:r>
          </a:p>
          <a:p>
            <a:pPr algn="l" marL="180594" indent="-180594">
              <a:lnSpc>
                <a:spcPct val="100000"/>
              </a:lnSpc>
              <a:spcAft>
                <a:spcPts val="400"/>
              </a:spcAft>
              <a:buClr>
                <a:srgbClr val="1F3A68"/>
              </a:buClr>
              <a:buFont typeface="Arial"/>
              <a:buChar char="•"/>
            </a:pPr>
            <a:r>
              <a:rPr sz="1100" b="0" i="0">
                <a:solidFill>
                  <a:srgbClr val="1E2430"/>
                </a:solidFill>
                <a:latin typeface="Calibri"/>
              </a:rPr>
              <a:t>Without the head: 44.4% to 53.3% (detection; InceptionV3 65.7%) and 11.6% to 33.8%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Retrained on background only, 7 of 9 detection and 9 of 9 subtype backbones beat the majority-class rate (binomial test, Holm) [71]; grey bars are not significant</a:t>
            </a:r>
          </a:p>
          <a:p>
            <a:pPr algn="l" marL="180594" indent="-180594">
              <a:lnSpc>
                <a:spcPct val="100000"/>
              </a:lnSpc>
              <a:spcAft>
                <a:spcPts val="400"/>
              </a:spcAft>
              <a:buClr>
                <a:srgbClr val="1F3A68"/>
              </a:buClr>
              <a:buFont typeface="Arial"/>
              <a:buChar char="•"/>
            </a:pPr>
            <a:r>
              <a:rPr sz="1100" b="1" i="0">
                <a:solidFill>
                  <a:srgbClr val="1E2430"/>
                </a:solidFill>
                <a:latin typeface="Calibri"/>
              </a:rPr>
              <a:t>Borders and framing carry label information, so high accuracy on these collections does not prove that pathology was learned.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Networks and Region-Adaptive Fusion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pic>
        <p:nvPicPr>
          <p:cNvPr id="8" name="Picture 7" descr="02_modalities_and_masks.png"/>
          <p:cNvPicPr>
            <a:picLocks noChangeAspect="1"/>
          </p:cNvPicPr>
          <p:nvPr/>
        </p:nvPicPr>
        <p:blipFill>
          <a:blip r:embed="rId2"/>
          <a:stretch>
            <a:fillRect/>
          </a:stretch>
        </p:blipFill>
        <p:spPr>
          <a:xfrm>
            <a:off x="548640" y="1234440"/>
            <a:ext cx="4343400" cy="1947779"/>
          </a:xfrm>
          <a:prstGeom prst="rect">
            <a:avLst/>
          </a:prstGeom>
        </p:spPr>
      </p:pic>
      <p:sp>
        <p:nvSpPr>
          <p:cNvPr id="9" name="TextBox 8"/>
          <p:cNvSpPr txBox="1"/>
          <p:nvPr/>
        </p:nvSpPr>
        <p:spPr>
          <a:xfrm>
            <a:off x="548640" y="3410819"/>
            <a:ext cx="4343400" cy="276138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BraTS 2020 [2, 49]: 369 cases (293 HGG, 76 LGG); split 257 / 56 / 56 by grade</a:t>
            </a:r>
          </a:p>
          <a:p>
            <a:pPr algn="l" marL="180594" indent="-180594">
              <a:lnSpc>
                <a:spcPct val="100000"/>
              </a:lnSpc>
              <a:spcAft>
                <a:spcPts val="400"/>
              </a:spcAft>
              <a:buClr>
                <a:srgbClr val="1F3A68"/>
              </a:buClr>
              <a:buFont typeface="Arial"/>
              <a:buChar char="•"/>
            </a:pPr>
            <a:r>
              <a:rPr sz="1100" b="0" i="0">
                <a:solidFill>
                  <a:srgbClr val="1E2430"/>
                </a:solidFill>
                <a:latin typeface="Calibri"/>
              </a:rPr>
              <a:t>BraTS-Africa [10]: 60 external cases, never used for training or selection</a:t>
            </a:r>
          </a:p>
          <a:p>
            <a:pPr algn="l" marL="180594" indent="-180594">
              <a:lnSpc>
                <a:spcPct val="100000"/>
              </a:lnSpc>
              <a:spcAft>
                <a:spcPts val="400"/>
              </a:spcAft>
              <a:buClr>
                <a:srgbClr val="1F3A68"/>
              </a:buClr>
              <a:buFont typeface="Arial"/>
              <a:buChar char="•"/>
            </a:pPr>
            <a:r>
              <a:rPr sz="1100" b="0" i="0">
                <a:solidFill>
                  <a:srgbClr val="1E2430"/>
                </a:solidFill>
                <a:latin typeface="Calibri"/>
              </a:rPr>
              <a:t>Nested regions: WT (all labels), TC (core and ET), ET; 27 of 76 LGG cases have no ET</a:t>
            </a:r>
          </a:p>
          <a:p>
            <a:pPr algn="l" marL="180594" indent="-180594">
              <a:lnSpc>
                <a:spcPct val="100000"/>
              </a:lnSpc>
              <a:spcAft>
                <a:spcPts val="400"/>
              </a:spcAft>
              <a:buClr>
                <a:srgbClr val="1F3A68"/>
              </a:buClr>
              <a:buFont typeface="Arial"/>
              <a:buChar char="•"/>
            </a:pPr>
            <a:r>
              <a:rPr sz="1100" b="0" i="0">
                <a:solidFill>
                  <a:srgbClr val="1E2430"/>
                </a:solidFill>
                <a:latin typeface="Calibri"/>
              </a:rPr>
              <a:t>Brain crop and foreground z-score at native 1 mm; 128³ patches, one third on tumour; rotation, scaling, mirroring, noise, brightness, contrast and gamma</a:t>
            </a:r>
          </a:p>
          <a:p>
            <a:pPr algn="l" marL="180594" indent="-180594">
              <a:lnSpc>
                <a:spcPct val="100000"/>
              </a:lnSpc>
              <a:spcAft>
                <a:spcPts val="400"/>
              </a:spcAft>
              <a:buClr>
                <a:srgbClr val="1F3A68"/>
              </a:buClr>
              <a:buFont typeface="Arial"/>
              <a:buChar char="•"/>
            </a:pPr>
            <a:r>
              <a:rPr sz="1100" b="0" i="0">
                <a:solidFill>
                  <a:srgbClr val="1E2430"/>
                </a:solidFill>
                <a:latin typeface="Calibri"/>
              </a:rPr>
              <a:t>Gaussian 128³ sliding windows with eight-flip TTA; ET size filter tuned on validation</a:t>
            </a:r>
          </a:p>
        </p:txBody>
      </p:sp>
      <p:graphicFrame>
        <p:nvGraphicFramePr>
          <p:cNvPr id="10" name="Table 9"/>
          <p:cNvGraphicFramePr>
            <a:graphicFrameLocks noGrp="1"/>
          </p:cNvGraphicFramePr>
          <p:nvPr/>
        </p:nvGraphicFramePr>
        <p:xfrm>
          <a:off x="5120640" y="1234440"/>
          <a:ext cx="6519672" cy="1536192"/>
        </p:xfrm>
        <a:graphic>
          <a:graphicData uri="http://schemas.openxmlformats.org/drawingml/2006/table">
            <a:tbl>
              <a:tblPr firstRow="0" bandRow="0">
                <a:tableStyleId>{5C22544A-7EE6-4342-B048-85BDC9FD1C3A}</a:tableStyleId>
              </a:tblPr>
              <a:tblGrid>
                <a:gridCol w="2103120"/>
                <a:gridCol w="868680"/>
                <a:gridCol w="2240280"/>
                <a:gridCol w="713232"/>
                <a:gridCol w="594360"/>
              </a:tblGrid>
              <a:tr h="384048">
                <a:tc>
                  <a:txBody>
                    <a:bodyPr wrap="square"/>
                    <a:lstStyle/>
                    <a:p>
                      <a:pPr algn="l"/>
                      <a:r>
                        <a:rPr sz="1000" b="1" i="0">
                          <a:solidFill>
                            <a:srgbClr val="FFFFFF"/>
                          </a:solidFill>
                          <a:latin typeface="Calibri"/>
                        </a:rPr>
                        <a:t>Network</a:t>
                      </a:r>
                    </a:p>
                  </a:txBody>
                  <a:tcPr marL="64008" marR="64008" marT="27432" marB="27432" anchor="ctr">
                    <a:solidFill>
                      <a:srgbClr val="1F3A68"/>
                    </a:solidFill>
                  </a:tcPr>
                </a:tc>
                <a:tc>
                  <a:txBody>
                    <a:bodyPr wrap="square"/>
                    <a:lstStyle/>
                    <a:p>
                      <a:pPr algn="l"/>
                      <a:r>
                        <a:rPr sz="1000" b="1" i="0">
                          <a:solidFill>
                            <a:srgbClr val="FFFFFF"/>
                          </a:solidFill>
                          <a:latin typeface="Calibri"/>
                        </a:rPr>
                        <a:t>Type</a:t>
                      </a:r>
                    </a:p>
                  </a:txBody>
                  <a:tcPr marL="64008" marR="64008" marT="27432" marB="27432" anchor="ctr">
                    <a:solidFill>
                      <a:srgbClr val="1F3A68"/>
                    </a:solidFill>
                  </a:tcPr>
                </a:tc>
                <a:tc>
                  <a:txBody>
                    <a:bodyPr wrap="square"/>
                    <a:lstStyle/>
                    <a:p>
                      <a:pPr algn="l"/>
                      <a:r>
                        <a:rPr sz="1000" b="1" i="0">
                          <a:solidFill>
                            <a:srgbClr val="FFFFFF"/>
                          </a:solidFill>
                          <a:latin typeface="Calibri"/>
                        </a:rPr>
                        <a:t>Design (MONAI 1.6.1)</a:t>
                      </a:r>
                    </a:p>
                  </a:txBody>
                  <a:tcPr marL="64008" marR="64008" marT="27432" marB="27432" anchor="ctr">
                    <a:solidFill>
                      <a:srgbClr val="1F3A68"/>
                    </a:solidFill>
                  </a:tcPr>
                </a:tc>
                <a:tc>
                  <a:txBody>
                    <a:bodyPr wrap="square"/>
                    <a:lstStyle/>
                    <a:p>
                      <a:pPr algn="ctr"/>
                      <a:r>
                        <a:rPr sz="100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00" b="1" i="0">
                          <a:solidFill>
                            <a:srgbClr val="FFFFFF"/>
                          </a:solidFill>
                          <a:latin typeface="Calibri"/>
                        </a:rPr>
                        <a:t>Epochs</a:t>
                      </a:r>
                    </a:p>
                  </a:txBody>
                  <a:tcPr marL="64008" marR="64008" marT="27432" marB="27432" anchor="ctr">
                    <a:solidFill>
                      <a:srgbClr val="1F3A68"/>
                    </a:solidFill>
                  </a:tcPr>
                </a:tc>
              </a:tr>
              <a:tr h="384048">
                <a:tc>
                  <a:txBody>
                    <a:bodyPr wrap="square"/>
                    <a:lstStyle/>
                    <a:p>
                      <a:pPr algn="l"/>
                      <a:r>
                        <a:rPr sz="1000" b="0" i="0">
                          <a:solidFill>
                            <a:srgbClr val="1E2430"/>
                          </a:solidFill>
                          <a:latin typeface="Calibri"/>
                        </a:rPr>
                        <a:t>nnU-Net [11]</a:t>
                      </a:r>
                    </a:p>
                  </a:txBody>
                  <a:tcPr marL="64008" marR="64008" marT="27432" marB="27432" anchor="ctr">
                    <a:solidFill>
                      <a:srgbClr val="FFFFFF"/>
                    </a:solidFill>
                  </a:tcPr>
                </a:tc>
                <a:tc>
                  <a:txBody>
                    <a:bodyPr wrap="square"/>
                    <a:lstStyle/>
                    <a:p>
                      <a:pPr algn="l"/>
                      <a:r>
                        <a:rPr sz="1000" b="0" i="0">
                          <a:solidFill>
                            <a:srgbClr val="1E2430"/>
                          </a:solidFill>
                          <a:latin typeface="Calibri"/>
                        </a:rPr>
                        <a:t>CNN</a:t>
                      </a:r>
                    </a:p>
                  </a:txBody>
                  <a:tcPr marL="64008" marR="64008" marT="27432" marB="27432" anchor="ctr">
                    <a:solidFill>
                      <a:srgbClr val="FFFFFF"/>
                    </a:solidFill>
                  </a:tcPr>
                </a:tc>
                <a:tc>
                  <a:txBody>
                    <a:bodyPr wrap="square"/>
                    <a:lstStyle/>
                    <a:p>
                      <a:pPr algn="l"/>
                      <a:r>
                        <a:rPr sz="1000" b="0" i="0">
                          <a:solidFill>
                            <a:srgbClr val="1E2430"/>
                          </a:solidFill>
                          <a:latin typeface="Calibri"/>
                        </a:rPr>
                        <a:t>Residual DynUNet, 6 stages, 32 to 320 ch.</a:t>
                      </a:r>
                    </a:p>
                  </a:txBody>
                  <a:tcPr marL="64008" marR="64008" marT="27432" marB="27432" anchor="ctr">
                    <a:solidFill>
                      <a:srgbClr val="FFFFFF"/>
                    </a:solidFill>
                  </a:tcPr>
                </a:tc>
                <a:tc>
                  <a:txBody>
                    <a:bodyPr wrap="square"/>
                    <a:lstStyle/>
                    <a:p>
                      <a:pPr algn="ctr"/>
                      <a:r>
                        <a:rPr sz="1000" b="0" i="0">
                          <a:solidFill>
                            <a:srgbClr val="1E2430"/>
                          </a:solidFill>
                          <a:latin typeface="Calibri"/>
                        </a:rPr>
                        <a:t>31.42</a:t>
                      </a:r>
                    </a:p>
                  </a:txBody>
                  <a:tcPr marL="64008" marR="64008" marT="27432" marB="27432" anchor="ctr">
                    <a:solidFill>
                      <a:srgbClr val="FFFFFF"/>
                    </a:solidFill>
                  </a:tcPr>
                </a:tc>
                <a:tc>
                  <a:txBody>
                    <a:bodyPr wrap="square"/>
                    <a:lstStyle/>
                    <a:p>
                      <a:pPr algn="ctr"/>
                      <a:r>
                        <a:rPr sz="1000" b="0" i="0">
                          <a:solidFill>
                            <a:srgbClr val="1E2430"/>
                          </a:solidFill>
                          <a:latin typeface="Calibri"/>
                        </a:rPr>
                        <a:t>60</a:t>
                      </a:r>
                    </a:p>
                  </a:txBody>
                  <a:tcPr marL="64008" marR="64008" marT="27432" marB="27432" anchor="ctr">
                    <a:solidFill>
                      <a:srgbClr val="FFFFFF"/>
                    </a:solidFill>
                  </a:tcPr>
                </a:tc>
              </a:tr>
              <a:tr h="384048">
                <a:tc>
                  <a:txBody>
                    <a:bodyPr wrap="square"/>
                    <a:lstStyle/>
                    <a:p>
                      <a:pPr algn="l"/>
                      <a:r>
                        <a:rPr sz="1000" b="0" i="0">
                          <a:solidFill>
                            <a:srgbClr val="1E2430"/>
                          </a:solidFill>
                          <a:latin typeface="Calibri"/>
                        </a:rPr>
                        <a:t>SegResNet [12]</a:t>
                      </a:r>
                    </a:p>
                  </a:txBody>
                  <a:tcPr marL="64008" marR="64008" marT="27432" marB="27432" anchor="ctr">
                    <a:solidFill>
                      <a:srgbClr val="E6EBF2"/>
                    </a:solidFill>
                  </a:tcPr>
                </a:tc>
                <a:tc>
                  <a:txBody>
                    <a:bodyPr wrap="square"/>
                    <a:lstStyle/>
                    <a:p>
                      <a:pPr algn="l"/>
                      <a:r>
                        <a:rPr sz="1000" b="0" i="0">
                          <a:solidFill>
                            <a:srgbClr val="1E2430"/>
                          </a:solidFill>
                          <a:latin typeface="Calibri"/>
                        </a:rPr>
                        <a:t>CNN</a:t>
                      </a:r>
                    </a:p>
                  </a:txBody>
                  <a:tcPr marL="64008" marR="64008" marT="27432" marB="27432" anchor="ctr">
                    <a:solidFill>
                      <a:srgbClr val="E6EBF2"/>
                    </a:solidFill>
                  </a:tcPr>
                </a:tc>
                <a:tc>
                  <a:txBody>
                    <a:bodyPr wrap="square"/>
                    <a:lstStyle/>
                    <a:p>
                      <a:pPr algn="l"/>
                      <a:r>
                        <a:rPr sz="1000" b="0" i="0">
                          <a:solidFill>
                            <a:srgbClr val="1E2430"/>
                          </a:solidFill>
                          <a:latin typeface="Calibri"/>
                        </a:rPr>
                        <a:t>SegResNetDS, 32 filters, blocks 1-2-2-4</a:t>
                      </a:r>
                    </a:p>
                  </a:txBody>
                  <a:tcPr marL="64008" marR="64008" marT="27432" marB="27432" anchor="ctr">
                    <a:solidFill>
                      <a:srgbClr val="E6EBF2"/>
                    </a:solidFill>
                  </a:tcPr>
                </a:tc>
                <a:tc>
                  <a:txBody>
                    <a:bodyPr wrap="square"/>
                    <a:lstStyle/>
                    <a:p>
                      <a:pPr algn="ctr"/>
                      <a:r>
                        <a:rPr sz="1000" b="0" i="0">
                          <a:solidFill>
                            <a:srgbClr val="1E2430"/>
                          </a:solidFill>
                          <a:latin typeface="Calibri"/>
                        </a:rPr>
                        <a:t>19.92</a:t>
                      </a:r>
                    </a:p>
                  </a:txBody>
                  <a:tcPr marL="64008" marR="64008" marT="27432" marB="27432" anchor="ctr">
                    <a:solidFill>
                      <a:srgbClr val="E6EBF2"/>
                    </a:solidFill>
                  </a:tcPr>
                </a:tc>
                <a:tc>
                  <a:txBody>
                    <a:bodyPr wrap="square"/>
                    <a:lstStyle/>
                    <a:p>
                      <a:pPr algn="ctr"/>
                      <a:r>
                        <a:rPr sz="1000" b="0" i="0">
                          <a:solidFill>
                            <a:srgbClr val="1E2430"/>
                          </a:solidFill>
                          <a:latin typeface="Calibri"/>
                        </a:rPr>
                        <a:t>60</a:t>
                      </a:r>
                    </a:p>
                  </a:txBody>
                  <a:tcPr marL="64008" marR="64008" marT="27432" marB="27432" anchor="ctr">
                    <a:solidFill>
                      <a:srgbClr val="E6EBF2"/>
                    </a:solidFill>
                  </a:tcPr>
                </a:tc>
              </a:tr>
              <a:tr h="384048">
                <a:tc>
                  <a:txBody>
                    <a:bodyPr wrap="square"/>
                    <a:lstStyle/>
                    <a:p>
                      <a:pPr algn="l"/>
                      <a:r>
                        <a:rPr sz="1000" b="0" i="0">
                          <a:solidFill>
                            <a:srgbClr val="1E2430"/>
                          </a:solidFill>
                          <a:latin typeface="Calibri"/>
                        </a:rPr>
                        <a:t>Swin UNETR-v2 [13, 53]</a:t>
                      </a:r>
                    </a:p>
                  </a:txBody>
                  <a:tcPr marL="64008" marR="64008" marT="27432" marB="27432" anchor="ctr">
                    <a:solidFill>
                      <a:srgbClr val="FFFFFF"/>
                    </a:solidFill>
                  </a:tcPr>
                </a:tc>
                <a:tc>
                  <a:txBody>
                    <a:bodyPr wrap="square"/>
                    <a:lstStyle/>
                    <a:p>
                      <a:pPr algn="l"/>
                      <a:r>
                        <a:rPr sz="1000" b="0" i="0">
                          <a:solidFill>
                            <a:srgbClr val="1E2430"/>
                          </a:solidFill>
                          <a:latin typeface="Calibri"/>
                        </a:rPr>
                        <a:t>Transformer</a:t>
                      </a:r>
                    </a:p>
                  </a:txBody>
                  <a:tcPr marL="64008" marR="64008" marT="27432" marB="27432" anchor="ctr">
                    <a:solidFill>
                      <a:srgbClr val="FFFFFF"/>
                    </a:solidFill>
                  </a:tcPr>
                </a:tc>
                <a:tc>
                  <a:txBody>
                    <a:bodyPr wrap="square"/>
                    <a:lstStyle/>
                    <a:p>
                      <a:pPr algn="l"/>
                      <a:r>
                        <a:rPr sz="1000" b="0" i="0">
                          <a:solidFill>
                            <a:srgbClr val="1E2430"/>
                          </a:solidFill>
                          <a:latin typeface="Calibri"/>
                        </a:rPr>
                        <a:t>Swin encoder, feature size 48</a:t>
                      </a:r>
                    </a:p>
                  </a:txBody>
                  <a:tcPr marL="64008" marR="64008" marT="27432" marB="27432" anchor="ctr">
                    <a:solidFill>
                      <a:srgbClr val="FFFFFF"/>
                    </a:solidFill>
                  </a:tcPr>
                </a:tc>
                <a:tc>
                  <a:txBody>
                    <a:bodyPr wrap="square"/>
                    <a:lstStyle/>
                    <a:p>
                      <a:pPr algn="ctr"/>
                      <a:r>
                        <a:rPr sz="1000" b="0" i="0">
                          <a:solidFill>
                            <a:srgbClr val="1E2430"/>
                          </a:solidFill>
                          <a:latin typeface="Calibri"/>
                        </a:rPr>
                        <a:t>72.77</a:t>
                      </a:r>
                    </a:p>
                  </a:txBody>
                  <a:tcPr marL="64008" marR="64008" marT="27432" marB="27432" anchor="ctr">
                    <a:solidFill>
                      <a:srgbClr val="FFFFFF"/>
                    </a:solidFill>
                  </a:tcPr>
                </a:tc>
                <a:tc>
                  <a:txBody>
                    <a:bodyPr wrap="square"/>
                    <a:lstStyle/>
                    <a:p>
                      <a:pPr algn="ctr"/>
                      <a:r>
                        <a:rPr sz="1000" b="0" i="0">
                          <a:solidFill>
                            <a:srgbClr val="1E2430"/>
                          </a:solidFill>
                          <a:latin typeface="Calibri"/>
                        </a:rPr>
                        <a:t>30</a:t>
                      </a:r>
                    </a:p>
                  </a:txBody>
                  <a:tcPr marL="64008" marR="64008" marT="27432" marB="27432" anchor="ctr">
                    <a:solidFill>
                      <a:srgbClr val="FFFFFF"/>
                    </a:solidFill>
                  </a:tcPr>
                </a:tc>
              </a:tr>
            </a:tbl>
          </a:graphicData>
        </a:graphic>
      </p:graphicFrame>
      <p:sp>
        <p:nvSpPr>
          <p:cNvPr id="11" name="Rectangle 10"/>
          <p:cNvSpPr/>
          <p:nvPr/>
        </p:nvSpPr>
        <p:spPr>
          <a:xfrm>
            <a:off x="5120640" y="2999232"/>
            <a:ext cx="6519672" cy="16449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85231" y="3163824"/>
            <a:ext cx="6190488" cy="13157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Region-adaptive hybrid ensemble</a:t>
            </a:r>
          </a:p>
          <a:p>
            <a:pPr algn="l" marL="180594" indent="-180594">
              <a:lnSpc>
                <a:spcPct val="100000"/>
              </a:lnSpc>
              <a:spcAft>
                <a:spcPts val="400"/>
              </a:spcAft>
              <a:buClr>
                <a:srgbClr val="1F3A68"/>
              </a:buClr>
              <a:buFont typeface="Arial"/>
              <a:buChar char="•"/>
            </a:pPr>
            <a:r>
              <a:rPr sz="1100" b="0" i="0">
                <a:solidFill>
                  <a:srgbClr val="1E2430"/>
                </a:solidFill>
                <a:latin typeface="Calibri"/>
              </a:rPr>
              <a:t>For each region, a convex weight vector over the three networks (0.1 grid) and a threshold (0.3 to 0.7) maximise validation Dice</a:t>
            </a:r>
          </a:p>
          <a:p>
            <a:pPr algn="l" marL="180594" indent="-180594">
              <a:lnSpc>
                <a:spcPct val="100000"/>
              </a:lnSpc>
              <a:spcAft>
                <a:spcPts val="400"/>
              </a:spcAft>
              <a:buClr>
                <a:srgbClr val="1F3A68"/>
              </a:buClr>
              <a:buFont typeface="Arial"/>
              <a:buChar char="•"/>
            </a:pPr>
            <a:r>
              <a:rPr sz="1100" b="0" i="0">
                <a:solidFill>
                  <a:srgbClr val="1E2430"/>
                </a:solidFill>
                <a:latin typeface="Calibri"/>
              </a:rPr>
              <a:t>Selected: WT 0.4 nnU-Net + 0.6 SegResNet (threshold 0.4); TC 0.4 / 0.5 / 0.1 Swin (0.3); ET 0.5 / 0.5 (0.4)</a:t>
            </a:r>
          </a:p>
          <a:p>
            <a:pPr algn="l" marL="180594" indent="-180594">
              <a:lnSpc>
                <a:spcPct val="100000"/>
              </a:lnSpc>
              <a:spcAft>
                <a:spcPts val="400"/>
              </a:spcAft>
              <a:buClr>
                <a:srgbClr val="1F3A68"/>
              </a:buClr>
              <a:buFont typeface="Arial"/>
              <a:buChar char="•"/>
            </a:pPr>
            <a:r>
              <a:rPr sz="1100" b="0" i="0">
                <a:solidFill>
                  <a:srgbClr val="1E2430"/>
                </a:solidFill>
                <a:latin typeface="Calibri"/>
              </a:rPr>
              <a:t>Ablations: each network, mean of all, mean of the CNNs, the weights at threshold 0.5</a:t>
            </a:r>
          </a:p>
          <a:p>
            <a:pPr algn="l" marL="180594" indent="-180594">
              <a:lnSpc>
                <a:spcPct val="100000"/>
              </a:lnSpc>
              <a:spcAft>
                <a:spcPts val="400"/>
              </a:spcAft>
              <a:buClr>
                <a:srgbClr val="1F3A68"/>
              </a:buClr>
              <a:buFont typeface="Arial"/>
              <a:buChar char="•"/>
            </a:pPr>
            <a:r>
              <a:rPr sz="1100" b="0" i="0">
                <a:solidFill>
                  <a:srgbClr val="1E2430"/>
                </a:solidFill>
                <a:latin typeface="Calibri"/>
              </a:rPr>
              <a:t>Soft Dice plus cross-entropy with deep supervision; 528 minutes of training on two Tesla T4 GPUs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Internal and External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Table 7"/>
          <p:cNvGraphicFramePr>
            <a:graphicFrameLocks noGrp="1"/>
          </p:cNvGraphicFramePr>
          <p:nvPr/>
        </p:nvGraphicFramePr>
        <p:xfrm>
          <a:off x="548640" y="1234440"/>
          <a:ext cx="7452360" cy="2112264"/>
        </p:xfrm>
        <a:graphic>
          <a:graphicData uri="http://schemas.openxmlformats.org/drawingml/2006/table">
            <a:tbl>
              <a:tblPr firstRow="0" bandRow="0">
                <a:tableStyleId>{5C22544A-7EE6-4342-B048-85BDC9FD1C3A}</a:tableStyleId>
              </a:tblPr>
              <a:tblGrid>
                <a:gridCol w="1371600"/>
                <a:gridCol w="1783080"/>
                <a:gridCol w="603504"/>
                <a:gridCol w="603504"/>
                <a:gridCol w="603504"/>
                <a:gridCol w="2487168"/>
              </a:tblGrid>
              <a:tr h="301752">
                <a:tc>
                  <a:txBody>
                    <a:bodyPr wrap="square"/>
                    <a:lstStyle/>
                    <a:p>
                      <a:pPr algn="l"/>
                      <a:r>
                        <a:rPr sz="1050" b="1" i="0">
                          <a:solidFill>
                            <a:srgbClr val="FFFFFF"/>
                          </a:solidFill>
                          <a:latin typeface="Calibri"/>
                        </a:rPr>
                        <a:t>Model</a:t>
                      </a:r>
                    </a:p>
                  </a:txBody>
                  <a:tcPr marL="64008" marR="64008" marT="27432" marB="27432" anchor="ctr">
                    <a:solidFill>
                      <a:srgbClr val="1F3A68"/>
                    </a:solidFill>
                  </a:tcPr>
                </a:tc>
                <a:tc>
                  <a:txBody>
                    <a:bodyPr wrap="square"/>
                    <a:lstStyle/>
                    <a:p>
                      <a:pPr algn="ctr"/>
                      <a:r>
                        <a:rPr sz="1050" b="1" i="0">
                          <a:solidFill>
                            <a:srgbClr val="FFFFFF"/>
                          </a:solidFill>
                          <a:latin typeface="Calibri"/>
                        </a:rPr>
                        <a:t>Internal mean Dice [95% CI]</a:t>
                      </a:r>
                    </a:p>
                  </a:txBody>
                  <a:tcPr marL="64008" marR="64008" marT="27432" marB="27432" anchor="ctr">
                    <a:solidFill>
                      <a:srgbClr val="1F3A68"/>
                    </a:solidFill>
                  </a:tcPr>
                </a:tc>
                <a:tc>
                  <a:txBody>
                    <a:bodyPr wrap="square"/>
                    <a:lstStyle/>
                    <a:p>
                      <a:pPr algn="ctr"/>
                      <a:r>
                        <a:rPr sz="1050" b="1" i="0">
                          <a:solidFill>
                            <a:srgbClr val="FFFFFF"/>
                          </a:solidFill>
                          <a:latin typeface="Calibri"/>
                        </a:rPr>
                        <a:t>WT</a:t>
                      </a:r>
                    </a:p>
                  </a:txBody>
                  <a:tcPr marL="64008" marR="64008" marT="27432" marB="27432" anchor="ctr">
                    <a:solidFill>
                      <a:srgbClr val="1F3A68"/>
                    </a:solidFill>
                  </a:tcPr>
                </a:tc>
                <a:tc>
                  <a:txBody>
                    <a:bodyPr wrap="square"/>
                    <a:lstStyle/>
                    <a:p>
                      <a:pPr algn="ctr"/>
                      <a:r>
                        <a:rPr sz="1050" b="1" i="0">
                          <a:solidFill>
                            <a:srgbClr val="FFFFFF"/>
                          </a:solidFill>
                          <a:latin typeface="Calibri"/>
                        </a:rPr>
                        <a:t>TC</a:t>
                      </a:r>
                    </a:p>
                  </a:txBody>
                  <a:tcPr marL="64008" marR="64008" marT="27432" marB="27432" anchor="ctr">
                    <a:solidFill>
                      <a:srgbClr val="1F3A68"/>
                    </a:solidFill>
                  </a:tcPr>
                </a:tc>
                <a:tc>
                  <a:txBody>
                    <a:bodyPr wrap="square"/>
                    <a:lstStyle/>
                    <a:p>
                      <a:pPr algn="ctr"/>
                      <a:r>
                        <a:rPr sz="1050" b="1" i="0">
                          <a:solidFill>
                            <a:srgbClr val="FFFFFF"/>
                          </a:solidFill>
                          <a:latin typeface="Calibri"/>
                        </a:rPr>
                        <a:t>ET</a:t>
                      </a:r>
                    </a:p>
                  </a:txBody>
                  <a:tcPr marL="64008" marR="64008" marT="27432" marB="27432" anchor="ctr">
                    <a:solidFill>
                      <a:srgbClr val="1F3A68"/>
                    </a:solidFill>
                  </a:tcPr>
                </a:tc>
                <a:tc>
                  <a:txBody>
                    <a:bodyPr wrap="square"/>
                    <a:lstStyle/>
                    <a:p>
                      <a:pPr algn="ctr"/>
                      <a:r>
                        <a:rPr sz="1050" b="1" i="0">
                          <a:solidFill>
                            <a:srgbClr val="FFFFFF"/>
                          </a:solidFill>
                          <a:latin typeface="Calibri"/>
                        </a:rPr>
                        <a:t>External mean Dice [95% CI]</a:t>
                      </a:r>
                    </a:p>
                  </a:txBody>
                  <a:tcPr marL="64008" marR="64008" marT="27432" marB="27432" anchor="ctr">
                    <a:solidFill>
                      <a:srgbClr val="1F3A68"/>
                    </a:solidFill>
                  </a:tcPr>
                </a:tc>
              </a:tr>
              <a:tr h="301752">
                <a:tc>
                  <a:txBody>
                    <a:bodyPr wrap="square"/>
                    <a:lstStyle/>
                    <a:p>
                      <a:pPr algn="l"/>
                      <a:r>
                        <a:rPr sz="1050" b="0" i="0">
                          <a:solidFill>
                            <a:srgbClr val="1E2430"/>
                          </a:solidFill>
                          <a:latin typeface="Calibri"/>
                        </a:rPr>
                        <a:t>nnU-Net</a:t>
                      </a:r>
                    </a:p>
                  </a:txBody>
                  <a:tcPr marL="64008" marR="64008" marT="27432" marB="27432" anchor="ctr">
                    <a:solidFill>
                      <a:srgbClr val="FFFFFF"/>
                    </a:solidFill>
                  </a:tcPr>
                </a:tc>
                <a:tc>
                  <a:txBody>
                    <a:bodyPr wrap="square"/>
                    <a:lstStyle/>
                    <a:p>
                      <a:pPr algn="ctr"/>
                      <a:r>
                        <a:rPr sz="1050" b="0" i="0">
                          <a:solidFill>
                            <a:srgbClr val="1E2430"/>
                          </a:solidFill>
                          <a:latin typeface="Calibri"/>
                        </a:rPr>
                        <a:t>0.8404 [0.8008, 0.8760]</a:t>
                      </a:r>
                    </a:p>
                  </a:txBody>
                  <a:tcPr marL="64008" marR="64008" marT="27432" marB="27432" anchor="ctr">
                    <a:solidFill>
                      <a:srgbClr val="FFFFFF"/>
                    </a:solidFill>
                  </a:tcPr>
                </a:tc>
                <a:tc>
                  <a:txBody>
                    <a:bodyPr wrap="square"/>
                    <a:lstStyle/>
                    <a:p>
                      <a:pPr algn="ctr"/>
                      <a:r>
                        <a:rPr sz="1050" b="0" i="0">
                          <a:solidFill>
                            <a:srgbClr val="1E2430"/>
                          </a:solidFill>
                          <a:latin typeface="Calibri"/>
                        </a:rPr>
                        <a:t>0.9139</a:t>
                      </a:r>
                    </a:p>
                  </a:txBody>
                  <a:tcPr marL="64008" marR="64008" marT="27432" marB="27432" anchor="ctr">
                    <a:solidFill>
                      <a:srgbClr val="FFFFFF"/>
                    </a:solidFill>
                  </a:tcPr>
                </a:tc>
                <a:tc>
                  <a:txBody>
                    <a:bodyPr wrap="square"/>
                    <a:lstStyle/>
                    <a:p>
                      <a:pPr algn="ctr"/>
                      <a:r>
                        <a:rPr sz="1050" b="0" i="0">
                          <a:solidFill>
                            <a:srgbClr val="1E2430"/>
                          </a:solidFill>
                          <a:latin typeface="Calibri"/>
                        </a:rPr>
                        <a:t>0.8493</a:t>
                      </a:r>
                    </a:p>
                  </a:txBody>
                  <a:tcPr marL="64008" marR="64008" marT="27432" marB="27432" anchor="ctr">
                    <a:solidFill>
                      <a:srgbClr val="FFFFFF"/>
                    </a:solidFill>
                  </a:tcPr>
                </a:tc>
                <a:tc>
                  <a:txBody>
                    <a:bodyPr wrap="square"/>
                    <a:lstStyle/>
                    <a:p>
                      <a:pPr algn="ctr"/>
                      <a:r>
                        <a:rPr sz="1050" b="0" i="0">
                          <a:solidFill>
                            <a:srgbClr val="1E2430"/>
                          </a:solidFill>
                          <a:latin typeface="Calibri"/>
                        </a:rPr>
                        <a:t>0.7580</a:t>
                      </a:r>
                    </a:p>
                  </a:txBody>
                  <a:tcPr marL="64008" marR="64008" marT="27432" marB="27432" anchor="ctr">
                    <a:solidFill>
                      <a:srgbClr val="FFFFFF"/>
                    </a:solidFill>
                  </a:tcPr>
                </a:tc>
                <a:tc>
                  <a:txBody>
                    <a:bodyPr wrap="square"/>
                    <a:lstStyle/>
                    <a:p>
                      <a:pPr algn="ctr"/>
                      <a:r>
                        <a:rPr sz="1050" b="0" i="0">
                          <a:solidFill>
                            <a:srgbClr val="1E2430"/>
                          </a:solidFill>
                          <a:latin typeface="Calibri"/>
                        </a:rPr>
                        <a:t>0.7765 [0.7224, 0.8203]</a:t>
                      </a:r>
                    </a:p>
                  </a:txBody>
                  <a:tcPr marL="64008" marR="64008" marT="27432" marB="27432" anchor="ctr">
                    <a:solidFill>
                      <a:srgbClr val="FFFFFF"/>
                    </a:solidFill>
                  </a:tcPr>
                </a:tc>
              </a:tr>
              <a:tr h="301752">
                <a:tc>
                  <a:txBody>
                    <a:bodyPr wrap="square"/>
                    <a:lstStyle/>
                    <a:p>
                      <a:pPr algn="l"/>
                      <a:r>
                        <a:rPr sz="1050" b="1" i="0">
                          <a:solidFill>
                            <a:srgbClr val="1E2430"/>
                          </a:solidFill>
                          <a:latin typeface="Calibri"/>
                        </a:rPr>
                        <a:t>SegResNet</a:t>
                      </a:r>
                    </a:p>
                  </a:txBody>
                  <a:tcPr marL="64008" marR="64008" marT="27432" marB="27432" anchor="ctr">
                    <a:solidFill>
                      <a:srgbClr val="F3F5F8"/>
                    </a:solidFill>
                  </a:tcPr>
                </a:tc>
                <a:tc>
                  <a:txBody>
                    <a:bodyPr wrap="square"/>
                    <a:lstStyle/>
                    <a:p>
                      <a:pPr algn="ctr"/>
                      <a:r>
                        <a:rPr sz="1050" b="1" i="0">
                          <a:solidFill>
                            <a:srgbClr val="1E2430"/>
                          </a:solidFill>
                          <a:latin typeface="Calibri"/>
                        </a:rPr>
                        <a:t>0.8717 [0.8389, 0.8987]</a:t>
                      </a:r>
                    </a:p>
                  </a:txBody>
                  <a:tcPr marL="64008" marR="64008" marT="27432" marB="27432" anchor="ctr">
                    <a:solidFill>
                      <a:srgbClr val="F3F5F8"/>
                    </a:solidFill>
                  </a:tcPr>
                </a:tc>
                <a:tc>
                  <a:txBody>
                    <a:bodyPr wrap="square"/>
                    <a:lstStyle/>
                    <a:p>
                      <a:pPr algn="ctr"/>
                      <a:r>
                        <a:rPr sz="1050" b="1" i="0">
                          <a:solidFill>
                            <a:srgbClr val="1E2430"/>
                          </a:solidFill>
                          <a:latin typeface="Calibri"/>
                        </a:rPr>
                        <a:t>0.9264</a:t>
                      </a:r>
                    </a:p>
                  </a:txBody>
                  <a:tcPr marL="64008" marR="64008" marT="27432" marB="27432" anchor="ctr">
                    <a:solidFill>
                      <a:srgbClr val="F3F5F8"/>
                    </a:solidFill>
                  </a:tcPr>
                </a:tc>
                <a:tc>
                  <a:txBody>
                    <a:bodyPr wrap="square"/>
                    <a:lstStyle/>
                    <a:p>
                      <a:pPr algn="ctr"/>
                      <a:r>
                        <a:rPr sz="1050" b="1" i="0">
                          <a:solidFill>
                            <a:srgbClr val="1E2430"/>
                          </a:solidFill>
                          <a:latin typeface="Calibri"/>
                        </a:rPr>
                        <a:t>0.8791</a:t>
                      </a:r>
                    </a:p>
                  </a:txBody>
                  <a:tcPr marL="64008" marR="64008" marT="27432" marB="27432" anchor="ctr">
                    <a:solidFill>
                      <a:srgbClr val="F3F5F8"/>
                    </a:solidFill>
                  </a:tcPr>
                </a:tc>
                <a:tc>
                  <a:txBody>
                    <a:bodyPr wrap="square"/>
                    <a:lstStyle/>
                    <a:p>
                      <a:pPr algn="ctr"/>
                      <a:r>
                        <a:rPr sz="1050" b="1" i="0">
                          <a:solidFill>
                            <a:srgbClr val="1E2430"/>
                          </a:solidFill>
                          <a:latin typeface="Calibri"/>
                        </a:rPr>
                        <a:t>0.8095</a:t>
                      </a:r>
                    </a:p>
                  </a:txBody>
                  <a:tcPr marL="64008" marR="64008" marT="27432" marB="27432" anchor="ctr">
                    <a:solidFill>
                      <a:srgbClr val="F3F5F8"/>
                    </a:solidFill>
                  </a:tcPr>
                </a:tc>
                <a:tc>
                  <a:txBody>
                    <a:bodyPr wrap="square"/>
                    <a:lstStyle/>
                    <a:p>
                      <a:pPr algn="ctr"/>
                      <a:r>
                        <a:rPr sz="1050" b="1" i="0">
                          <a:solidFill>
                            <a:srgbClr val="1E2430"/>
                          </a:solidFill>
                          <a:latin typeface="Calibri"/>
                        </a:rPr>
                        <a:t>0.7967 [0.7417, 0.8400]</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Swin UNETR-v2</a:t>
                      </a:r>
                    </a:p>
                  </a:txBody>
                  <a:tcPr marL="64008" marR="64008" marT="27432" marB="27432" anchor="ctr">
                    <a:solidFill>
                      <a:srgbClr val="FFFFFF"/>
                    </a:solidFill>
                  </a:tcPr>
                </a:tc>
                <a:tc>
                  <a:txBody>
                    <a:bodyPr wrap="square"/>
                    <a:lstStyle/>
                    <a:p>
                      <a:pPr algn="ctr"/>
                      <a:r>
                        <a:rPr sz="1050" b="0" i="0">
                          <a:solidFill>
                            <a:srgbClr val="1E2430"/>
                          </a:solidFill>
                          <a:latin typeface="Calibri"/>
                        </a:rPr>
                        <a:t>0.8360 [0.7923, 0.8742]</a:t>
                      </a:r>
                    </a:p>
                  </a:txBody>
                  <a:tcPr marL="64008" marR="64008" marT="27432" marB="27432" anchor="ctr">
                    <a:solidFill>
                      <a:srgbClr val="FFFFFF"/>
                    </a:solidFill>
                  </a:tcPr>
                </a:tc>
                <a:tc>
                  <a:txBody>
                    <a:bodyPr wrap="square"/>
                    <a:lstStyle/>
                    <a:p>
                      <a:pPr algn="ctr"/>
                      <a:r>
                        <a:rPr sz="1050" b="0" i="0">
                          <a:solidFill>
                            <a:srgbClr val="1E2430"/>
                          </a:solidFill>
                          <a:latin typeface="Calibri"/>
                        </a:rPr>
                        <a:t>0.9162</a:t>
                      </a:r>
                    </a:p>
                  </a:txBody>
                  <a:tcPr marL="64008" marR="64008" marT="27432" marB="27432" anchor="ctr">
                    <a:solidFill>
                      <a:srgbClr val="FFFFFF"/>
                    </a:solidFill>
                  </a:tcPr>
                </a:tc>
                <a:tc>
                  <a:txBody>
                    <a:bodyPr wrap="square"/>
                    <a:lstStyle/>
                    <a:p>
                      <a:pPr algn="ctr"/>
                      <a:r>
                        <a:rPr sz="1050" b="0" i="0">
                          <a:solidFill>
                            <a:srgbClr val="1E2430"/>
                          </a:solidFill>
                          <a:latin typeface="Calibri"/>
                        </a:rPr>
                        <a:t>0.8427</a:t>
                      </a:r>
                    </a:p>
                  </a:txBody>
                  <a:tcPr marL="64008" marR="64008" marT="27432" marB="27432" anchor="ctr">
                    <a:solidFill>
                      <a:srgbClr val="FFFFFF"/>
                    </a:solidFill>
                  </a:tcPr>
                </a:tc>
                <a:tc>
                  <a:txBody>
                    <a:bodyPr wrap="square"/>
                    <a:lstStyle/>
                    <a:p>
                      <a:pPr algn="ctr"/>
                      <a:r>
                        <a:rPr sz="1050" b="0" i="0">
                          <a:solidFill>
                            <a:srgbClr val="1E2430"/>
                          </a:solidFill>
                          <a:latin typeface="Calibri"/>
                        </a:rPr>
                        <a:t>0.7490</a:t>
                      </a:r>
                    </a:p>
                  </a:txBody>
                  <a:tcPr marL="64008" marR="64008" marT="27432" marB="27432" anchor="ctr">
                    <a:solidFill>
                      <a:srgbClr val="FFFFFF"/>
                    </a:solidFill>
                  </a:tcPr>
                </a:tc>
                <a:tc>
                  <a:txBody>
                    <a:bodyPr wrap="square"/>
                    <a:lstStyle/>
                    <a:p>
                      <a:pPr algn="ctr"/>
                      <a:r>
                        <a:rPr sz="1050" b="0" i="0">
                          <a:solidFill>
                            <a:srgbClr val="1E2430"/>
                          </a:solidFill>
                          <a:latin typeface="Calibri"/>
                        </a:rPr>
                        <a:t>0.7888 [0.7355, 0.8325]</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CNN mean</a:t>
                      </a:r>
                    </a:p>
                  </a:txBody>
                  <a:tcPr marL="64008" marR="64008" marT="27432" marB="27432" anchor="ctr">
                    <a:solidFill>
                      <a:srgbClr val="F3F5F8"/>
                    </a:solidFill>
                  </a:tcPr>
                </a:tc>
                <a:tc>
                  <a:txBody>
                    <a:bodyPr wrap="square"/>
                    <a:lstStyle/>
                    <a:p>
                      <a:pPr algn="ctr"/>
                      <a:r>
                        <a:rPr sz="1050" b="0" i="0">
                          <a:solidFill>
                            <a:srgbClr val="1E2430"/>
                          </a:solidFill>
                          <a:latin typeface="Calibri"/>
                        </a:rPr>
                        <a:t>0.8512 [0.8150, 0.8838]</a:t>
                      </a:r>
                    </a:p>
                  </a:txBody>
                  <a:tcPr marL="64008" marR="64008" marT="27432" marB="27432" anchor="ctr">
                    <a:solidFill>
                      <a:srgbClr val="F3F5F8"/>
                    </a:solidFill>
                  </a:tcPr>
                </a:tc>
                <a:tc>
                  <a:txBody>
                    <a:bodyPr wrap="square"/>
                    <a:lstStyle/>
                    <a:p>
                      <a:pPr algn="ctr"/>
                      <a:r>
                        <a:rPr sz="1050" b="0" i="0">
                          <a:solidFill>
                            <a:srgbClr val="1E2430"/>
                          </a:solidFill>
                          <a:latin typeface="Calibri"/>
                        </a:rPr>
                        <a:t>0.9225</a:t>
                      </a:r>
                    </a:p>
                  </a:txBody>
                  <a:tcPr marL="64008" marR="64008" marT="27432" marB="27432" anchor="ctr">
                    <a:solidFill>
                      <a:srgbClr val="F3F5F8"/>
                    </a:solidFill>
                  </a:tcPr>
                </a:tc>
                <a:tc>
                  <a:txBody>
                    <a:bodyPr wrap="square"/>
                    <a:lstStyle/>
                    <a:p>
                      <a:pPr algn="ctr"/>
                      <a:r>
                        <a:rPr sz="1050" b="0" i="0">
                          <a:solidFill>
                            <a:srgbClr val="1E2430"/>
                          </a:solidFill>
                          <a:latin typeface="Calibri"/>
                        </a:rPr>
                        <a:t>0.8630</a:t>
                      </a:r>
                    </a:p>
                  </a:txBody>
                  <a:tcPr marL="64008" marR="64008" marT="27432" marB="27432" anchor="ctr">
                    <a:solidFill>
                      <a:srgbClr val="F3F5F8"/>
                    </a:solidFill>
                  </a:tcPr>
                </a:tc>
                <a:tc>
                  <a:txBody>
                    <a:bodyPr wrap="square"/>
                    <a:lstStyle/>
                    <a:p>
                      <a:pPr algn="ctr"/>
                      <a:r>
                        <a:rPr sz="1050" b="0" i="0">
                          <a:solidFill>
                            <a:srgbClr val="1E2430"/>
                          </a:solidFill>
                          <a:latin typeface="Calibri"/>
                        </a:rPr>
                        <a:t>0.7680</a:t>
                      </a:r>
                    </a:p>
                  </a:txBody>
                  <a:tcPr marL="64008" marR="64008" marT="27432" marB="27432" anchor="ctr">
                    <a:solidFill>
                      <a:srgbClr val="F3F5F8"/>
                    </a:solidFill>
                  </a:tcPr>
                </a:tc>
                <a:tc>
                  <a:txBody>
                    <a:bodyPr wrap="square"/>
                    <a:lstStyle/>
                    <a:p>
                      <a:pPr algn="ctr"/>
                      <a:r>
                        <a:rPr sz="1050" b="0" i="0">
                          <a:solidFill>
                            <a:srgbClr val="1E2430"/>
                          </a:solidFill>
                          <a:latin typeface="Calibri"/>
                        </a:rPr>
                        <a:t>0.8005 [0.7484, 0.8419]</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Mean of all three</a:t>
                      </a:r>
                    </a:p>
                  </a:txBody>
                  <a:tcPr marL="64008" marR="64008" marT="27432" marB="27432" anchor="ctr">
                    <a:solidFill>
                      <a:srgbClr val="FFFFFF"/>
                    </a:solidFill>
                  </a:tcPr>
                </a:tc>
                <a:tc>
                  <a:txBody>
                    <a:bodyPr wrap="square"/>
                    <a:lstStyle/>
                    <a:p>
                      <a:pPr algn="ctr"/>
                      <a:r>
                        <a:rPr sz="1050" b="0" i="0">
                          <a:solidFill>
                            <a:srgbClr val="1E2430"/>
                          </a:solidFill>
                          <a:latin typeface="Calibri"/>
                        </a:rPr>
                        <a:t>0.8494 [0.8115, 0.8834]</a:t>
                      </a:r>
                    </a:p>
                  </a:txBody>
                  <a:tcPr marL="64008" marR="64008" marT="27432" marB="27432" anchor="ctr">
                    <a:solidFill>
                      <a:srgbClr val="FFFFFF"/>
                    </a:solidFill>
                  </a:tcPr>
                </a:tc>
                <a:tc>
                  <a:txBody>
                    <a:bodyPr wrap="square"/>
                    <a:lstStyle/>
                    <a:p>
                      <a:pPr algn="ctr"/>
                      <a:r>
                        <a:rPr sz="1050" b="0" i="0">
                          <a:solidFill>
                            <a:srgbClr val="1E2430"/>
                          </a:solidFill>
                          <a:latin typeface="Calibri"/>
                        </a:rPr>
                        <a:t>0.9213</a:t>
                      </a:r>
                    </a:p>
                  </a:txBody>
                  <a:tcPr marL="64008" marR="64008" marT="27432" marB="27432" anchor="ctr">
                    <a:solidFill>
                      <a:srgbClr val="FFFFFF"/>
                    </a:solidFill>
                  </a:tcPr>
                </a:tc>
                <a:tc>
                  <a:txBody>
                    <a:bodyPr wrap="square"/>
                    <a:lstStyle/>
                    <a:p>
                      <a:pPr algn="ctr"/>
                      <a:r>
                        <a:rPr sz="1050" b="0" i="0">
                          <a:solidFill>
                            <a:srgbClr val="1E2430"/>
                          </a:solidFill>
                          <a:latin typeface="Calibri"/>
                        </a:rPr>
                        <a:t>0.8601</a:t>
                      </a:r>
                    </a:p>
                  </a:txBody>
                  <a:tcPr marL="64008" marR="64008" marT="27432" marB="27432" anchor="ctr">
                    <a:solidFill>
                      <a:srgbClr val="FFFFFF"/>
                    </a:solidFill>
                  </a:tcPr>
                </a:tc>
                <a:tc>
                  <a:txBody>
                    <a:bodyPr wrap="square"/>
                    <a:lstStyle/>
                    <a:p>
                      <a:pPr algn="ctr"/>
                      <a:r>
                        <a:rPr sz="1050" b="0" i="0">
                          <a:solidFill>
                            <a:srgbClr val="1E2430"/>
                          </a:solidFill>
                          <a:latin typeface="Calibri"/>
                        </a:rPr>
                        <a:t>0.7669</a:t>
                      </a:r>
                    </a:p>
                  </a:txBody>
                  <a:tcPr marL="64008" marR="64008" marT="27432" marB="27432" anchor="ctr">
                    <a:solidFill>
                      <a:srgbClr val="FFFFFF"/>
                    </a:solidFill>
                  </a:tcPr>
                </a:tc>
                <a:tc>
                  <a:txBody>
                    <a:bodyPr wrap="square"/>
                    <a:lstStyle/>
                    <a:p>
                      <a:pPr algn="ctr"/>
                      <a:r>
                        <a:rPr sz="1050" b="0" i="0">
                          <a:solidFill>
                            <a:srgbClr val="1E2430"/>
                          </a:solidFill>
                          <a:latin typeface="Calibri"/>
                        </a:rPr>
                        <a:t>0.7971 [0.7456, 0.8400]</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Proposed ensemble</a:t>
                      </a:r>
                    </a:p>
                  </a:txBody>
                  <a:tcPr marL="64008" marR="64008" marT="27432" marB="27432" anchor="ctr">
                    <a:solidFill>
                      <a:srgbClr val="F3F5F8"/>
                    </a:solidFill>
                  </a:tcPr>
                </a:tc>
                <a:tc>
                  <a:txBody>
                    <a:bodyPr wrap="square"/>
                    <a:lstStyle/>
                    <a:p>
                      <a:pPr algn="ctr"/>
                      <a:r>
                        <a:rPr sz="1050" b="0" i="0">
                          <a:solidFill>
                            <a:srgbClr val="1E2430"/>
                          </a:solidFill>
                          <a:latin typeface="Calibri"/>
                        </a:rPr>
                        <a:t>0.8530 [0.8204, 0.8836]</a:t>
                      </a:r>
                    </a:p>
                  </a:txBody>
                  <a:tcPr marL="64008" marR="64008" marT="27432" marB="27432" anchor="ctr">
                    <a:solidFill>
                      <a:srgbClr val="F3F5F8"/>
                    </a:solidFill>
                  </a:tcPr>
                </a:tc>
                <a:tc>
                  <a:txBody>
                    <a:bodyPr wrap="square"/>
                    <a:lstStyle/>
                    <a:p>
                      <a:pPr algn="ctr"/>
                      <a:r>
                        <a:rPr sz="1050" b="0" i="0">
                          <a:solidFill>
                            <a:srgbClr val="1E2430"/>
                          </a:solidFill>
                          <a:latin typeface="Calibri"/>
                        </a:rPr>
                        <a:t>0.9256</a:t>
                      </a:r>
                    </a:p>
                  </a:txBody>
                  <a:tcPr marL="64008" marR="64008" marT="27432" marB="27432" anchor="ctr">
                    <a:solidFill>
                      <a:srgbClr val="F3F5F8"/>
                    </a:solidFill>
                  </a:tcPr>
                </a:tc>
                <a:tc>
                  <a:txBody>
                    <a:bodyPr wrap="square"/>
                    <a:lstStyle/>
                    <a:p>
                      <a:pPr algn="ctr"/>
                      <a:r>
                        <a:rPr sz="1050" b="0" i="0">
                          <a:solidFill>
                            <a:srgbClr val="1E2430"/>
                          </a:solidFill>
                          <a:latin typeface="Calibri"/>
                        </a:rPr>
                        <a:t>0.8639</a:t>
                      </a:r>
                    </a:p>
                  </a:txBody>
                  <a:tcPr marL="64008" marR="64008" marT="27432" marB="27432" anchor="ctr">
                    <a:solidFill>
                      <a:srgbClr val="F3F5F8"/>
                    </a:solidFill>
                  </a:tcPr>
                </a:tc>
                <a:tc>
                  <a:txBody>
                    <a:bodyPr wrap="square"/>
                    <a:lstStyle/>
                    <a:p>
                      <a:pPr algn="ctr"/>
                      <a:r>
                        <a:rPr sz="1050" b="0" i="0">
                          <a:solidFill>
                            <a:srgbClr val="1E2430"/>
                          </a:solidFill>
                          <a:latin typeface="Calibri"/>
                        </a:rPr>
                        <a:t>0.7694</a:t>
                      </a:r>
                    </a:p>
                  </a:txBody>
                  <a:tcPr marL="64008" marR="64008" marT="27432" marB="27432" anchor="ctr">
                    <a:solidFill>
                      <a:srgbClr val="F3F5F8"/>
                    </a:solidFill>
                  </a:tcPr>
                </a:tc>
                <a:tc>
                  <a:txBody>
                    <a:bodyPr wrap="square"/>
                    <a:lstStyle/>
                    <a:p>
                      <a:pPr algn="ctr"/>
                      <a:r>
                        <a:rPr sz="1050" b="0" i="0">
                          <a:solidFill>
                            <a:srgbClr val="1E2430"/>
                          </a:solidFill>
                          <a:latin typeface="Calibri"/>
                        </a:rPr>
                        <a:t>0.7966 [0.7430, 0.8391]</a:t>
                      </a:r>
                    </a:p>
                  </a:txBody>
                  <a:tcPr marL="64008" marR="64008" marT="27432" marB="27432" anchor="ctr">
                    <a:solidFill>
                      <a:srgbClr val="F3F5F8"/>
                    </a:solidFill>
                  </a:tcPr>
                </a:tc>
              </a:tr>
            </a:tbl>
          </a:graphicData>
        </a:graphic>
      </p:graphicFrame>
      <p:sp>
        <p:nvSpPr>
          <p:cNvPr id="9" name="TextBox 8"/>
          <p:cNvSpPr txBox="1"/>
          <p:nvPr/>
        </p:nvSpPr>
        <p:spPr>
          <a:xfrm>
            <a:off x="548640" y="3419856"/>
            <a:ext cx="745236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56 internal BraTS 2020 and 60 external BraTS-Africa test cases, eight-flip TTA; bootstrap CIs [81].</a:t>
            </a:r>
          </a:p>
        </p:txBody>
      </p:sp>
      <p:sp>
        <p:nvSpPr>
          <p:cNvPr id="10" name="Rectangle 9"/>
          <p:cNvSpPr/>
          <p:nvPr/>
        </p:nvSpPr>
        <p:spPr>
          <a:xfrm>
            <a:off x="8229600" y="1234440"/>
            <a:ext cx="3410712" cy="2036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94192" y="1399032"/>
            <a:ext cx="3081528" cy="1706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Statistical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Wilcoxon tests with Holm correction [83, 84]: the ensemble beats nnU-Net (p = 0.0001) and Swin UNETR (p = 0.007) internally</a:t>
            </a:r>
          </a:p>
          <a:p>
            <a:pPr algn="l" marL="182880" indent="-182880">
              <a:lnSpc>
                <a:spcPct val="100000"/>
              </a:lnSpc>
              <a:spcAft>
                <a:spcPts val="400"/>
              </a:spcAft>
              <a:buClr>
                <a:srgbClr val="1F3A68"/>
              </a:buClr>
              <a:buFont typeface="Arial"/>
              <a:buChar char="•"/>
            </a:pPr>
            <a:r>
              <a:rPr sz="1200" b="1" i="0">
                <a:solidFill>
                  <a:srgbClr val="1E2430"/>
                </a:solidFill>
                <a:latin typeface="Calibri"/>
              </a:rPr>
              <a:t>SegResNet alone beats the ensemble internally (p = 0.018) and equals it externally</a:t>
            </a:r>
          </a:p>
          <a:p>
            <a:pPr algn="l" marL="182880" indent="-182880">
              <a:lnSpc>
                <a:spcPct val="100000"/>
              </a:lnSpc>
              <a:spcAft>
                <a:spcPts val="400"/>
              </a:spcAft>
              <a:buClr>
                <a:srgbClr val="1F3A68"/>
              </a:buClr>
              <a:buFont typeface="Arial"/>
              <a:buChar char="•"/>
            </a:pPr>
            <a:r>
              <a:rPr sz="1200" b="0" i="0">
                <a:solidFill>
                  <a:srgbClr val="1E2430"/>
                </a:solidFill>
                <a:latin typeface="Calibri"/>
              </a:rPr>
              <a:t>Every model loses 0.047 to 0.075 Dice externally, mostly in TC</a:t>
            </a:r>
          </a:p>
        </p:txBody>
      </p:sp>
      <p:pic>
        <p:nvPicPr>
          <p:cNvPr id="12" name="Picture 11" descr="11_qualitative_comparison.png"/>
          <p:cNvPicPr>
            <a:picLocks noChangeAspect="1"/>
          </p:cNvPicPr>
          <p:nvPr/>
        </p:nvPicPr>
        <p:blipFill>
          <a:blip r:embed="rId2"/>
          <a:stretch>
            <a:fillRect/>
          </a:stretch>
        </p:blipFill>
        <p:spPr>
          <a:xfrm>
            <a:off x="548640" y="3803904"/>
            <a:ext cx="2596445" cy="2368296"/>
          </a:xfrm>
          <a:prstGeom prst="rect">
            <a:avLst/>
          </a:prstGeom>
        </p:spPr>
      </p:pic>
      <p:sp>
        <p:nvSpPr>
          <p:cNvPr id="13" name="Rectangle 12"/>
          <p:cNvSpPr/>
          <p:nvPr/>
        </p:nvSpPr>
        <p:spPr>
          <a:xfrm>
            <a:off x="3373685" y="3803904"/>
            <a:ext cx="8266626" cy="2368296"/>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277" y="3968496"/>
            <a:ext cx="7937442" cy="2039112"/>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Qualitative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Rows: median and lowest internal case, median and lowest external case</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internal case: SegResNet 0.878, the other models 0.542 to 0.569</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external case: a small tumour that every model misses (Dice 0)</a:t>
            </a:r>
          </a:p>
          <a:p>
            <a:pPr algn="l" marL="182880" indent="-182880">
              <a:lnSpc>
                <a:spcPct val="100000"/>
              </a:lnSpc>
              <a:spcAft>
                <a:spcPts val="400"/>
              </a:spcAft>
              <a:buClr>
                <a:srgbClr val="1F3A68"/>
              </a:buClr>
              <a:buFont typeface="Arial"/>
              <a:buChar char="•"/>
            </a:pPr>
            <a:r>
              <a:rPr sz="1200" b="0" i="0">
                <a:solidFill>
                  <a:srgbClr val="1E2430"/>
                </a:solidFill>
                <a:latin typeface="Calibri"/>
              </a:rPr>
              <a:t>Overlay: WT green, TC yellow, ET 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Tumour Grade, Quality Control and Efficiency</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Chart 7"/>
          <p:cNvGraphicFramePr>
            <a:graphicFrameLocks noGrp="1"/>
          </p:cNvGraphicFramePr>
          <p:nvPr/>
        </p:nvGraphicFramePr>
        <p:xfrm>
          <a:off x="548640" y="1234440"/>
          <a:ext cx="5394960" cy="3115056"/>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172200" y="1234440"/>
          <a:ext cx="5468112" cy="3115056"/>
        </p:xfrm>
        <a:graphic>
          <a:graphicData uri="http://schemas.openxmlformats.org/drawingml/2006/chart">
            <c:chart xmlns:c="http://schemas.openxmlformats.org/drawingml/2006/chart" r:id="rId3"/>
          </a:graphicData>
        </a:graphic>
      </p:graphicFrame>
      <p:sp>
        <p:nvSpPr>
          <p:cNvPr id="10" name="Rectangle 9"/>
          <p:cNvSpPr/>
          <p:nvPr/>
        </p:nvSpPr>
        <p:spPr>
          <a:xfrm>
            <a:off x="548640"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Disagreement flags failures</a:t>
            </a:r>
          </a:p>
          <a:p>
            <a:pPr algn="l" marL="180594" indent="-180594">
              <a:lnSpc>
                <a:spcPct val="100000"/>
              </a:lnSpc>
              <a:spcAft>
                <a:spcPts val="400"/>
              </a:spcAft>
              <a:buClr>
                <a:srgbClr val="1F3A68"/>
              </a:buClr>
              <a:buFont typeface="Arial"/>
              <a:buChar char="•"/>
            </a:pPr>
            <a:r>
              <a:rPr sz="1100" b="0" i="0">
                <a:solidFill>
                  <a:srgbClr val="1E2430"/>
                </a:solidFill>
                <a:latin typeface="Calibri"/>
              </a:rPr>
              <a:t>1 minus the mean pairwise Dice of the three networks' masks; failure: mean Dice below 0.80</a:t>
            </a:r>
          </a:p>
          <a:p>
            <a:pPr algn="l" marL="180594" indent="-180594">
              <a:lnSpc>
                <a:spcPct val="100000"/>
              </a:lnSpc>
              <a:spcAft>
                <a:spcPts val="400"/>
              </a:spcAft>
              <a:buClr>
                <a:srgbClr val="1F3A68"/>
              </a:buClr>
              <a:buFont typeface="Arial"/>
              <a:buChar char="•"/>
            </a:pPr>
            <a:r>
              <a:rPr sz="1100" b="0" i="0">
                <a:solidFill>
                  <a:srgbClr val="1E2430"/>
                </a:solidFill>
                <a:latin typeface="Calibri"/>
              </a:rPr>
              <a:t>AUC 0.993 internal, 0.870 external [91]; Spearman −0.80 and −0.82 [96]</a:t>
            </a:r>
          </a:p>
          <a:p>
            <a:pPr algn="l" marL="180594" indent="-180594">
              <a:lnSpc>
                <a:spcPct val="100000"/>
              </a:lnSpc>
              <a:spcAft>
                <a:spcPts val="400"/>
              </a:spcAft>
              <a:buClr>
                <a:srgbClr val="1F3A68"/>
              </a:buClr>
              <a:buFont typeface="Arial"/>
              <a:buChar char="•"/>
            </a:pPr>
            <a:r>
              <a:rPr sz="1100" b="0" i="0">
                <a:solidFill>
                  <a:srgbClr val="1E2430"/>
                </a:solidFill>
                <a:latin typeface="Calibri"/>
              </a:rPr>
              <a:t>TTA spread: AUC 0.716 and 0.791 [57, 59, 60]</a:t>
            </a:r>
          </a:p>
        </p:txBody>
      </p:sp>
      <p:sp>
        <p:nvSpPr>
          <p:cNvPr id="12" name="Rectangle 11"/>
          <p:cNvSpPr/>
          <p:nvPr/>
        </p:nvSpPr>
        <p:spPr>
          <a:xfrm>
            <a:off x="4322064"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6656"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Explanations, scored</a:t>
            </a:r>
          </a:p>
          <a:p>
            <a:pPr algn="l" marL="180594" indent="-180594">
              <a:lnSpc>
                <a:spcPct val="100000"/>
              </a:lnSpc>
              <a:spcAft>
                <a:spcPts val="400"/>
              </a:spcAft>
              <a:buClr>
                <a:srgbClr val="1F3A68"/>
              </a:buClr>
              <a:buFont typeface="Arial"/>
              <a:buChar char="•"/>
            </a:pPr>
            <a:r>
              <a:rPr sz="1100" b="0" i="0">
                <a:solidFill>
                  <a:srgbClr val="1E2430"/>
                </a:solidFill>
                <a:latin typeface="Calibri"/>
              </a:rPr>
              <a:t>Seg-Grad-CAM [74, 77]: CNN maps 4 to 23 times enriched in the tumour; Swin UNETR 1.1 to 1.7 times</a:t>
            </a:r>
          </a:p>
          <a:p>
            <a:pPr algn="l" marL="180594" indent="-180594">
              <a:lnSpc>
                <a:spcPct val="100000"/>
              </a:lnSpc>
              <a:spcAft>
                <a:spcPts val="400"/>
              </a:spcAft>
              <a:buClr>
                <a:srgbClr val="1F3A68"/>
              </a:buClr>
              <a:buFont typeface="Arial"/>
              <a:buChar char="•"/>
            </a:pPr>
            <a:r>
              <a:rPr sz="1100" b="0" i="0">
                <a:solidFill>
                  <a:srgbClr val="1E2430"/>
                </a:solidFill>
                <a:latin typeface="Calibri"/>
              </a:rPr>
              <a:t>Dropping FLAIR hurts WT, dropping T1CE hurts TC and ET, for every network</a:t>
            </a:r>
          </a:p>
          <a:p>
            <a:pPr algn="l" marL="180594" indent="-180594">
              <a:lnSpc>
                <a:spcPct val="100000"/>
              </a:lnSpc>
              <a:spcAft>
                <a:spcPts val="400"/>
              </a:spcAft>
              <a:buClr>
                <a:srgbClr val="1F3A68"/>
              </a:buClr>
              <a:buFont typeface="Arial"/>
              <a:buChar char="•"/>
            </a:pPr>
            <a:r>
              <a:rPr sz="1100" b="0" i="0">
                <a:solidFill>
                  <a:srgbClr val="1E2430"/>
                </a:solidFill>
                <a:latin typeface="Calibri"/>
              </a:rPr>
              <a:t>Slice-wise Dice differs from per-patient 3D Dice [61]</a:t>
            </a:r>
          </a:p>
        </p:txBody>
      </p:sp>
      <p:sp>
        <p:nvSpPr>
          <p:cNvPr id="14" name="Rectangle 13"/>
          <p:cNvSpPr/>
          <p:nvPr/>
        </p:nvSpPr>
        <p:spPr>
          <a:xfrm>
            <a:off x="8095488"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0080"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SegResNet: the efficiency choice</a:t>
            </a:r>
          </a:p>
          <a:p>
            <a:pPr algn="l" marL="180594" indent="-180594">
              <a:lnSpc>
                <a:spcPct val="100000"/>
              </a:lnSpc>
              <a:spcAft>
                <a:spcPts val="400"/>
              </a:spcAft>
              <a:buClr>
                <a:srgbClr val="1F3A68"/>
              </a:buClr>
              <a:buFont typeface="Arial"/>
              <a:buChar char="•"/>
            </a:pPr>
            <a:r>
              <a:rPr sz="1100" b="0" i="0">
                <a:solidFill>
                  <a:srgbClr val="1E2430"/>
                </a:solidFill>
                <a:latin typeface="Calibri"/>
              </a:rPr>
              <a:t>Smallest network (19.92 M) and fastest: 1.01 s per case, 8.08 s with TTA on a T4</a:t>
            </a:r>
          </a:p>
          <a:p>
            <a:pPr algn="l" marL="180594" indent="-180594">
              <a:lnSpc>
                <a:spcPct val="100000"/>
              </a:lnSpc>
              <a:spcAft>
                <a:spcPts val="400"/>
              </a:spcAft>
              <a:buClr>
                <a:srgbClr val="1F3A68"/>
              </a:buClr>
              <a:buFont typeface="Arial"/>
              <a:buChar char="•"/>
            </a:pPr>
            <a:r>
              <a:rPr sz="1100" b="0" i="0">
                <a:solidFill>
                  <a:srgbClr val="1E2430"/>
                </a:solidFill>
                <a:latin typeface="Calibri"/>
              </a:rPr>
              <a:t>The ensemble needs all three networks: 124.11 M parameters, 48.20 s with TTA, six times SegResNet, for a lower internal Dice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(2/3)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[33]	</a:t>
            </a:r>
            <a:r>
              <a:rPr sz="740" i="0">
                <a:solidFill>
                  <a:srgbClr val="1E2430"/>
                </a:solidFill>
                <a:latin typeface="Calibri"/>
              </a:rPr>
              <a:t>K. He, X. Zhang, S. Ren, and J. Sun, “Deep residual learning for image recognition,” in </a:t>
            </a:r>
            <a:r>
              <a:rPr sz="740" i="1">
                <a:solidFill>
                  <a:srgbClr val="1E2430"/>
                </a:solidFill>
                <a:latin typeface="Calibri"/>
              </a:rPr>
              <a:t>Proc. IEEE Conference on Computer Vision and Pattern Recognition (CVPR)</a:t>
            </a:r>
            <a:r>
              <a:rPr sz="740" i="0">
                <a:solidFill>
                  <a:srgbClr val="1E2430"/>
                </a:solidFill>
                <a:latin typeface="Calibri"/>
              </a:rPr>
              <a:t>, 2016, pp. 770–778.</a:t>
            </a:r>
          </a:p>
          <a:p>
            <a:pPr marL="274320" indent="-274320">
              <a:spcAft>
                <a:spcPts val="100"/>
              </a:spcAft>
            </a:pPr>
            <a:r>
              <a:rPr sz="740" i="0">
                <a:solidFill>
                  <a:srgbClr val="1E2430"/>
                </a:solidFill>
                <a:latin typeface="Calibri"/>
              </a:rPr>
              <a:t>[34]	</a:t>
            </a:r>
            <a:r>
              <a:rPr sz="740" i="0">
                <a:solidFill>
                  <a:srgbClr val="1E2430"/>
                </a:solidFill>
                <a:latin typeface="Calibri"/>
              </a:rPr>
              <a:t>G. Huang, Z. Liu, L. van der Maaten, and K. Q. Weinberger, “Densely connected convolutional networks,” in </a:t>
            </a:r>
            <a:r>
              <a:rPr sz="740" i="1">
                <a:solidFill>
                  <a:srgbClr val="1E2430"/>
                </a:solidFill>
                <a:latin typeface="Calibri"/>
              </a:rPr>
              <a:t>Proc. IEEE Conference on Computer Vision and Pattern Recognition (CVPR)</a:t>
            </a:r>
            <a:r>
              <a:rPr sz="740" i="0">
                <a:solidFill>
                  <a:srgbClr val="1E2430"/>
                </a:solidFill>
                <a:latin typeface="Calibri"/>
              </a:rPr>
              <a:t>, 2017, pp. 2261–2269.</a:t>
            </a:r>
          </a:p>
          <a:p>
            <a:pPr marL="274320" indent="-274320">
              <a:spcAft>
                <a:spcPts val="100"/>
              </a:spcAft>
            </a:pPr>
            <a:r>
              <a:rPr sz="740" i="0">
                <a:solidFill>
                  <a:srgbClr val="1E2430"/>
                </a:solidFill>
                <a:latin typeface="Calibri"/>
              </a:rPr>
              <a:t>[35]	</a:t>
            </a:r>
            <a:r>
              <a:rPr sz="740" i="0">
                <a:solidFill>
                  <a:srgbClr val="1E2430"/>
                </a:solidFill>
                <a:latin typeface="Calibri"/>
              </a:rPr>
              <a:t>M. Tan and Q. Le, “EfficientNet: Rethinking model scaling for convolutional neural networks,” in </a:t>
            </a:r>
            <a:r>
              <a:rPr sz="740" i="1">
                <a:solidFill>
                  <a:srgbClr val="1E2430"/>
                </a:solidFill>
                <a:latin typeface="Calibri"/>
              </a:rPr>
              <a:t>Proc. 36th International Conference on Machine Learning (ICML)</a:t>
            </a:r>
            <a:r>
              <a:rPr sz="740" i="0">
                <a:solidFill>
                  <a:srgbClr val="1E2430"/>
                </a:solidFill>
                <a:latin typeface="Calibri"/>
              </a:rPr>
              <a:t>, 2019, pp. 6105–6114.</a:t>
            </a:r>
          </a:p>
          <a:p>
            <a:pPr marL="274320" indent="-274320">
              <a:spcAft>
                <a:spcPts val="100"/>
              </a:spcAft>
            </a:pPr>
            <a:r>
              <a:rPr sz="740" i="0">
                <a:solidFill>
                  <a:srgbClr val="1E2430"/>
                </a:solidFill>
                <a:latin typeface="Calibri"/>
              </a:rPr>
              <a:t>[36]	</a:t>
            </a:r>
            <a:r>
              <a:rPr sz="740" i="0">
                <a:solidFill>
                  <a:srgbClr val="1E2430"/>
                </a:solidFill>
                <a:latin typeface="Calibri"/>
              </a:rPr>
              <a:t>M. Sandler, A. Howard, M. Zhu, A. Zhmoginov, and L.-C. Chen, “MobileNetV2: Inverted residuals and linear bottlenecks,” in </a:t>
            </a:r>
            <a:r>
              <a:rPr sz="740" i="1">
                <a:solidFill>
                  <a:srgbClr val="1E2430"/>
                </a:solidFill>
                <a:latin typeface="Calibri"/>
              </a:rPr>
              <a:t>Proc. IEEE/CVF Conference on Computer Vision and Pattern Recognition (CVPR)</a:t>
            </a:r>
            <a:r>
              <a:rPr sz="740" i="0">
                <a:solidFill>
                  <a:srgbClr val="1E2430"/>
                </a:solidFill>
                <a:latin typeface="Calibri"/>
              </a:rPr>
              <a:t>, 2018, pp. 4510–4520.</a:t>
            </a:r>
          </a:p>
          <a:p>
            <a:pPr marL="274320" indent="-274320">
              <a:spcAft>
                <a:spcPts val="100"/>
              </a:spcAft>
            </a:pPr>
            <a:r>
              <a:rPr sz="740" i="0">
                <a:solidFill>
                  <a:srgbClr val="1E2430"/>
                </a:solidFill>
                <a:latin typeface="Calibri"/>
              </a:rPr>
              <a:t>[37]	</a:t>
            </a:r>
            <a:r>
              <a:rPr sz="740" i="0">
                <a:solidFill>
                  <a:srgbClr val="1E2430"/>
                </a:solidFill>
                <a:latin typeface="Calibri"/>
              </a:rPr>
              <a:t>A. Howard et al., “Searching for MobileNetV3,” in </a:t>
            </a:r>
            <a:r>
              <a:rPr sz="740" i="1">
                <a:solidFill>
                  <a:srgbClr val="1E2430"/>
                </a:solidFill>
                <a:latin typeface="Calibri"/>
              </a:rPr>
              <a:t>Proc. IEEE/CVF International Conference on Computer Vision (ICCV)</a:t>
            </a:r>
            <a:r>
              <a:rPr sz="740" i="0">
                <a:solidFill>
                  <a:srgbClr val="1E2430"/>
                </a:solidFill>
                <a:latin typeface="Calibri"/>
              </a:rPr>
              <a:t>, 2019, pp. 1314–1324.</a:t>
            </a:r>
          </a:p>
          <a:p>
            <a:pPr marL="274320" indent="-274320">
              <a:spcAft>
                <a:spcPts val="100"/>
              </a:spcAft>
            </a:pPr>
            <a:r>
              <a:rPr sz="740" i="0">
                <a:solidFill>
                  <a:srgbClr val="1E2430"/>
                </a:solidFill>
                <a:latin typeface="Calibri"/>
              </a:rPr>
              <a:t>[38]	</a:t>
            </a:r>
            <a:r>
              <a:rPr sz="740" i="0">
                <a:solidFill>
                  <a:srgbClr val="1E2430"/>
                </a:solidFill>
                <a:latin typeface="Calibri"/>
              </a:rPr>
              <a:t>A. Vaswani et al., “Attention is all you need,” in </a:t>
            </a:r>
            <a:r>
              <a:rPr sz="740" i="1">
                <a:solidFill>
                  <a:srgbClr val="1E2430"/>
                </a:solidFill>
                <a:latin typeface="Calibri"/>
              </a:rPr>
              <a:t>Advances in Neural Information Processing Systems (NeurIPS) 30</a:t>
            </a:r>
            <a:r>
              <a:rPr sz="740" i="0">
                <a:solidFill>
                  <a:srgbClr val="1E2430"/>
                </a:solidFill>
                <a:latin typeface="Calibri"/>
              </a:rPr>
              <a:t>, 2017.</a:t>
            </a:r>
          </a:p>
          <a:p>
            <a:pPr marL="274320" indent="-274320">
              <a:spcAft>
                <a:spcPts val="100"/>
              </a:spcAft>
            </a:pPr>
            <a:r>
              <a:rPr sz="740" i="0">
                <a:solidFill>
                  <a:srgbClr val="1E2430"/>
                </a:solidFill>
                <a:latin typeface="Calibri"/>
              </a:rPr>
              <a:t>[39]	</a:t>
            </a:r>
            <a:r>
              <a:rPr sz="740" i="0">
                <a:solidFill>
                  <a:srgbClr val="1E2430"/>
                </a:solidFill>
                <a:latin typeface="Calibri"/>
              </a:rPr>
              <a:t>A. Dosovitskiy et al., “An image is worth 16x16 words: Transformers for image recognition at scale,” in </a:t>
            </a:r>
            <a:r>
              <a:rPr sz="740" i="1">
                <a:solidFill>
                  <a:srgbClr val="1E2430"/>
                </a:solidFill>
                <a:latin typeface="Calibri"/>
              </a:rPr>
              <a:t>Proc. International Conference on Learning Representations (ICLR)</a:t>
            </a:r>
            <a:r>
              <a:rPr sz="740" i="0">
                <a:solidFill>
                  <a:srgbClr val="1E2430"/>
                </a:solidFill>
                <a:latin typeface="Calibri"/>
              </a:rPr>
              <a:t>, 2021.</a:t>
            </a:r>
          </a:p>
          <a:p>
            <a:pPr marL="274320" indent="-274320">
              <a:spcAft>
                <a:spcPts val="100"/>
              </a:spcAft>
            </a:pPr>
            <a:r>
              <a:rPr sz="740" i="0">
                <a:solidFill>
                  <a:srgbClr val="1E2430"/>
                </a:solidFill>
                <a:latin typeface="Calibri"/>
              </a:rPr>
              <a:t>[40]	</a:t>
            </a:r>
            <a:r>
              <a:rPr sz="740" i="0">
                <a:solidFill>
                  <a:srgbClr val="1E2430"/>
                </a:solidFill>
                <a:latin typeface="Calibri"/>
              </a:rPr>
              <a:t>Z. Liu et al., “Swin transformer: Hierarchical vision transformer using shifted windows,” in </a:t>
            </a:r>
            <a:r>
              <a:rPr sz="740" i="1">
                <a:solidFill>
                  <a:srgbClr val="1E2430"/>
                </a:solidFill>
                <a:latin typeface="Calibri"/>
              </a:rPr>
              <a:t>Proc. IEEE/CVF International Conference on Computer Vision (ICCV)</a:t>
            </a:r>
            <a:r>
              <a:rPr sz="740" i="0">
                <a:solidFill>
                  <a:srgbClr val="1E2430"/>
                </a:solidFill>
                <a:latin typeface="Calibri"/>
              </a:rPr>
              <a:t>, 2021, pp. 9992–10002.</a:t>
            </a:r>
          </a:p>
          <a:p>
            <a:pPr marL="274320" indent="-274320">
              <a:spcAft>
                <a:spcPts val="100"/>
              </a:spcAft>
            </a:pPr>
            <a:r>
              <a:rPr sz="740" i="0">
                <a:solidFill>
                  <a:srgbClr val="1E2430"/>
                </a:solidFill>
                <a:latin typeface="Calibri"/>
              </a:rPr>
              <a:t>[41]	</a:t>
            </a:r>
            <a:r>
              <a:rPr sz="740" i="0">
                <a:solidFill>
                  <a:srgbClr val="1E2430"/>
                </a:solidFill>
                <a:latin typeface="Calibri"/>
              </a:rPr>
              <a:t>Z. Dai, H. Liu, Q. V. Le, and M. Tan, “CoAtNet: Marrying convolution and attention for all data sizes,” in </a:t>
            </a:r>
            <a:r>
              <a:rPr sz="740" i="1">
                <a:solidFill>
                  <a:srgbClr val="1E2430"/>
                </a:solidFill>
                <a:latin typeface="Calibri"/>
              </a:rPr>
              <a:t>Advances in Neural Information Processing Systems (NeurIPS)</a:t>
            </a:r>
            <a:r>
              <a:rPr sz="740" i="0">
                <a:solidFill>
                  <a:srgbClr val="1E2430"/>
                </a:solidFill>
                <a:latin typeface="Calibri"/>
              </a:rPr>
              <a:t>, 2021, pp. 3965–3977.</a:t>
            </a:r>
          </a:p>
          <a:p>
            <a:pPr marL="274320" indent="-274320">
              <a:spcAft>
                <a:spcPts val="100"/>
              </a:spcAft>
            </a:pPr>
            <a:r>
              <a:rPr sz="740" i="0">
                <a:solidFill>
                  <a:srgbClr val="1E2430"/>
                </a:solidFill>
                <a:latin typeface="Calibri"/>
              </a:rPr>
              <a:t>[42]	</a:t>
            </a:r>
            <a:r>
              <a:rPr sz="740" i="0">
                <a:solidFill>
                  <a:srgbClr val="1E2430"/>
                </a:solidFill>
                <a:latin typeface="Calibri"/>
              </a:rPr>
              <a:t>G. Litjens et al., “A survey on deep learning in medical image analysis,” </a:t>
            </a:r>
            <a:r>
              <a:rPr sz="740" i="1">
                <a:solidFill>
                  <a:srgbClr val="1E2430"/>
                </a:solidFill>
                <a:latin typeface="Calibri"/>
              </a:rPr>
              <a:t>Medical Image Analysis</a:t>
            </a:r>
            <a:r>
              <a:rPr sz="740" i="0">
                <a:solidFill>
                  <a:srgbClr val="1E2430"/>
                </a:solidFill>
                <a:latin typeface="Calibri"/>
              </a:rPr>
              <a:t>, vol. 42, pp. 60–88, 2017.</a:t>
            </a:r>
          </a:p>
          <a:p>
            <a:pPr marL="274320" indent="-274320">
              <a:spcAft>
                <a:spcPts val="100"/>
              </a:spcAft>
            </a:pPr>
            <a:r>
              <a:rPr sz="740" i="0">
                <a:solidFill>
                  <a:srgbClr val="1E2430"/>
                </a:solidFill>
                <a:latin typeface="Calibri"/>
              </a:rPr>
              <a:t>[43]	</a:t>
            </a:r>
            <a:r>
              <a:rPr sz="740" i="0">
                <a:solidFill>
                  <a:srgbClr val="1E2430"/>
                </a:solidFill>
                <a:latin typeface="Calibri"/>
              </a:rPr>
              <a:t>S. Khan, M. Naseer, M. Hayat, S. W. Zamir, F. S. Khan, and M. Shah, “Transformers in vision: A survey,” </a:t>
            </a:r>
            <a:r>
              <a:rPr sz="740" i="1">
                <a:solidFill>
                  <a:srgbClr val="1E2430"/>
                </a:solidFill>
                <a:latin typeface="Calibri"/>
              </a:rPr>
              <a:t>ACM Computing Surveys</a:t>
            </a:r>
            <a:r>
              <a:rPr sz="740" i="0">
                <a:solidFill>
                  <a:srgbClr val="1E2430"/>
                </a:solidFill>
                <a:latin typeface="Calibri"/>
              </a:rPr>
              <a:t>, vol. 54, no. 10s, pp. 1–41, 2022.</a:t>
            </a:r>
          </a:p>
          <a:p>
            <a:pPr marL="274320" indent="-274320">
              <a:spcAft>
                <a:spcPts val="100"/>
              </a:spcAft>
            </a:pPr>
            <a:r>
              <a:rPr sz="740" i="0">
                <a:solidFill>
                  <a:srgbClr val="1E2430"/>
                </a:solidFill>
                <a:latin typeface="Calibri"/>
              </a:rPr>
              <a:t>[44]	</a:t>
            </a:r>
            <a:r>
              <a:rPr sz="740" i="0">
                <a:solidFill>
                  <a:srgbClr val="1E2430"/>
                </a:solidFill>
                <a:latin typeface="Calibri"/>
              </a:rPr>
              <a:t>F. Shamshad et al., “Transformers in medical imaging: A survey,” </a:t>
            </a:r>
            <a:r>
              <a:rPr sz="740" i="1">
                <a:solidFill>
                  <a:srgbClr val="1E2430"/>
                </a:solidFill>
                <a:latin typeface="Calibri"/>
              </a:rPr>
              <a:t>Medical Image Analysis</a:t>
            </a:r>
            <a:r>
              <a:rPr sz="740" i="0">
                <a:solidFill>
                  <a:srgbClr val="1E2430"/>
                </a:solidFill>
                <a:latin typeface="Calibri"/>
              </a:rPr>
              <a:t>, vol. 88, Art. no. 102802, 2023.</a:t>
            </a:r>
          </a:p>
          <a:p>
            <a:pPr marL="274320" indent="-274320">
              <a:spcAft>
                <a:spcPts val="100"/>
              </a:spcAft>
            </a:pPr>
            <a:r>
              <a:rPr sz="740" i="0">
                <a:solidFill>
                  <a:srgbClr val="1E2430"/>
                </a:solidFill>
                <a:latin typeface="Calibri"/>
              </a:rPr>
              <a:t>[45]	</a:t>
            </a:r>
            <a:r>
              <a:rPr sz="740" i="0">
                <a:solidFill>
                  <a:srgbClr val="1E2430"/>
                </a:solidFill>
                <a:latin typeface="Calibri"/>
              </a:rPr>
              <a:t>A. Paszke et al., “PyTorch: An imperative style, high-performance deep learning library,” in </a:t>
            </a:r>
            <a:r>
              <a:rPr sz="740" i="1">
                <a:solidFill>
                  <a:srgbClr val="1E2430"/>
                </a:solidFill>
                <a:latin typeface="Calibri"/>
              </a:rPr>
              <a:t>Advances in Neural Information Processing Systems (NeurIPS) 32</a:t>
            </a:r>
            <a:r>
              <a:rPr sz="740" i="0">
                <a:solidFill>
                  <a:srgbClr val="1E2430"/>
                </a:solidFill>
                <a:latin typeface="Calibri"/>
              </a:rPr>
              <a:t>, 2019.</a:t>
            </a:r>
          </a:p>
          <a:p>
            <a:pPr marL="274320" indent="-274320">
              <a:spcAft>
                <a:spcPts val="100"/>
              </a:spcAft>
            </a:pPr>
            <a:r>
              <a:rPr sz="740" i="0">
                <a:solidFill>
                  <a:srgbClr val="1E2430"/>
                </a:solidFill>
                <a:latin typeface="Calibri"/>
              </a:rPr>
              <a:t>[46]	</a:t>
            </a:r>
            <a:r>
              <a:rPr sz="740" i="0">
                <a:solidFill>
                  <a:srgbClr val="1E2430"/>
                </a:solidFill>
                <a:latin typeface="Calibri"/>
              </a:rPr>
              <a:t>I. Loshchilov and F. Hutter, “Decoupled weight decay regularization,” in </a:t>
            </a:r>
            <a:r>
              <a:rPr sz="740" i="1">
                <a:solidFill>
                  <a:srgbClr val="1E2430"/>
                </a:solidFill>
                <a:latin typeface="Calibri"/>
              </a:rPr>
              <a:t>Proc. International Conference on Learning Representations (ICLR)</a:t>
            </a:r>
            <a:r>
              <a:rPr sz="740" i="0">
                <a:solidFill>
                  <a:srgbClr val="1E2430"/>
                </a:solidFill>
                <a:latin typeface="Calibri"/>
              </a:rPr>
              <a:t>, 2019.</a:t>
            </a:r>
          </a:p>
          <a:p>
            <a:pPr marL="274320" indent="-274320">
              <a:spcAft>
                <a:spcPts val="100"/>
              </a:spcAft>
            </a:pPr>
            <a:r>
              <a:rPr sz="740" i="0">
                <a:solidFill>
                  <a:srgbClr val="1E2430"/>
                </a:solidFill>
                <a:latin typeface="Calibri"/>
              </a:rPr>
              <a:t>[47]	</a:t>
            </a:r>
            <a:r>
              <a:rPr sz="740" i="0">
                <a:solidFill>
                  <a:srgbClr val="1E2430"/>
                </a:solidFill>
                <a:latin typeface="Calibri"/>
              </a:rPr>
              <a:t>I. Loshchilov and F. Hutter, “SGDR: Stochastic gradient descent with warm restarts,” in </a:t>
            </a:r>
            <a:r>
              <a:rPr sz="740" i="1">
                <a:solidFill>
                  <a:srgbClr val="1E2430"/>
                </a:solidFill>
                <a:latin typeface="Calibri"/>
              </a:rPr>
              <a:t>Proc. International Conference on Learning Representations (ICLR)</a:t>
            </a:r>
            <a:r>
              <a:rPr sz="740" i="0">
                <a:solidFill>
                  <a:srgbClr val="1E2430"/>
                </a:solidFill>
                <a:latin typeface="Calibri"/>
              </a:rPr>
              <a:t>, 2017.</a:t>
            </a:r>
          </a:p>
          <a:p>
            <a:pPr marL="274320" indent="-274320">
              <a:spcAft>
                <a:spcPts val="100"/>
              </a:spcAft>
            </a:pPr>
            <a:r>
              <a:rPr sz="740" i="0">
                <a:solidFill>
                  <a:srgbClr val="1E2430"/>
                </a:solidFill>
                <a:latin typeface="Calibri"/>
              </a:rPr>
              <a:t>[48]	</a:t>
            </a:r>
            <a:r>
              <a:rPr sz="740" i="0">
                <a:solidFill>
                  <a:srgbClr val="1E2430"/>
                </a:solidFill>
                <a:latin typeface="Calibri"/>
              </a:rPr>
              <a:t>P. Micikevicius et al., “Mixed precision training,” in </a:t>
            </a:r>
            <a:r>
              <a:rPr sz="740" i="1">
                <a:solidFill>
                  <a:srgbClr val="1E2430"/>
                </a:solidFill>
                <a:latin typeface="Calibri"/>
              </a:rPr>
              <a:t>Proc. International Conference on Learning Representations (ICLR)</a:t>
            </a:r>
            <a:r>
              <a:rPr sz="740" i="0">
                <a:solidFill>
                  <a:srgbClr val="1E2430"/>
                </a:solidFill>
                <a:latin typeface="Calibri"/>
              </a:rPr>
              <a:t>, 2018.</a:t>
            </a:r>
          </a:p>
          <a:p>
            <a:pPr marL="274320" indent="-274320">
              <a:spcAft>
                <a:spcPts val="100"/>
              </a:spcAft>
            </a:pPr>
            <a:r>
              <a:rPr sz="740" i="0">
                <a:solidFill>
                  <a:srgbClr val="1E2430"/>
                </a:solidFill>
                <a:latin typeface="Calibri"/>
              </a:rPr>
              <a:t>[49]	</a:t>
            </a:r>
            <a:r>
              <a:rPr sz="740" i="0">
                <a:solidFill>
                  <a:srgbClr val="1E2430"/>
                </a:solidFill>
                <a:latin typeface="Calibri"/>
              </a:rPr>
              <a:t>B. H. Menze et al., “The multimodal brain tumor image segmentation benchmark (BRATS),” </a:t>
            </a:r>
            <a:r>
              <a:rPr sz="740" i="1">
                <a:solidFill>
                  <a:srgbClr val="1E2430"/>
                </a:solidFill>
                <a:latin typeface="Calibri"/>
              </a:rPr>
              <a:t>IEEE Transactions on Medical Imaging</a:t>
            </a:r>
            <a:r>
              <a:rPr sz="740" i="0">
                <a:solidFill>
                  <a:srgbClr val="1E2430"/>
                </a:solidFill>
                <a:latin typeface="Calibri"/>
              </a:rPr>
              <a:t>, vol. 34, no. 10, pp. 1993–2024, 2015.</a:t>
            </a:r>
          </a:p>
          <a:p>
            <a:pPr marL="274320" indent="-274320">
              <a:spcAft>
                <a:spcPts val="100"/>
              </a:spcAft>
            </a:pPr>
            <a:r>
              <a:rPr sz="740" i="0">
                <a:solidFill>
                  <a:srgbClr val="1E2430"/>
                </a:solidFill>
                <a:latin typeface="Calibri"/>
              </a:rPr>
              <a:t>[50]	</a:t>
            </a:r>
            <a:r>
              <a:rPr sz="740" i="0">
                <a:solidFill>
                  <a:srgbClr val="1E2430"/>
                </a:solidFill>
                <a:latin typeface="Calibri"/>
              </a:rPr>
              <a:t>O. Ronneberger, P. Fischer, and T. Brox, “U-Net: Convolutional networks for biomedical image segmentation,” in </a:t>
            </a:r>
            <a:r>
              <a:rPr sz="740" i="1">
                <a:solidFill>
                  <a:srgbClr val="1E2430"/>
                </a:solidFill>
                <a:latin typeface="Calibri"/>
              </a:rPr>
              <a:t>Medical Image Computing and Computer-Assisted Intervention (MICCAI 2015)</a:t>
            </a:r>
            <a:r>
              <a:rPr sz="740" i="0">
                <a:solidFill>
                  <a:srgbClr val="1E2430"/>
                </a:solidFill>
                <a:latin typeface="Calibri"/>
              </a:rPr>
              <a:t>, 2015, pp. 234–241.</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[51]	</a:t>
            </a:r>
            <a:r>
              <a:rPr sz="740" i="0">
                <a:solidFill>
                  <a:srgbClr val="1E2430"/>
                </a:solidFill>
                <a:latin typeface="Calibri"/>
              </a:rPr>
              <a:t>Ö. Çiçek, A. Abdulkadir, S. S. Lienkamp, T. Brox, and O. Ronneberger, “3D U-Net: Learning dense volumetric segmentation from sparse annotation,” in </a:t>
            </a:r>
            <a:r>
              <a:rPr sz="740" i="1">
                <a:solidFill>
                  <a:srgbClr val="1E2430"/>
                </a:solidFill>
                <a:latin typeface="Calibri"/>
              </a:rPr>
              <a:t>Medical Image Computing and Computer-Assisted Intervention (MICCAI 2016)</a:t>
            </a:r>
            <a:r>
              <a:rPr sz="740" i="0">
                <a:solidFill>
                  <a:srgbClr val="1E2430"/>
                </a:solidFill>
                <a:latin typeface="Calibri"/>
              </a:rPr>
              <a:t>, 2016, pp. 424–432.</a:t>
            </a:r>
          </a:p>
          <a:p>
            <a:pPr marL="274320" indent="-274320">
              <a:spcAft>
                <a:spcPts val="100"/>
              </a:spcAft>
            </a:pPr>
            <a:r>
              <a:rPr sz="740" i="0">
                <a:solidFill>
                  <a:srgbClr val="1E2430"/>
                </a:solidFill>
                <a:latin typeface="Calibri"/>
              </a:rPr>
              <a:t>[52]	</a:t>
            </a:r>
            <a:r>
              <a:rPr sz="740" i="0">
                <a:solidFill>
                  <a:srgbClr val="1E2430"/>
                </a:solidFill>
                <a:latin typeface="Calibri"/>
              </a:rPr>
              <a:t>A. Hatamizadeh et al., “UNETR: Transformers for 3D medical image segmentation,” in </a:t>
            </a:r>
            <a:r>
              <a:rPr sz="740" i="1">
                <a:solidFill>
                  <a:srgbClr val="1E2430"/>
                </a:solidFill>
                <a:latin typeface="Calibri"/>
              </a:rPr>
              <a:t>Proc. IEEE/CVF Winter Conference on Applications of Computer Vision (WACV)</a:t>
            </a:r>
            <a:r>
              <a:rPr sz="740" i="0">
                <a:solidFill>
                  <a:srgbClr val="1E2430"/>
                </a:solidFill>
                <a:latin typeface="Calibri"/>
              </a:rPr>
              <a:t>, 2022, pp. 1748–1758.</a:t>
            </a:r>
          </a:p>
          <a:p>
            <a:pPr marL="274320" indent="-274320">
              <a:spcAft>
                <a:spcPts val="100"/>
              </a:spcAft>
            </a:pPr>
            <a:r>
              <a:rPr sz="740" i="0">
                <a:solidFill>
                  <a:srgbClr val="1E2430"/>
                </a:solidFill>
                <a:latin typeface="Calibri"/>
              </a:rPr>
              <a:t>[53]	</a:t>
            </a:r>
            <a:r>
              <a:rPr sz="740" i="0">
                <a:solidFill>
                  <a:srgbClr val="1E2430"/>
                </a:solidFill>
                <a:latin typeface="Calibri"/>
              </a:rPr>
              <a:t>A. Hatamizadeh, V. Nath, Y. Tang, D. Yang, H. R. Roth, and D. Xu, “Swin UNETR: Swin transformers for semantic segmentation of brain tumors in MRI images,” in </a:t>
            </a:r>
            <a:r>
              <a:rPr sz="740" i="1">
                <a:solidFill>
                  <a:srgbClr val="1E2430"/>
                </a:solidFill>
                <a:latin typeface="Calibri"/>
              </a:rPr>
              <a:t>Brainlesion: Glioma, Multiple Sclerosis, Stroke and Traumatic Brain Injuries (BrainLes 2021)</a:t>
            </a:r>
            <a:r>
              <a:rPr sz="740" i="0">
                <a:solidFill>
                  <a:srgbClr val="1E2430"/>
                </a:solidFill>
                <a:latin typeface="Calibri"/>
              </a:rPr>
              <a:t>, 2022, pp. 272–284.</a:t>
            </a:r>
          </a:p>
          <a:p>
            <a:pPr marL="274320" indent="-274320">
              <a:spcAft>
                <a:spcPts val="100"/>
              </a:spcAft>
            </a:pPr>
            <a:r>
              <a:rPr sz="740" i="0">
                <a:solidFill>
                  <a:srgbClr val="1E2430"/>
                </a:solidFill>
                <a:latin typeface="Calibri"/>
              </a:rPr>
              <a:t>[54]	</a:t>
            </a:r>
            <a:r>
              <a:rPr sz="740" i="0">
                <a:solidFill>
                  <a:srgbClr val="1E2430"/>
                </a:solidFill>
                <a:latin typeface="Calibri"/>
              </a:rPr>
              <a:t>W. Wang, C. Chen, M. Ding, H. Yu, S. Zha, and J. Li, “TransBTS: Multimodal brain tumor segmentation using transformer,” in </a:t>
            </a:r>
            <a:r>
              <a:rPr sz="740" i="1">
                <a:solidFill>
                  <a:srgbClr val="1E2430"/>
                </a:solidFill>
                <a:latin typeface="Calibri"/>
              </a:rPr>
              <a:t>Medical Image Computing and Computer Assisted Intervention (MICCAI 2021)</a:t>
            </a:r>
            <a:r>
              <a:rPr sz="740" i="0">
                <a:solidFill>
                  <a:srgbClr val="1E2430"/>
                </a:solidFill>
                <a:latin typeface="Calibri"/>
              </a:rPr>
              <a:t>, 2021, pp. 109–119.</a:t>
            </a:r>
          </a:p>
          <a:p>
            <a:pPr marL="274320" indent="-274320">
              <a:spcAft>
                <a:spcPts val="100"/>
              </a:spcAft>
            </a:pPr>
            <a:r>
              <a:rPr sz="740" i="0">
                <a:solidFill>
                  <a:srgbClr val="1E2430"/>
                </a:solidFill>
                <a:latin typeface="Calibri"/>
              </a:rPr>
              <a:t>[55]	</a:t>
            </a:r>
            <a:r>
              <a:rPr sz="740" i="0">
                <a:solidFill>
                  <a:srgbClr val="1E2430"/>
                </a:solidFill>
                <a:latin typeface="Calibri"/>
              </a:rPr>
              <a:t>J. Chen et al., “TransUNet: Rethinking the U-Net architecture design for medical image segmentation through the lens of transformers,” </a:t>
            </a:r>
            <a:r>
              <a:rPr sz="740" i="1">
                <a:solidFill>
                  <a:srgbClr val="1E2430"/>
                </a:solidFill>
                <a:latin typeface="Calibri"/>
              </a:rPr>
              <a:t>Medical Image Analysis</a:t>
            </a:r>
            <a:r>
              <a:rPr sz="740" i="0">
                <a:solidFill>
                  <a:srgbClr val="1E2430"/>
                </a:solidFill>
                <a:latin typeface="Calibri"/>
              </a:rPr>
              <a:t>, vol. 97, Art. no. 103280, 2024.</a:t>
            </a:r>
          </a:p>
          <a:p>
            <a:pPr marL="274320" indent="-274320">
              <a:spcAft>
                <a:spcPts val="100"/>
              </a:spcAft>
            </a:pPr>
            <a:r>
              <a:rPr sz="740" i="0">
                <a:solidFill>
                  <a:srgbClr val="1E2430"/>
                </a:solidFill>
                <a:latin typeface="Calibri"/>
              </a:rPr>
              <a:t>[56]	</a:t>
            </a:r>
            <a:r>
              <a:rPr sz="740" i="0">
                <a:solidFill>
                  <a:srgbClr val="1E2430"/>
                </a:solidFill>
                <a:latin typeface="Calibri"/>
              </a:rPr>
              <a:t>K. Kamnitsas et al., “Ensembles of multiple models and architectures for robust brain tumour segmentation,” in </a:t>
            </a:r>
            <a:r>
              <a:rPr sz="740" i="1">
                <a:solidFill>
                  <a:srgbClr val="1E2430"/>
                </a:solidFill>
                <a:latin typeface="Calibri"/>
              </a:rPr>
              <a:t>Brainlesion: Glioma, Multiple Sclerosis, Stroke and Traumatic Brain Injuries (BrainLes 2017)</a:t>
            </a:r>
            <a:r>
              <a:rPr sz="740" i="0">
                <a:solidFill>
                  <a:srgbClr val="1E2430"/>
                </a:solidFill>
                <a:latin typeface="Calibri"/>
              </a:rPr>
              <a:t>, 2018, pp. 450–462.</a:t>
            </a:r>
          </a:p>
          <a:p>
            <a:pPr marL="274320" indent="-274320">
              <a:spcAft>
                <a:spcPts val="100"/>
              </a:spcAft>
            </a:pPr>
            <a:r>
              <a:rPr sz="740" i="0">
                <a:solidFill>
                  <a:srgbClr val="1E2430"/>
                </a:solidFill>
                <a:latin typeface="Calibri"/>
              </a:rPr>
              <a:t>[57]	</a:t>
            </a:r>
            <a:r>
              <a:rPr sz="740" i="0">
                <a:solidFill>
                  <a:srgbClr val="1E2430"/>
                </a:solidFill>
                <a:latin typeface="Calibri"/>
              </a:rPr>
              <a:t>G. Wang, W. Li, M. Aertsen, J. Deprest, S. Ourselin, and T. Vercauteren, “Aleatoric uncertainty estimation with test-time augmentation for medical image segmentation with convolutional neural networks,” </a:t>
            </a:r>
            <a:r>
              <a:rPr sz="740" i="1">
                <a:solidFill>
                  <a:srgbClr val="1E2430"/>
                </a:solidFill>
                <a:latin typeface="Calibri"/>
              </a:rPr>
              <a:t>Neurocomputing</a:t>
            </a:r>
            <a:r>
              <a:rPr sz="740" i="0">
                <a:solidFill>
                  <a:srgbClr val="1E2430"/>
                </a:solidFill>
                <a:latin typeface="Calibri"/>
              </a:rPr>
              <a:t>, vol. 338, pp. 34–45, 2019.</a:t>
            </a:r>
          </a:p>
          <a:p>
            <a:pPr marL="274320" indent="-274320">
              <a:spcAft>
                <a:spcPts val="100"/>
              </a:spcAft>
            </a:pPr>
            <a:r>
              <a:rPr sz="740" i="0">
                <a:solidFill>
                  <a:srgbClr val="1E2430"/>
                </a:solidFill>
                <a:latin typeface="Calibri"/>
              </a:rPr>
              <a:t>[58]	</a:t>
            </a:r>
            <a:r>
              <a:rPr sz="740" i="0">
                <a:solidFill>
                  <a:srgbClr val="1E2430"/>
                </a:solidFill>
                <a:latin typeface="Calibri"/>
              </a:rPr>
              <a:t>A. Jungo and M. Reyes, “Assessing reliability and challenges of uncertainty estimations for medical image segmentation,” in </a:t>
            </a:r>
            <a:r>
              <a:rPr sz="740" i="1">
                <a:solidFill>
                  <a:srgbClr val="1E2430"/>
                </a:solidFill>
                <a:latin typeface="Calibri"/>
              </a:rPr>
              <a:t>Medical Image Computing and Computer Assisted Intervention (MICCAI 2019)</a:t>
            </a:r>
            <a:r>
              <a:rPr sz="740" i="0">
                <a:solidFill>
                  <a:srgbClr val="1E2430"/>
                </a:solidFill>
                <a:latin typeface="Calibri"/>
              </a:rPr>
              <a:t>, 2019, pp. 48–56.</a:t>
            </a:r>
          </a:p>
          <a:p>
            <a:pPr marL="274320" indent="-274320">
              <a:spcAft>
                <a:spcPts val="100"/>
              </a:spcAft>
            </a:pPr>
            <a:r>
              <a:rPr sz="740" i="0">
                <a:solidFill>
                  <a:srgbClr val="1E2430"/>
                </a:solidFill>
                <a:latin typeface="Calibri"/>
              </a:rPr>
              <a:t>[59]	</a:t>
            </a:r>
            <a:r>
              <a:rPr sz="740" i="0">
                <a:solidFill>
                  <a:srgbClr val="1E2430"/>
                </a:solidFill>
                <a:latin typeface="Calibri"/>
              </a:rPr>
              <a:t>A. G. Roy, S. Conjeti, N. Navab, and C. Wachinger, “Bayesian QuickNAT: Model uncertainty in deep whole-brain segmentation for structure-wise quality control,” </a:t>
            </a:r>
            <a:r>
              <a:rPr sz="740" i="1">
                <a:solidFill>
                  <a:srgbClr val="1E2430"/>
                </a:solidFill>
                <a:latin typeface="Calibri"/>
              </a:rPr>
              <a:t>NeuroImage</a:t>
            </a:r>
            <a:r>
              <a:rPr sz="740" i="0">
                <a:solidFill>
                  <a:srgbClr val="1E2430"/>
                </a:solidFill>
                <a:latin typeface="Calibri"/>
              </a:rPr>
              <a:t>, vol. 195, pp. 11–22, 2019.</a:t>
            </a:r>
          </a:p>
          <a:p>
            <a:pPr marL="274320" indent="-274320">
              <a:spcAft>
                <a:spcPts val="100"/>
              </a:spcAft>
            </a:pPr>
            <a:r>
              <a:rPr sz="740" i="0">
                <a:solidFill>
                  <a:srgbClr val="1E2430"/>
                </a:solidFill>
                <a:latin typeface="Calibri"/>
              </a:rPr>
              <a:t>[60]	</a:t>
            </a:r>
            <a:r>
              <a:rPr sz="740" i="0">
                <a:solidFill>
                  <a:srgbClr val="1E2430"/>
                </a:solidFill>
                <a:latin typeface="Calibri"/>
              </a:rPr>
              <a:t>A. Mehrtash, W. M. Wells, C. M. Tempany, P. Abolmaesumi, and T. Kapur, “Confidence calibration and predictive uncertainty estimation for deep medical image segmentation,” </a:t>
            </a:r>
            <a:r>
              <a:rPr sz="740" i="1">
                <a:solidFill>
                  <a:srgbClr val="1E2430"/>
                </a:solidFill>
                <a:latin typeface="Calibri"/>
              </a:rPr>
              <a:t>IEEE Transactions on Medical Imaging</a:t>
            </a:r>
            <a:r>
              <a:rPr sz="740" i="0">
                <a:solidFill>
                  <a:srgbClr val="1E2430"/>
                </a:solidFill>
                <a:latin typeface="Calibri"/>
              </a:rPr>
              <a:t>, vol. 39, no. 12, pp. 3868–3878, 2020.</a:t>
            </a:r>
          </a:p>
          <a:p>
            <a:pPr marL="274320" indent="-274320">
              <a:spcAft>
                <a:spcPts val="100"/>
              </a:spcAft>
            </a:pPr>
            <a:r>
              <a:rPr sz="740" i="0">
                <a:solidFill>
                  <a:srgbClr val="1E2430"/>
                </a:solidFill>
                <a:latin typeface="Calibri"/>
              </a:rPr>
              <a:t>[61]	</a:t>
            </a:r>
            <a:r>
              <a:rPr sz="740" i="0">
                <a:solidFill>
                  <a:srgbClr val="1E2430"/>
                </a:solidFill>
                <a:latin typeface="Calibri"/>
              </a:rPr>
              <a:t>L. Maier-Hein et al., “Metrics reloaded: Recommendations for image analysis validation,” </a:t>
            </a:r>
            <a:r>
              <a:rPr sz="740" i="1">
                <a:solidFill>
                  <a:srgbClr val="1E2430"/>
                </a:solidFill>
                <a:latin typeface="Calibri"/>
              </a:rPr>
              <a:t>Nature Methods</a:t>
            </a:r>
            <a:r>
              <a:rPr sz="740" i="0">
                <a:solidFill>
                  <a:srgbClr val="1E2430"/>
                </a:solidFill>
                <a:latin typeface="Calibri"/>
              </a:rPr>
              <a:t>, vol. 21, no. 2, pp. 195–212, 2024.</a:t>
            </a:r>
          </a:p>
          <a:p>
            <a:pPr marL="274320" indent="-274320">
              <a:spcAft>
                <a:spcPts val="100"/>
              </a:spcAft>
            </a:pPr>
            <a:r>
              <a:rPr sz="740" i="0">
                <a:solidFill>
                  <a:srgbClr val="1E2430"/>
                </a:solidFill>
                <a:latin typeface="Calibri"/>
              </a:rPr>
              <a:t>[62]	</a:t>
            </a:r>
            <a:r>
              <a:rPr sz="740" i="0">
                <a:solidFill>
                  <a:srgbClr val="1E2430"/>
                </a:solidFill>
                <a:latin typeface="Calibri"/>
              </a:rPr>
              <a:t>A. Hamada, “Br35H :: Brain tumor detection 2020,” IEEE DataPort, also available at https://www.kaggle.com/datasets/ahmedhamada0/brain-tumor-detection, 2025.</a:t>
            </a:r>
          </a:p>
          <a:p>
            <a:pPr marL="274320" indent="-274320">
              <a:spcAft>
                <a:spcPts val="100"/>
              </a:spcAft>
            </a:pPr>
            <a:r>
              <a:rPr sz="740" i="0">
                <a:solidFill>
                  <a:srgbClr val="1E2430"/>
                </a:solidFill>
                <a:latin typeface="Calibri"/>
              </a:rPr>
              <a:t>[63]	</a:t>
            </a:r>
            <a:r>
              <a:rPr sz="740" i="0">
                <a:solidFill>
                  <a:srgbClr val="1E2430"/>
                </a:solidFill>
                <a:latin typeface="Calibri"/>
              </a:rPr>
              <a:t>N. Chakrabarty, “Brain MRI images for brain tumor detection,” Kaggle dataset, version 1, 2019.</a:t>
            </a:r>
          </a:p>
          <a:p>
            <a:pPr marL="274320" indent="-274320">
              <a:spcAft>
                <a:spcPts val="100"/>
              </a:spcAft>
            </a:pPr>
            <a:r>
              <a:rPr sz="740" i="0">
                <a:solidFill>
                  <a:srgbClr val="1E2430"/>
                </a:solidFill>
                <a:latin typeface="Calibri"/>
              </a:rPr>
              <a:t>[64]	</a:t>
            </a:r>
            <a:r>
              <a:rPr sz="740" i="0">
                <a:solidFill>
                  <a:srgbClr val="1E2430"/>
                </a:solidFill>
                <a:latin typeface="Calibri"/>
              </a:rPr>
              <a:t>S. Bhuvaji, A. Kadam, P. Bhumkar, S. Dedge, and S. Kanchan, “Brain tumor classification (MRI),” Kaggle dataset, 2020.</a:t>
            </a:r>
          </a:p>
          <a:p>
            <a:pPr marL="274320" indent="-274320">
              <a:spcAft>
                <a:spcPts val="100"/>
              </a:spcAft>
            </a:pPr>
            <a:r>
              <a:rPr sz="740" i="0">
                <a:solidFill>
                  <a:srgbClr val="1E2430"/>
                </a:solidFill>
                <a:latin typeface="Calibri"/>
              </a:rPr>
              <a:t>[65]	</a:t>
            </a:r>
            <a:r>
              <a:rPr sz="740" i="0">
                <a:solidFill>
                  <a:srgbClr val="1E2430"/>
                </a:solidFill>
                <a:latin typeface="Calibri"/>
              </a:rPr>
              <a:t>J. Cheng, “Brain tumor dataset,” figshare, version 5, 2017.</a:t>
            </a:r>
          </a:p>
          <a:p>
            <a:pPr marL="274320" indent="-274320">
              <a:spcAft>
                <a:spcPts val="100"/>
              </a:spcAft>
            </a:pPr>
            <a:r>
              <a:rPr sz="740" i="0">
                <a:solidFill>
                  <a:srgbClr val="1E2430"/>
                </a:solidFill>
                <a:latin typeface="Calibri"/>
              </a:rPr>
              <a:t>[66]	</a:t>
            </a:r>
            <a:r>
              <a:rPr sz="740" i="0">
                <a:solidFill>
                  <a:srgbClr val="1E2430"/>
                </a:solidFill>
                <a:latin typeface="Calibri"/>
              </a:rPr>
              <a:t>MoundirB, “Jun Cheng brain tumor MRI dataset JPG,” Kaggle dataset, version 1, 2025.</a:t>
            </a:r>
          </a:p>
          <a:p>
            <a:pPr marL="274320" indent="-274320">
              <a:spcAft>
                <a:spcPts val="100"/>
              </a:spcAft>
            </a:pPr>
            <a:r>
              <a:rPr sz="740" i="0">
                <a:solidFill>
                  <a:srgbClr val="1E2430"/>
                </a:solidFill>
                <a:latin typeface="Calibri"/>
              </a:rPr>
              <a:t>[67]	</a:t>
            </a:r>
            <a:r>
              <a:rPr sz="740" i="0">
                <a:solidFill>
                  <a:srgbClr val="1E2430"/>
                </a:solidFill>
                <a:latin typeface="Calibri"/>
              </a:rPr>
              <a:t>A. Fateh et al., “BRISC: Annotated dataset for brain tumor segmentation and classification,” </a:t>
            </a:r>
            <a:r>
              <a:rPr sz="740" i="1">
                <a:solidFill>
                  <a:srgbClr val="1E2430"/>
                </a:solidFill>
                <a:latin typeface="Calibri"/>
              </a:rPr>
              <a:t>Scientific Data</a:t>
            </a:r>
            <a:r>
              <a:rPr sz="740" i="0">
                <a:solidFill>
                  <a:srgbClr val="1E2430"/>
                </a:solidFill>
                <a:latin typeface="Calibri"/>
              </a:rPr>
              <a:t>, vol. 13, Art. no. 361,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(3/3)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[68]	</a:t>
            </a:r>
            <a:r>
              <a:rPr sz="740" i="0">
                <a:solidFill>
                  <a:srgbClr val="1E2430"/>
                </a:solidFill>
                <a:latin typeface="Calibri"/>
              </a:rPr>
              <a:t>V. Monga and B. L. Evans, “Perceptual image hashing via feature points: Performance evaluation and tradeoffs,” </a:t>
            </a:r>
            <a:r>
              <a:rPr sz="740" i="1">
                <a:solidFill>
                  <a:srgbClr val="1E2430"/>
                </a:solidFill>
                <a:latin typeface="Calibri"/>
              </a:rPr>
              <a:t>IEEE Transactions on Image Processing</a:t>
            </a:r>
            <a:r>
              <a:rPr sz="740" i="0">
                <a:solidFill>
                  <a:srgbClr val="1E2430"/>
                </a:solidFill>
                <a:latin typeface="Calibri"/>
              </a:rPr>
              <a:t>, vol. 15, no. 11, pp. 3452–3465, 2006.</a:t>
            </a:r>
          </a:p>
          <a:p>
            <a:pPr marL="274320" indent="-274320">
              <a:spcAft>
                <a:spcPts val="100"/>
              </a:spcAft>
            </a:pPr>
            <a:r>
              <a:rPr sz="740" i="0">
                <a:solidFill>
                  <a:srgbClr val="1E2430"/>
                </a:solidFill>
                <a:latin typeface="Calibri"/>
              </a:rPr>
              <a:t>[69]	</a:t>
            </a:r>
            <a:r>
              <a:rPr sz="740" i="0">
                <a:solidFill>
                  <a:srgbClr val="1E2430"/>
                </a:solidFill>
                <a:latin typeface="Calibri"/>
              </a:rPr>
              <a:t>R. W. Hamming, “Error detecting and error correcting codes,” </a:t>
            </a:r>
            <a:r>
              <a:rPr sz="740" i="1">
                <a:solidFill>
                  <a:srgbClr val="1E2430"/>
                </a:solidFill>
                <a:latin typeface="Calibri"/>
              </a:rPr>
              <a:t>Bell System Technical Journal</a:t>
            </a:r>
            <a:r>
              <a:rPr sz="740" i="0">
                <a:solidFill>
                  <a:srgbClr val="1E2430"/>
                </a:solidFill>
                <a:latin typeface="Calibri"/>
              </a:rPr>
              <a:t>, vol. 29, no. 2, pp. 147–160, 1950.</a:t>
            </a:r>
          </a:p>
          <a:p>
            <a:pPr marL="274320" indent="-274320">
              <a:spcAft>
                <a:spcPts val="100"/>
              </a:spcAft>
            </a:pPr>
            <a:r>
              <a:rPr sz="740" i="0">
                <a:solidFill>
                  <a:srgbClr val="1E2430"/>
                </a:solidFill>
                <a:latin typeface="Calibri"/>
              </a:rPr>
              <a:t>[70]	</a:t>
            </a:r>
            <a:r>
              <a:rPr sz="740" i="0">
                <a:solidFill>
                  <a:srgbClr val="1E2430"/>
                </a:solidFill>
                <a:latin typeface="Calibri"/>
              </a:rPr>
              <a:t>M. Norouzi, A. Punjani, and D. J. Fleet, “Fast exact search in Hamming space with multi-index hashing,” </a:t>
            </a:r>
            <a:r>
              <a:rPr sz="740" i="1">
                <a:solidFill>
                  <a:srgbClr val="1E2430"/>
                </a:solidFill>
                <a:latin typeface="Calibri"/>
              </a:rPr>
              <a:t>IEEE Transactions on Pattern Analysis and Machine Intelligence</a:t>
            </a:r>
            <a:r>
              <a:rPr sz="740" i="0">
                <a:solidFill>
                  <a:srgbClr val="1E2430"/>
                </a:solidFill>
                <a:latin typeface="Calibri"/>
              </a:rPr>
              <a:t>, vol. 36, no. 6, pp. 1107–1119, 2014.</a:t>
            </a:r>
          </a:p>
          <a:p>
            <a:pPr marL="274320" indent="-274320">
              <a:spcAft>
                <a:spcPts val="100"/>
              </a:spcAft>
            </a:pPr>
            <a:r>
              <a:rPr sz="740" i="0">
                <a:solidFill>
                  <a:srgbClr val="1E2430"/>
                </a:solidFill>
                <a:latin typeface="Calibri"/>
              </a:rPr>
              <a:t>[71]	</a:t>
            </a:r>
            <a:r>
              <a:rPr sz="740" i="0">
                <a:solidFill>
                  <a:srgbClr val="1E2430"/>
                </a:solidFill>
                <a:latin typeface="Calibri"/>
              </a:rPr>
              <a:t>R. Geirhos et al., “Shortcut learning in deep neural networks,” </a:t>
            </a:r>
            <a:r>
              <a:rPr sz="740" i="1">
                <a:solidFill>
                  <a:srgbClr val="1E2430"/>
                </a:solidFill>
                <a:latin typeface="Calibri"/>
              </a:rPr>
              <a:t>Nature Machine Intelligence</a:t>
            </a:r>
            <a:r>
              <a:rPr sz="740" i="0">
                <a:solidFill>
                  <a:srgbClr val="1E2430"/>
                </a:solidFill>
                <a:latin typeface="Calibri"/>
              </a:rPr>
              <a:t>, vol. 2, no. 11, pp. 665–673, 2020.</a:t>
            </a:r>
          </a:p>
          <a:p>
            <a:pPr marL="274320" indent="-274320">
              <a:spcAft>
                <a:spcPts val="100"/>
              </a:spcAft>
            </a:pPr>
            <a:r>
              <a:rPr sz="740" i="0">
                <a:solidFill>
                  <a:srgbClr val="1E2430"/>
                </a:solidFill>
                <a:latin typeface="Calibri"/>
              </a:rPr>
              <a:t>[72]	</a:t>
            </a:r>
            <a:r>
              <a:rPr sz="740" i="0">
                <a:solidFill>
                  <a:srgbClr val="1E2430"/>
                </a:solidFill>
                <a:latin typeface="Calibri"/>
              </a:rPr>
              <a:t>J. R. Zech, M. A. Badgeley, M. Liu, A. B. Costa, J. J. Titano, and E. K. Oermann, “Variable generalization performance of a deep learning model to detect pneumonia in chest radiographs: A cross-sectional study,” </a:t>
            </a:r>
            <a:r>
              <a:rPr sz="740" i="1">
                <a:solidFill>
                  <a:srgbClr val="1E2430"/>
                </a:solidFill>
                <a:latin typeface="Calibri"/>
              </a:rPr>
              <a:t>PLOS Medicine</a:t>
            </a:r>
            <a:r>
              <a:rPr sz="740" i="0">
                <a:solidFill>
                  <a:srgbClr val="1E2430"/>
                </a:solidFill>
                <a:latin typeface="Calibri"/>
              </a:rPr>
              <a:t>, vol. 15, no. 11, Art. no. e1002683, 2018.</a:t>
            </a:r>
          </a:p>
          <a:p>
            <a:pPr marL="274320" indent="-274320">
              <a:spcAft>
                <a:spcPts val="100"/>
              </a:spcAft>
            </a:pPr>
            <a:r>
              <a:rPr sz="740" i="0">
                <a:solidFill>
                  <a:srgbClr val="1E2430"/>
                </a:solidFill>
                <a:latin typeface="Calibri"/>
              </a:rPr>
              <a:t>[73]	</a:t>
            </a:r>
            <a:r>
              <a:rPr sz="740" i="0">
                <a:solidFill>
                  <a:srgbClr val="1E2430"/>
                </a:solidFill>
                <a:latin typeface="Calibri"/>
              </a:rPr>
              <a:t>A. J. DeGrave, J. D. Janizek, and S.-I. Lee, “AI for radiographic COVID-19 detection selects shortcuts over signal,” </a:t>
            </a:r>
            <a:r>
              <a:rPr sz="740" i="1">
                <a:solidFill>
                  <a:srgbClr val="1E2430"/>
                </a:solidFill>
                <a:latin typeface="Calibri"/>
              </a:rPr>
              <a:t>Nature Machine Intelligence</a:t>
            </a:r>
            <a:r>
              <a:rPr sz="740" i="0">
                <a:solidFill>
                  <a:srgbClr val="1E2430"/>
                </a:solidFill>
                <a:latin typeface="Calibri"/>
              </a:rPr>
              <a:t>, vol. 3, no. 7, pp. 610–619, 2021.</a:t>
            </a:r>
          </a:p>
          <a:p>
            <a:pPr marL="274320" indent="-274320">
              <a:spcAft>
                <a:spcPts val="100"/>
              </a:spcAft>
            </a:pPr>
            <a:r>
              <a:rPr sz="740" i="0">
                <a:solidFill>
                  <a:srgbClr val="1E2430"/>
                </a:solidFill>
                <a:latin typeface="Calibri"/>
              </a:rPr>
              <a:t>[74]	</a:t>
            </a:r>
            <a:r>
              <a:rPr sz="740" i="0">
                <a:solidFill>
                  <a:srgbClr val="1E2430"/>
                </a:solidFill>
                <a:latin typeface="Calibri"/>
              </a:rPr>
              <a:t>R. R. Selvaraju, M. Cogswell, A. Das, R. Vedantam, D. Parikh, and D. Batra, “Grad-CAM: Visual explanations from deep networks via gradient-based localization,” in </a:t>
            </a:r>
            <a:r>
              <a:rPr sz="740" i="1">
                <a:solidFill>
                  <a:srgbClr val="1E2430"/>
                </a:solidFill>
                <a:latin typeface="Calibri"/>
              </a:rPr>
              <a:t>Proc. IEEE International Conference on Computer Vision (ICCV)</a:t>
            </a:r>
            <a:r>
              <a:rPr sz="740" i="0">
                <a:solidFill>
                  <a:srgbClr val="1E2430"/>
                </a:solidFill>
                <a:latin typeface="Calibri"/>
              </a:rPr>
              <a:t>, 2017, pp. 618–626.</a:t>
            </a:r>
          </a:p>
          <a:p>
            <a:pPr marL="274320" indent="-274320">
              <a:spcAft>
                <a:spcPts val="100"/>
              </a:spcAft>
            </a:pPr>
            <a:r>
              <a:rPr sz="740" i="0">
                <a:solidFill>
                  <a:srgbClr val="1E2430"/>
                </a:solidFill>
                <a:latin typeface="Calibri"/>
              </a:rPr>
              <a:t>[75]	</a:t>
            </a:r>
            <a:r>
              <a:rPr sz="740" i="0">
                <a:solidFill>
                  <a:srgbClr val="1E2430"/>
                </a:solidFill>
                <a:latin typeface="Calibri"/>
              </a:rPr>
              <a:t>M. D. Zeiler and R. Fergus, “Visualizing and understanding convolutional networks,” in </a:t>
            </a:r>
            <a:r>
              <a:rPr sz="740" i="1">
                <a:solidFill>
                  <a:srgbClr val="1E2430"/>
                </a:solidFill>
                <a:latin typeface="Calibri"/>
              </a:rPr>
              <a:t>Computer Vision – ECCV 2014</a:t>
            </a:r>
            <a:r>
              <a:rPr sz="740" i="0">
                <a:solidFill>
                  <a:srgbClr val="1E2430"/>
                </a:solidFill>
                <a:latin typeface="Calibri"/>
              </a:rPr>
              <a:t>, 2014, pp. 818–833.</a:t>
            </a:r>
          </a:p>
          <a:p>
            <a:pPr marL="274320" indent="-274320">
              <a:spcAft>
                <a:spcPts val="100"/>
              </a:spcAft>
            </a:pPr>
            <a:r>
              <a:rPr sz="740" i="0">
                <a:solidFill>
                  <a:srgbClr val="1E2430"/>
                </a:solidFill>
                <a:latin typeface="Calibri"/>
              </a:rPr>
              <a:t>[76]	</a:t>
            </a:r>
            <a:r>
              <a:rPr sz="740" i="0">
                <a:solidFill>
                  <a:srgbClr val="1E2430"/>
                </a:solidFill>
                <a:latin typeface="Calibri"/>
              </a:rPr>
              <a:t>S. Abnar and W. Zuidema, “Quantifying attention flow in transformers,” in </a:t>
            </a:r>
            <a:r>
              <a:rPr sz="740" i="1">
                <a:solidFill>
                  <a:srgbClr val="1E2430"/>
                </a:solidFill>
                <a:latin typeface="Calibri"/>
              </a:rPr>
              <a:t>Proc. 58th Annual Meeting of the Association for Computational Linguistics (ACL)</a:t>
            </a:r>
            <a:r>
              <a:rPr sz="740" i="0">
                <a:solidFill>
                  <a:srgbClr val="1E2430"/>
                </a:solidFill>
                <a:latin typeface="Calibri"/>
              </a:rPr>
              <a:t>, 2020, pp. 4190–4197.</a:t>
            </a:r>
          </a:p>
          <a:p>
            <a:pPr marL="274320" indent="-274320">
              <a:spcAft>
                <a:spcPts val="100"/>
              </a:spcAft>
            </a:pPr>
            <a:r>
              <a:rPr sz="740" i="0">
                <a:solidFill>
                  <a:srgbClr val="1E2430"/>
                </a:solidFill>
                <a:latin typeface="Calibri"/>
              </a:rPr>
              <a:t>[77]	</a:t>
            </a:r>
            <a:r>
              <a:rPr sz="740" i="0">
                <a:solidFill>
                  <a:srgbClr val="1E2430"/>
                </a:solidFill>
                <a:latin typeface="Calibri"/>
              </a:rPr>
              <a:t>K. Vinogradova, A. Dibrov, and G. Myers, “Towards interpretable semantic segmentation via gradient-weighted class activation mapping (student abstract),” </a:t>
            </a:r>
            <a:r>
              <a:rPr sz="740" i="1">
                <a:solidFill>
                  <a:srgbClr val="1E2430"/>
                </a:solidFill>
                <a:latin typeface="Calibri"/>
              </a:rPr>
              <a:t>Proceedings of the AAAI Conference on Artificial Intelligence</a:t>
            </a:r>
            <a:r>
              <a:rPr sz="740" i="0">
                <a:solidFill>
                  <a:srgbClr val="1E2430"/>
                </a:solidFill>
                <a:latin typeface="Calibri"/>
              </a:rPr>
              <a:t>, vol. 34, no. 10, pp. 13943–13944, 2020.</a:t>
            </a:r>
          </a:p>
          <a:p>
            <a:pPr marL="274320" indent="-274320">
              <a:spcAft>
                <a:spcPts val="100"/>
              </a:spcAft>
            </a:pPr>
            <a:r>
              <a:rPr sz="740" i="0">
                <a:solidFill>
                  <a:srgbClr val="1E2430"/>
                </a:solidFill>
                <a:latin typeface="Calibri"/>
              </a:rPr>
              <a:t>[78]	</a:t>
            </a:r>
            <a:r>
              <a:rPr sz="740" i="0">
                <a:solidFill>
                  <a:srgbClr val="1E2430"/>
                </a:solidFill>
                <a:latin typeface="Calibri"/>
              </a:rPr>
              <a:t>C. Guo, G. Pleiss, Y. Sun, and K. Q. Weinberger, “On calibration of modern neural networks,” in </a:t>
            </a:r>
            <a:r>
              <a:rPr sz="740" i="1">
                <a:solidFill>
                  <a:srgbClr val="1E2430"/>
                </a:solidFill>
                <a:latin typeface="Calibri"/>
              </a:rPr>
              <a:t>Proc. 34th International Conference on Machine Learning (ICML)</a:t>
            </a:r>
            <a:r>
              <a:rPr sz="740" i="0">
                <a:solidFill>
                  <a:srgbClr val="1E2430"/>
                </a:solidFill>
                <a:latin typeface="Calibri"/>
              </a:rPr>
              <a:t>, 2017, pp. 1321–1330.</a:t>
            </a:r>
          </a:p>
          <a:p>
            <a:pPr marL="274320" indent="-274320">
              <a:spcAft>
                <a:spcPts val="100"/>
              </a:spcAft>
            </a:pPr>
            <a:r>
              <a:rPr sz="740" i="0">
                <a:solidFill>
                  <a:srgbClr val="1E2430"/>
                </a:solidFill>
                <a:latin typeface="Calibri"/>
              </a:rPr>
              <a:t>[79]	</a:t>
            </a:r>
            <a:r>
              <a:rPr sz="740" i="0">
                <a:solidFill>
                  <a:srgbClr val="1E2430"/>
                </a:solidFill>
                <a:latin typeface="Calibri"/>
              </a:rPr>
              <a:t>M. Pakdaman Naeini, G. Cooper, and M. Hauskrecht, “Obtaining well calibrated probabilities using Bayesian binning,” in </a:t>
            </a:r>
            <a:r>
              <a:rPr sz="740" i="1">
                <a:solidFill>
                  <a:srgbClr val="1E2430"/>
                </a:solidFill>
                <a:latin typeface="Calibri"/>
              </a:rPr>
              <a:t>Proc. AAAI Conference on Artificial Intelligence 29(1)</a:t>
            </a:r>
            <a:r>
              <a:rPr sz="740" i="0">
                <a:solidFill>
                  <a:srgbClr val="1E2430"/>
                </a:solidFill>
                <a:latin typeface="Calibri"/>
              </a:rPr>
              <a:t>, 2015.</a:t>
            </a:r>
          </a:p>
          <a:p>
            <a:pPr marL="274320" indent="-274320">
              <a:spcAft>
                <a:spcPts val="100"/>
              </a:spcAft>
            </a:pPr>
            <a:r>
              <a:rPr sz="740" i="0">
                <a:solidFill>
                  <a:srgbClr val="1E2430"/>
                </a:solidFill>
                <a:latin typeface="Calibri"/>
              </a:rPr>
              <a:t>[80]	</a:t>
            </a:r>
            <a:r>
              <a:rPr sz="740" i="0">
                <a:solidFill>
                  <a:srgbClr val="1E2430"/>
                </a:solidFill>
                <a:latin typeface="Calibri"/>
              </a:rPr>
              <a:t>T. Gneiting and A. E. Raftery, “Strictly proper scoring rules, prediction, and estimation,” </a:t>
            </a:r>
            <a:r>
              <a:rPr sz="740" i="1">
                <a:solidFill>
                  <a:srgbClr val="1E2430"/>
                </a:solidFill>
                <a:latin typeface="Calibri"/>
              </a:rPr>
              <a:t>Journal of the American Statistical Association</a:t>
            </a:r>
            <a:r>
              <a:rPr sz="740" i="0">
                <a:solidFill>
                  <a:srgbClr val="1E2430"/>
                </a:solidFill>
                <a:latin typeface="Calibri"/>
              </a:rPr>
              <a:t>, vol. 102, no. 477, pp. 359–378, 2007.</a:t>
            </a:r>
          </a:p>
          <a:p>
            <a:pPr marL="274320" indent="-274320">
              <a:spcAft>
                <a:spcPts val="100"/>
              </a:spcAft>
            </a:pPr>
            <a:r>
              <a:rPr sz="740" i="0">
                <a:solidFill>
                  <a:srgbClr val="1E2430"/>
                </a:solidFill>
                <a:latin typeface="Calibri"/>
              </a:rPr>
              <a:t>[81]	</a:t>
            </a:r>
            <a:r>
              <a:rPr sz="740" i="0">
                <a:solidFill>
                  <a:srgbClr val="1E2430"/>
                </a:solidFill>
                <a:latin typeface="Calibri"/>
              </a:rPr>
              <a:t>B. Efron, “Bootstrap methods: Another look at the jackknife,” </a:t>
            </a:r>
            <a:r>
              <a:rPr sz="740" i="1">
                <a:solidFill>
                  <a:srgbClr val="1E2430"/>
                </a:solidFill>
                <a:latin typeface="Calibri"/>
              </a:rPr>
              <a:t>The Annals of Statistics</a:t>
            </a:r>
            <a:r>
              <a:rPr sz="740" i="0">
                <a:solidFill>
                  <a:srgbClr val="1E2430"/>
                </a:solidFill>
                <a:latin typeface="Calibri"/>
              </a:rPr>
              <a:t>, vol. 7, no. 1, pp. 1–26, 1979.</a:t>
            </a:r>
          </a:p>
          <a:p>
            <a:pPr marL="274320" indent="-274320">
              <a:spcAft>
                <a:spcPts val="100"/>
              </a:spcAft>
            </a:pPr>
            <a:r>
              <a:rPr sz="740" i="0">
                <a:solidFill>
                  <a:srgbClr val="1E2430"/>
                </a:solidFill>
                <a:latin typeface="Calibri"/>
              </a:rPr>
              <a:t>[82]	</a:t>
            </a:r>
            <a:r>
              <a:rPr sz="740" i="0">
                <a:solidFill>
                  <a:srgbClr val="1E2430"/>
                </a:solidFill>
                <a:latin typeface="Calibri"/>
              </a:rPr>
              <a:t>Q. McNemar, “Note on the sampling error of the difference between correlated proportions or percentages,” </a:t>
            </a:r>
            <a:r>
              <a:rPr sz="740" i="1">
                <a:solidFill>
                  <a:srgbClr val="1E2430"/>
                </a:solidFill>
                <a:latin typeface="Calibri"/>
              </a:rPr>
              <a:t>Psychometrika</a:t>
            </a:r>
            <a:r>
              <a:rPr sz="740" i="0">
                <a:solidFill>
                  <a:srgbClr val="1E2430"/>
                </a:solidFill>
                <a:latin typeface="Calibri"/>
              </a:rPr>
              <a:t>, vol. 12, no. 2, pp. 153–157, 1947.</a:t>
            </a:r>
          </a:p>
          <a:p>
            <a:pPr marL="274320" indent="-274320">
              <a:spcAft>
                <a:spcPts val="100"/>
              </a:spcAft>
            </a:pPr>
            <a:r>
              <a:rPr sz="740" i="0">
                <a:solidFill>
                  <a:srgbClr val="1E2430"/>
                </a:solidFill>
                <a:latin typeface="Calibri"/>
              </a:rPr>
              <a:t>[83]	</a:t>
            </a:r>
            <a:r>
              <a:rPr sz="740" i="0">
                <a:solidFill>
                  <a:srgbClr val="1E2430"/>
                </a:solidFill>
                <a:latin typeface="Calibri"/>
              </a:rPr>
              <a:t>S. Holm, “A simple sequentially rejective multiple test procedure,” </a:t>
            </a:r>
            <a:r>
              <a:rPr sz="740" i="1">
                <a:solidFill>
                  <a:srgbClr val="1E2430"/>
                </a:solidFill>
                <a:latin typeface="Calibri"/>
              </a:rPr>
              <a:t>Scandinavian Journal of Statistics</a:t>
            </a:r>
            <a:r>
              <a:rPr sz="740" i="0">
                <a:solidFill>
                  <a:srgbClr val="1E2430"/>
                </a:solidFill>
                <a:latin typeface="Calibri"/>
              </a:rPr>
              <a:t>, vol. 6, no. 2, pp. 65–70, 1979.</a:t>
            </a:r>
          </a:p>
          <a:p>
            <a:pPr marL="274320" indent="-274320">
              <a:spcAft>
                <a:spcPts val="100"/>
              </a:spcAft>
            </a:pPr>
            <a:r>
              <a:rPr sz="740" i="0">
                <a:solidFill>
                  <a:srgbClr val="1E2430"/>
                </a:solidFill>
                <a:latin typeface="Calibri"/>
              </a:rPr>
              <a:t>[84]	</a:t>
            </a:r>
            <a:r>
              <a:rPr sz="740" i="0">
                <a:solidFill>
                  <a:srgbClr val="1E2430"/>
                </a:solidFill>
                <a:latin typeface="Calibri"/>
              </a:rPr>
              <a:t>F. Wilcoxon, “Individual comparisons by ranking methods,” </a:t>
            </a:r>
            <a:r>
              <a:rPr sz="740" i="1">
                <a:solidFill>
                  <a:srgbClr val="1E2430"/>
                </a:solidFill>
                <a:latin typeface="Calibri"/>
              </a:rPr>
              <a:t>Biometrics Bulletin</a:t>
            </a:r>
            <a:r>
              <a:rPr sz="740" i="0">
                <a:solidFill>
                  <a:srgbClr val="1E2430"/>
                </a:solidFill>
                <a:latin typeface="Calibri"/>
              </a:rPr>
              <a:t>, vol. 1, no. 6, pp. 80–83, 1945.</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[85]	</a:t>
            </a:r>
            <a:r>
              <a:rPr sz="740" i="0">
                <a:solidFill>
                  <a:srgbClr val="1E2430"/>
                </a:solidFill>
                <a:latin typeface="Calibri"/>
              </a:rPr>
              <a:t>S. Suzuki and K. Abe, “Topological structural analysis of digitized binary images by border following,” </a:t>
            </a:r>
            <a:r>
              <a:rPr sz="740" i="1">
                <a:solidFill>
                  <a:srgbClr val="1E2430"/>
                </a:solidFill>
                <a:latin typeface="Calibri"/>
              </a:rPr>
              <a:t>Computer Vision, Graphics, and Image Processing</a:t>
            </a:r>
            <a:r>
              <a:rPr sz="740" i="0">
                <a:solidFill>
                  <a:srgbClr val="1E2430"/>
                </a:solidFill>
                <a:latin typeface="Calibri"/>
              </a:rPr>
              <a:t>, vol. 30, no. 1, pp. 32–46, 1985.</a:t>
            </a:r>
          </a:p>
          <a:p>
            <a:pPr marL="274320" indent="-274320">
              <a:spcAft>
                <a:spcPts val="100"/>
              </a:spcAft>
            </a:pPr>
            <a:r>
              <a:rPr sz="740" i="0">
                <a:solidFill>
                  <a:srgbClr val="1E2430"/>
                </a:solidFill>
                <a:latin typeface="Calibri"/>
              </a:rPr>
              <a:t>[86]	</a:t>
            </a:r>
            <a:r>
              <a:rPr sz="740" i="0">
                <a:solidFill>
                  <a:srgbClr val="1E2430"/>
                </a:solidFill>
                <a:latin typeface="Calibri"/>
              </a:rPr>
              <a:t>B. Zitová and J. Flusser, “Image registration methods: A survey,” </a:t>
            </a:r>
            <a:r>
              <a:rPr sz="740" i="1">
                <a:solidFill>
                  <a:srgbClr val="1E2430"/>
                </a:solidFill>
                <a:latin typeface="Calibri"/>
              </a:rPr>
              <a:t>Image and Vision Computing</a:t>
            </a:r>
            <a:r>
              <a:rPr sz="740" i="0">
                <a:solidFill>
                  <a:srgbClr val="1E2430"/>
                </a:solidFill>
                <a:latin typeface="Calibri"/>
              </a:rPr>
              <a:t>, vol. 21, no. 11, pp. 977–1000, 2003.</a:t>
            </a:r>
          </a:p>
          <a:p>
            <a:pPr marL="274320" indent="-274320">
              <a:spcAft>
                <a:spcPts val="100"/>
              </a:spcAft>
            </a:pPr>
            <a:r>
              <a:rPr sz="740" i="0">
                <a:solidFill>
                  <a:srgbClr val="1E2430"/>
                </a:solidFill>
                <a:latin typeface="Calibri"/>
              </a:rPr>
              <a:t>[87]	</a:t>
            </a:r>
            <a:r>
              <a:rPr sz="740" i="0">
                <a:solidFill>
                  <a:srgbClr val="1E2430"/>
                </a:solidFill>
                <a:latin typeface="Calibri"/>
              </a:rPr>
              <a:t>F. Pedregosa et al., “Scikit-learn: Machine learning in Python,” </a:t>
            </a:r>
            <a:r>
              <a:rPr sz="740" i="1">
                <a:solidFill>
                  <a:srgbClr val="1E2430"/>
                </a:solidFill>
                <a:latin typeface="Calibri"/>
              </a:rPr>
              <a:t>Journal of Machine Learning Research</a:t>
            </a:r>
            <a:r>
              <a:rPr sz="740" i="0">
                <a:solidFill>
                  <a:srgbClr val="1E2430"/>
                </a:solidFill>
                <a:latin typeface="Calibri"/>
              </a:rPr>
              <a:t>, vol. 12, no. 85, pp. 2825–2830, 2011.</a:t>
            </a:r>
          </a:p>
          <a:p>
            <a:pPr marL="274320" indent="-274320">
              <a:spcAft>
                <a:spcPts val="100"/>
              </a:spcAft>
            </a:pPr>
            <a:r>
              <a:rPr sz="740" i="0">
                <a:solidFill>
                  <a:srgbClr val="1E2430"/>
                </a:solidFill>
                <a:latin typeface="Calibri"/>
              </a:rPr>
              <a:t>[88]	</a:t>
            </a:r>
            <a:r>
              <a:rPr sz="740" i="0">
                <a:solidFill>
                  <a:srgbClr val="1E2430"/>
                </a:solidFill>
                <a:latin typeface="Calibri"/>
              </a:rPr>
              <a:t>M. Stone, “Cross-validatory choice and assessment of statistical predictions,” </a:t>
            </a:r>
            <a:r>
              <a:rPr sz="740" i="1">
                <a:solidFill>
                  <a:srgbClr val="1E2430"/>
                </a:solidFill>
                <a:latin typeface="Calibri"/>
              </a:rPr>
              <a:t>Journal of the Royal Statistical Society: Series B (Methodological)</a:t>
            </a:r>
            <a:r>
              <a:rPr sz="740" i="0">
                <a:solidFill>
                  <a:srgbClr val="1E2430"/>
                </a:solidFill>
                <a:latin typeface="Calibri"/>
              </a:rPr>
              <a:t>, vol. 36, no. 2, pp. 111–133, 1974.</a:t>
            </a:r>
          </a:p>
          <a:p>
            <a:pPr marL="274320" indent="-274320">
              <a:spcAft>
                <a:spcPts val="100"/>
              </a:spcAft>
            </a:pPr>
            <a:r>
              <a:rPr sz="740" i="0">
                <a:solidFill>
                  <a:srgbClr val="1E2430"/>
                </a:solidFill>
                <a:latin typeface="Calibri"/>
              </a:rPr>
              <a:t>[89]	</a:t>
            </a:r>
            <a:r>
              <a:rPr sz="740" i="0">
                <a:solidFill>
                  <a:srgbClr val="1E2430"/>
                </a:solidFill>
                <a:latin typeface="Calibri"/>
              </a:rPr>
              <a:t>R. Pascanu, T. Mikolov, and Y. Bengio, “On the difficulty of training recurrent neural networks,” in </a:t>
            </a:r>
            <a:r>
              <a:rPr sz="740" i="1">
                <a:solidFill>
                  <a:srgbClr val="1E2430"/>
                </a:solidFill>
                <a:latin typeface="Calibri"/>
              </a:rPr>
              <a:t>Proc. 30th International Conference on Machine Learning (ICML)</a:t>
            </a:r>
            <a:r>
              <a:rPr sz="740" i="0">
                <a:solidFill>
                  <a:srgbClr val="1E2430"/>
                </a:solidFill>
                <a:latin typeface="Calibri"/>
              </a:rPr>
              <a:t>, 2013, pp. 1310–1318.</a:t>
            </a:r>
          </a:p>
          <a:p>
            <a:pPr marL="274320" indent="-274320">
              <a:spcAft>
                <a:spcPts val="100"/>
              </a:spcAft>
            </a:pPr>
            <a:r>
              <a:rPr sz="740" i="0">
                <a:solidFill>
                  <a:srgbClr val="1E2430"/>
                </a:solidFill>
                <a:latin typeface="Calibri"/>
              </a:rPr>
              <a:t>[90]	</a:t>
            </a:r>
            <a:r>
              <a:rPr sz="740" i="0">
                <a:solidFill>
                  <a:srgbClr val="1E2430"/>
                </a:solidFill>
                <a:latin typeface="Calibri"/>
              </a:rPr>
              <a:t>W. J. Youden, “Index for rating diagnostic tests,” </a:t>
            </a:r>
            <a:r>
              <a:rPr sz="740" i="1">
                <a:solidFill>
                  <a:srgbClr val="1E2430"/>
                </a:solidFill>
                <a:latin typeface="Calibri"/>
              </a:rPr>
              <a:t>Cancer</a:t>
            </a:r>
            <a:r>
              <a:rPr sz="740" i="0">
                <a:solidFill>
                  <a:srgbClr val="1E2430"/>
                </a:solidFill>
                <a:latin typeface="Calibri"/>
              </a:rPr>
              <a:t>, vol. 3, no. 1, pp. 32–35, 1950.</a:t>
            </a:r>
          </a:p>
          <a:p>
            <a:pPr marL="274320" indent="-274320">
              <a:spcAft>
                <a:spcPts val="100"/>
              </a:spcAft>
            </a:pPr>
            <a:r>
              <a:rPr sz="740" i="0">
                <a:solidFill>
                  <a:srgbClr val="1E2430"/>
                </a:solidFill>
                <a:latin typeface="Calibri"/>
              </a:rPr>
              <a:t>[91]	</a:t>
            </a:r>
            <a:r>
              <a:rPr sz="740" i="0">
                <a:solidFill>
                  <a:srgbClr val="1E2430"/>
                </a:solidFill>
                <a:latin typeface="Calibri"/>
              </a:rPr>
              <a:t>J. A. Hanley and B. J. McNeil, “The meaning and use of the area under a receiver operating characteristic (ROC) curve,” </a:t>
            </a:r>
            <a:r>
              <a:rPr sz="740" i="1">
                <a:solidFill>
                  <a:srgbClr val="1E2430"/>
                </a:solidFill>
                <a:latin typeface="Calibri"/>
              </a:rPr>
              <a:t>Radiology</a:t>
            </a:r>
            <a:r>
              <a:rPr sz="740" i="0">
                <a:solidFill>
                  <a:srgbClr val="1E2430"/>
                </a:solidFill>
                <a:latin typeface="Calibri"/>
              </a:rPr>
              <a:t>, vol. 143, no. 1, pp. 29–36, 1982.</a:t>
            </a:r>
          </a:p>
          <a:p>
            <a:pPr marL="274320" indent="-274320">
              <a:spcAft>
                <a:spcPts val="100"/>
              </a:spcAft>
            </a:pPr>
            <a:r>
              <a:rPr sz="740" i="0">
                <a:solidFill>
                  <a:srgbClr val="1E2430"/>
                </a:solidFill>
                <a:latin typeface="Calibri"/>
              </a:rPr>
              <a:t>[92]	</a:t>
            </a:r>
            <a:r>
              <a:rPr sz="740" i="0">
                <a:solidFill>
                  <a:srgbClr val="1E2430"/>
                </a:solidFill>
                <a:latin typeface="Calibri"/>
              </a:rPr>
              <a:t>T. Fawcett, “An introduction to ROC analysis,” </a:t>
            </a:r>
            <a:r>
              <a:rPr sz="740" i="1">
                <a:solidFill>
                  <a:srgbClr val="1E2430"/>
                </a:solidFill>
                <a:latin typeface="Calibri"/>
              </a:rPr>
              <a:t>Pattern Recognition Letters</a:t>
            </a:r>
            <a:r>
              <a:rPr sz="740" i="0">
                <a:solidFill>
                  <a:srgbClr val="1E2430"/>
                </a:solidFill>
                <a:latin typeface="Calibri"/>
              </a:rPr>
              <a:t>, vol. 27, no. 8, pp. 861–874, 2006.</a:t>
            </a:r>
          </a:p>
          <a:p>
            <a:pPr marL="274320" indent="-274320">
              <a:spcAft>
                <a:spcPts val="100"/>
              </a:spcAft>
            </a:pPr>
            <a:r>
              <a:rPr sz="740" i="0">
                <a:solidFill>
                  <a:srgbClr val="1E2430"/>
                </a:solidFill>
                <a:latin typeface="Calibri"/>
              </a:rPr>
              <a:t>[93]	</a:t>
            </a:r>
            <a:r>
              <a:rPr sz="740" i="0">
                <a:solidFill>
                  <a:srgbClr val="1E2430"/>
                </a:solidFill>
                <a:latin typeface="Calibri"/>
              </a:rPr>
              <a:t>B. W. Matthews, “Comparison of the predicted and observed secondary structure of T4 phage lysozyme,” </a:t>
            </a:r>
            <a:r>
              <a:rPr sz="740" i="1">
                <a:solidFill>
                  <a:srgbClr val="1E2430"/>
                </a:solidFill>
                <a:latin typeface="Calibri"/>
              </a:rPr>
              <a:t>Biochimica et Biophysica Acta (BBA) – Protein Structure</a:t>
            </a:r>
            <a:r>
              <a:rPr sz="740" i="0">
                <a:solidFill>
                  <a:srgbClr val="1E2430"/>
                </a:solidFill>
                <a:latin typeface="Calibri"/>
              </a:rPr>
              <a:t>, vol. 405, no. 2, pp. 442–451, 1975.</a:t>
            </a:r>
          </a:p>
          <a:p>
            <a:pPr marL="274320" indent="-274320">
              <a:spcAft>
                <a:spcPts val="100"/>
              </a:spcAft>
            </a:pPr>
            <a:r>
              <a:rPr sz="740" i="0">
                <a:solidFill>
                  <a:srgbClr val="1E2430"/>
                </a:solidFill>
                <a:latin typeface="Calibri"/>
              </a:rPr>
              <a:t>[94]	</a:t>
            </a:r>
            <a:r>
              <a:rPr sz="740" i="0">
                <a:solidFill>
                  <a:srgbClr val="1E2430"/>
                </a:solidFill>
                <a:latin typeface="Calibri"/>
              </a:rPr>
              <a:t>D. Chicco and G. Jurman, “The advantages of the Matthews correlation coefficient (MCC) over F1 score and accuracy in binary classification evaluation,” </a:t>
            </a:r>
            <a:r>
              <a:rPr sz="740" i="1">
                <a:solidFill>
                  <a:srgbClr val="1E2430"/>
                </a:solidFill>
                <a:latin typeface="Calibri"/>
              </a:rPr>
              <a:t>BMC Genomics</a:t>
            </a:r>
            <a:r>
              <a:rPr sz="740" i="0">
                <a:solidFill>
                  <a:srgbClr val="1E2430"/>
                </a:solidFill>
                <a:latin typeface="Calibri"/>
              </a:rPr>
              <a:t>, vol. 21, Art. no. 6, 2020.</a:t>
            </a:r>
          </a:p>
          <a:p>
            <a:pPr marL="274320" indent="-274320">
              <a:spcAft>
                <a:spcPts val="100"/>
              </a:spcAft>
            </a:pPr>
            <a:r>
              <a:rPr sz="740" i="0">
                <a:solidFill>
                  <a:srgbClr val="1E2430"/>
                </a:solidFill>
                <a:latin typeface="Calibri"/>
              </a:rPr>
              <a:t>[95]	</a:t>
            </a:r>
            <a:r>
              <a:rPr sz="740" i="0">
                <a:solidFill>
                  <a:srgbClr val="1E2430"/>
                </a:solidFill>
                <a:latin typeface="Calibri"/>
              </a:rPr>
              <a:t>N. Otsu, “A threshold selection method from gray-level histograms,” </a:t>
            </a:r>
            <a:r>
              <a:rPr sz="740" i="1">
                <a:solidFill>
                  <a:srgbClr val="1E2430"/>
                </a:solidFill>
                <a:latin typeface="Calibri"/>
              </a:rPr>
              <a:t>IEEE Transactions on Systems, Man, and Cybernetics</a:t>
            </a:r>
            <a:r>
              <a:rPr sz="740" i="0">
                <a:solidFill>
                  <a:srgbClr val="1E2430"/>
                </a:solidFill>
                <a:latin typeface="Calibri"/>
              </a:rPr>
              <a:t>, vol. 9, no. 1, pp. 62–66, 1979.</a:t>
            </a:r>
          </a:p>
          <a:p>
            <a:pPr marL="274320" indent="-274320">
              <a:spcAft>
                <a:spcPts val="100"/>
              </a:spcAft>
            </a:pPr>
            <a:r>
              <a:rPr sz="740" i="0">
                <a:solidFill>
                  <a:srgbClr val="1E2430"/>
                </a:solidFill>
                <a:latin typeface="Calibri"/>
              </a:rPr>
              <a:t>[96]	</a:t>
            </a:r>
            <a:r>
              <a:rPr sz="740" i="0">
                <a:solidFill>
                  <a:srgbClr val="1E2430"/>
                </a:solidFill>
                <a:latin typeface="Calibri"/>
              </a:rPr>
              <a:t>C. Spearman, “The proof and measurement of association between two things,” </a:t>
            </a:r>
            <a:r>
              <a:rPr sz="740" i="1">
                <a:solidFill>
                  <a:srgbClr val="1E2430"/>
                </a:solidFill>
                <a:latin typeface="Calibri"/>
              </a:rPr>
              <a:t>The American Journal of Psychology</a:t>
            </a:r>
            <a:r>
              <a:rPr sz="740" i="0">
                <a:solidFill>
                  <a:srgbClr val="1E2430"/>
                </a:solidFill>
                <a:latin typeface="Calibri"/>
              </a:rPr>
              <a:t>, vol. 15, no. 1, pp. 72–101, 1904.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(2/4)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Backbone architectures and training</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LeCun et al., 1998 [26]; LeCun et al., 2015 [27]</a:t>
                      </a:r>
                    </a:p>
                  </a:txBody>
                  <a:tcPr marL="64008" marR="64008" marT="27432" marB="27432" anchor="ctr">
                    <a:solidFill>
                      <a:srgbClr val="FFFFFF"/>
                    </a:solidFill>
                  </a:tcPr>
                </a:tc>
                <a:tc>
                  <a:txBody>
                    <a:bodyPr wrap="square"/>
                    <a:lstStyle/>
                    <a:p>
                      <a:pPr algn="l"/>
                      <a:r>
                        <a:rPr sz="950" b="0" i="0">
                          <a:solidFill>
                            <a:srgbClr val="1E2430"/>
                          </a:solidFill>
                          <a:latin typeface="Calibri"/>
                        </a:rPr>
                        <a:t>Document recognition; review of deep learning</a:t>
                      </a:r>
                    </a:p>
                  </a:txBody>
                  <a:tcPr marL="64008" marR="64008" marT="27432" marB="27432" anchor="ctr">
                    <a:solidFill>
                      <a:srgbClr val="FFFFFF"/>
                    </a:solidFill>
                  </a:tcPr>
                </a:tc>
                <a:tc>
                  <a:txBody>
                    <a:bodyPr wrap="square"/>
                    <a:lstStyle/>
                    <a:p>
                      <a:pPr algn="l"/>
                      <a:r>
                        <a:rPr sz="950" b="0" i="0">
                          <a:solidFill>
                            <a:srgbClr val="1E2430"/>
                          </a:solidFill>
                          <a:latin typeface="Calibri"/>
                        </a:rPr>
                        <a:t>Gradient-trained CNN; learned feature hierarchies</a:t>
                      </a:r>
                    </a:p>
                  </a:txBody>
                  <a:tcPr marL="64008" marR="64008" marT="27432" marB="27432" anchor="ctr">
                    <a:solidFill>
                      <a:srgbClr val="FFFFFF"/>
                    </a:solidFill>
                  </a:tcPr>
                </a:tc>
                <a:tc>
                  <a:txBody>
                    <a:bodyPr wrap="square"/>
                    <a:lstStyle/>
                    <a:p>
                      <a:pPr algn="l"/>
                      <a:r>
                        <a:rPr sz="950" b="0" i="0">
                          <a:solidFill>
                            <a:srgbClr val="1E2430"/>
                          </a:solidFill>
                          <a:latin typeface="Calibri"/>
                        </a:rPr>
                        <a:t>Learned filters replace hand design</a:t>
                      </a:r>
                    </a:p>
                  </a:txBody>
                  <a:tcPr marL="64008" marR="64008" marT="27432" marB="27432" anchor="ctr">
                    <a:solidFill>
                      <a:srgbClr val="FFFFFF"/>
                    </a:solidFill>
                  </a:tcPr>
                </a:tc>
                <a:tc>
                  <a:txBody>
                    <a:bodyPr wrap="square"/>
                    <a:lstStyle/>
                    <a:p>
                      <a:pPr algn="l"/>
                      <a:r>
                        <a:rPr sz="950" b="0" i="0">
                          <a:solidFill>
                            <a:srgbClr val="1E2430"/>
                          </a:solidFill>
                          <a:latin typeface="Calibri"/>
                        </a:rPr>
                        <a:t>Basis of every CNN backbone</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Krizhevsky et al. [28]; Deng et al., 2009 [29]; Russakovsky et al., 2015 [30]</a:t>
                      </a:r>
                    </a:p>
                  </a:txBody>
                  <a:tcPr marL="64008" marR="64008" marT="27432" marB="27432" anchor="ctr">
                    <a:solidFill>
                      <a:srgbClr val="F3F5F8"/>
                    </a:solidFill>
                  </a:tcPr>
                </a:tc>
                <a:tc>
                  <a:txBody>
                    <a:bodyPr wrap="square"/>
                    <a:lstStyle/>
                    <a:p>
                      <a:pPr algn="l"/>
                      <a:r>
                        <a:rPr sz="950" b="0" i="0">
                          <a:solidFill>
                            <a:srgbClr val="1E2430"/>
                          </a:solidFill>
                          <a:latin typeface="Calibri"/>
                        </a:rPr>
                        <a:t>ImageNet, 1,000 classes</a:t>
                      </a:r>
                    </a:p>
                  </a:txBody>
                  <a:tcPr marL="64008" marR="64008" marT="27432" marB="27432" anchor="ctr">
                    <a:solidFill>
                      <a:srgbClr val="F3F5F8"/>
                    </a:solidFill>
                  </a:tcPr>
                </a:tc>
                <a:tc>
                  <a:txBody>
                    <a:bodyPr wrap="square"/>
                    <a:lstStyle/>
                    <a:p>
                      <a:pPr algn="l"/>
                      <a:r>
                        <a:rPr sz="950" b="0" i="0">
                          <a:solidFill>
                            <a:srgbClr val="1E2430"/>
                          </a:solidFill>
                          <a:latin typeface="Calibri"/>
                        </a:rPr>
                        <a:t>AlexNet; the ImageNet database and challenge</a:t>
                      </a:r>
                    </a:p>
                  </a:txBody>
                  <a:tcPr marL="64008" marR="64008" marT="27432" marB="27432" anchor="ctr">
                    <a:solidFill>
                      <a:srgbClr val="F3F5F8"/>
                    </a:solidFill>
                  </a:tcPr>
                </a:tc>
                <a:tc>
                  <a:txBody>
                    <a:bodyPr wrap="square"/>
                    <a:lstStyle/>
                    <a:p>
                      <a:pPr algn="l"/>
                      <a:r>
                        <a:rPr sz="950" b="0" i="0">
                          <a:solidFill>
                            <a:srgbClr val="1E2430"/>
                          </a:solidFill>
                          <a:latin typeface="Calibri"/>
                        </a:rPr>
                        <a:t>Large-scale pretraining</a:t>
                      </a:r>
                    </a:p>
                  </a:txBody>
                  <a:tcPr marL="64008" marR="64008" marT="27432" marB="27432" anchor="ctr">
                    <a:solidFill>
                      <a:srgbClr val="F3F5F8"/>
                    </a:solidFill>
                  </a:tcPr>
                </a:tc>
                <a:tc>
                  <a:txBody>
                    <a:bodyPr wrap="square"/>
                    <a:lstStyle/>
                    <a:p>
                      <a:pPr algn="l"/>
                      <a:r>
                        <a:rPr sz="950" b="0" i="0">
                          <a:solidFill>
                            <a:srgbClr val="1E2430"/>
                          </a:solidFill>
                          <a:latin typeface="Calibri"/>
                        </a:rPr>
                        <a:t>Source of all pretrained weights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Simonyan and Zisserman, 2015 [31]; Szegedy et al., 2016 [32]</a:t>
                      </a:r>
                    </a:p>
                  </a:txBody>
                  <a:tcPr marL="64008" marR="64008" marT="27432" marB="27432" anchor="ctr">
                    <a:solidFill>
                      <a:srgbClr val="FFFFFF"/>
                    </a:solidFill>
                  </a:tcPr>
                </a:tc>
                <a:tc>
                  <a:txBody>
                    <a:bodyPr wrap="square"/>
                    <a:lstStyle/>
                    <a:p>
                      <a:pPr algn="l"/>
                      <a:r>
                        <a:rPr sz="950" b="0" i="0">
                          <a:solidFill>
                            <a:srgbClr val="1E2430"/>
                          </a:solidFill>
                          <a:latin typeface="Calibri"/>
                        </a:rPr>
                        <a:t>ImageNet</a:t>
                      </a:r>
                    </a:p>
                  </a:txBody>
                  <a:tcPr marL="64008" marR="64008" marT="27432" marB="27432" anchor="ctr">
                    <a:solidFill>
                      <a:srgbClr val="FFFFFF"/>
                    </a:solidFill>
                  </a:tcPr>
                </a:tc>
                <a:tc>
                  <a:txBody>
                    <a:bodyPr wrap="square"/>
                    <a:lstStyle/>
                    <a:p>
                      <a:pPr algn="l"/>
                      <a:r>
                        <a:rPr sz="950" b="0" i="0">
                          <a:solidFill>
                            <a:srgbClr val="1E2430"/>
                          </a:solidFill>
                          <a:latin typeface="Calibri"/>
                        </a:rPr>
                        <a:t>Deep 3×3 VGG stacks; factorised Inception-v3</a:t>
                      </a:r>
                    </a:p>
                  </a:txBody>
                  <a:tcPr marL="64008" marR="64008" marT="27432" marB="27432" anchor="ctr">
                    <a:solidFill>
                      <a:srgbClr val="FFFFFF"/>
                    </a:solidFill>
                  </a:tcPr>
                </a:tc>
                <a:tc>
                  <a:txBody>
                    <a:bodyPr wrap="square"/>
                    <a:lstStyle/>
                    <a:p>
                      <a:pPr algn="l"/>
                      <a:r>
                        <a:rPr sz="950" b="0" i="0">
                          <a:solidFill>
                            <a:srgbClr val="1E2430"/>
                          </a:solidFill>
                          <a:latin typeface="Calibri"/>
                        </a:rPr>
                        <a:t>Strong ImageNet baselines</a:t>
                      </a:r>
                    </a:p>
                  </a:txBody>
                  <a:tcPr marL="64008" marR="64008" marT="27432" marB="27432" anchor="ctr">
                    <a:solidFill>
                      <a:srgbClr val="FFFFFF"/>
                    </a:solidFill>
                  </a:tcPr>
                </a:tc>
                <a:tc>
                  <a:txBody>
                    <a:bodyPr wrap="square"/>
                    <a:lstStyle/>
                    <a:p>
                      <a:pPr algn="l"/>
                      <a:r>
                        <a:rPr sz="950" b="0" i="0">
                          <a:solidFill>
                            <a:srgbClr val="1E2430"/>
                          </a:solidFill>
                          <a:latin typeface="Calibri"/>
                        </a:rPr>
                        <a:t>VGG16 and InceptionV3 benchmarked</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He et al., 2016 [33]; Huang et al., 2017 [34]</a:t>
                      </a:r>
                    </a:p>
                  </a:txBody>
                  <a:tcPr marL="64008" marR="64008" marT="27432" marB="27432" anchor="ctr">
                    <a:solidFill>
                      <a:srgbClr val="F3F5F8"/>
                    </a:solidFill>
                  </a:tcPr>
                </a:tc>
                <a:tc>
                  <a:txBody>
                    <a:bodyPr wrap="square"/>
                    <a:lstStyle/>
                    <a:p>
                      <a:pPr algn="l"/>
                      <a:r>
                        <a:rPr sz="950" b="0" i="0">
                          <a:solidFill>
                            <a:srgbClr val="1E2430"/>
                          </a:solidFill>
                          <a:latin typeface="Calibri"/>
                        </a:rPr>
                        <a:t>ImageNet</a:t>
                      </a:r>
                    </a:p>
                  </a:txBody>
                  <a:tcPr marL="64008" marR="64008" marT="27432" marB="27432" anchor="ctr">
                    <a:solidFill>
                      <a:srgbClr val="F3F5F8"/>
                    </a:solidFill>
                  </a:tcPr>
                </a:tc>
                <a:tc>
                  <a:txBody>
                    <a:bodyPr wrap="square"/>
                    <a:lstStyle/>
                    <a:p>
                      <a:pPr algn="l"/>
                      <a:r>
                        <a:rPr sz="950" b="0" i="0">
                          <a:solidFill>
                            <a:srgbClr val="1E2430"/>
                          </a:solidFill>
                          <a:latin typeface="Calibri"/>
                        </a:rPr>
                        <a:t>Residual and dense connections</a:t>
                      </a:r>
                    </a:p>
                  </a:txBody>
                  <a:tcPr marL="64008" marR="64008" marT="27432" marB="27432" anchor="ctr">
                    <a:solidFill>
                      <a:srgbClr val="F3F5F8"/>
                    </a:solidFill>
                  </a:tcPr>
                </a:tc>
                <a:tc>
                  <a:txBody>
                    <a:bodyPr wrap="square"/>
                    <a:lstStyle/>
                    <a:p>
                      <a:pPr algn="l"/>
                      <a:r>
                        <a:rPr sz="950" b="0" i="0">
                          <a:solidFill>
                            <a:srgbClr val="1E2430"/>
                          </a:solidFill>
                          <a:latin typeface="Calibri"/>
                        </a:rPr>
                        <a:t>Very deep CNNs train reliably</a:t>
                      </a:r>
                    </a:p>
                  </a:txBody>
                  <a:tcPr marL="64008" marR="64008" marT="27432" marB="27432" anchor="ctr">
                    <a:solidFill>
                      <a:srgbClr val="F3F5F8"/>
                    </a:solidFill>
                  </a:tcPr>
                </a:tc>
                <a:tc>
                  <a:txBody>
                    <a:bodyPr wrap="square"/>
                    <a:lstStyle/>
                    <a:p>
                      <a:pPr algn="l"/>
                      <a:r>
                        <a:rPr sz="950" b="0" i="0">
                          <a:solidFill>
                            <a:srgbClr val="1E2430"/>
                          </a:solidFill>
                          <a:latin typeface="Calibri"/>
                        </a:rPr>
                        <a:t>ResNet50 and DenseNet121 benchmarked</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Tan and Le, 2019 [35]; Sandler et al., 2018 [36]; Howard et al., 2019 [37]</a:t>
                      </a:r>
                    </a:p>
                  </a:txBody>
                  <a:tcPr marL="64008" marR="64008" marT="27432" marB="27432" anchor="ctr">
                    <a:solidFill>
                      <a:srgbClr val="FFFFFF"/>
                    </a:solidFill>
                  </a:tcPr>
                </a:tc>
                <a:tc>
                  <a:txBody>
                    <a:bodyPr wrap="square"/>
                    <a:lstStyle/>
                    <a:p>
                      <a:pPr algn="l"/>
                      <a:r>
                        <a:rPr sz="950" b="0" i="0">
                          <a:solidFill>
                            <a:srgbClr val="1E2430"/>
                          </a:solidFill>
                          <a:latin typeface="Calibri"/>
                        </a:rPr>
                        <a:t>ImageNet; mobile devices</a:t>
                      </a:r>
                    </a:p>
                  </a:txBody>
                  <a:tcPr marL="64008" marR="64008" marT="27432" marB="27432" anchor="ctr">
                    <a:solidFill>
                      <a:srgbClr val="FFFFFF"/>
                    </a:solidFill>
                  </a:tcPr>
                </a:tc>
                <a:tc>
                  <a:txBody>
                    <a:bodyPr wrap="square"/>
                    <a:lstStyle/>
                    <a:p>
                      <a:pPr algn="l"/>
                      <a:r>
                        <a:rPr sz="950" b="0" i="0">
                          <a:solidFill>
                            <a:srgbClr val="1E2430"/>
                          </a:solidFill>
                          <a:latin typeface="Calibri"/>
                        </a:rPr>
                        <a:t>Compound scaling; inverted residuals; searched MobileNetV3</a:t>
                      </a:r>
                    </a:p>
                  </a:txBody>
                  <a:tcPr marL="64008" marR="64008" marT="27432" marB="27432" anchor="ctr">
                    <a:solidFill>
                      <a:srgbClr val="FFFFFF"/>
                    </a:solidFill>
                  </a:tcPr>
                </a:tc>
                <a:tc>
                  <a:txBody>
                    <a:bodyPr wrap="square"/>
                    <a:lstStyle/>
                    <a:p>
                      <a:pPr algn="l"/>
                      <a:r>
                        <a:rPr sz="950" b="0" i="0">
                          <a:solidFill>
                            <a:srgbClr val="1E2430"/>
                          </a:solidFill>
                          <a:latin typeface="Calibri"/>
                        </a:rPr>
                        <a:t>High accuracy per FLOP</a:t>
                      </a:r>
                    </a:p>
                  </a:txBody>
                  <a:tcPr marL="64008" marR="64008" marT="27432" marB="27432" anchor="ctr">
                    <a:solidFill>
                      <a:srgbClr val="FFFFFF"/>
                    </a:solidFill>
                  </a:tcPr>
                </a:tc>
                <a:tc>
                  <a:txBody>
                    <a:bodyPr wrap="square"/>
                    <a:lstStyle/>
                    <a:p>
                      <a:pPr algn="l"/>
                      <a:r>
                        <a:rPr sz="950" b="0" i="0">
                          <a:solidFill>
                            <a:srgbClr val="1E2430"/>
                          </a:solidFill>
                          <a:latin typeface="Calibri"/>
                        </a:rPr>
                        <a:t>EfficientNetB0 (deployed), MobileNetV3-Large</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Vaswani et al., 2017 [38]; Dosovitskiy et al., 2021 [39]</a:t>
                      </a:r>
                    </a:p>
                  </a:txBody>
                  <a:tcPr marL="64008" marR="64008" marT="27432" marB="27432" anchor="ctr">
                    <a:solidFill>
                      <a:srgbClr val="F3F5F8"/>
                    </a:solidFill>
                  </a:tcPr>
                </a:tc>
                <a:tc>
                  <a:txBody>
                    <a:bodyPr wrap="square"/>
                    <a:lstStyle/>
                    <a:p>
                      <a:pPr algn="l"/>
                      <a:r>
                        <a:rPr sz="950" b="0" i="0">
                          <a:solidFill>
                            <a:srgbClr val="1E2430"/>
                          </a:solidFill>
                          <a:latin typeface="Calibri"/>
                        </a:rPr>
                        <a:t>Translation; ImageNet</a:t>
                      </a:r>
                    </a:p>
                  </a:txBody>
                  <a:tcPr marL="64008" marR="64008" marT="27432" marB="27432" anchor="ctr">
                    <a:solidFill>
                      <a:srgbClr val="F3F5F8"/>
                    </a:solidFill>
                  </a:tcPr>
                </a:tc>
                <a:tc>
                  <a:txBody>
                    <a:bodyPr wrap="square"/>
                    <a:lstStyle/>
                    <a:p>
                      <a:pPr algn="l"/>
                      <a:r>
                        <a:rPr sz="950" b="0" i="0">
                          <a:solidFill>
                            <a:srgbClr val="1E2430"/>
                          </a:solidFill>
                          <a:latin typeface="Calibri"/>
                        </a:rPr>
                        <a:t>Self-attention; Vision Transformer on 16×16 patches</a:t>
                      </a:r>
                    </a:p>
                  </a:txBody>
                  <a:tcPr marL="64008" marR="64008" marT="27432" marB="27432" anchor="ctr">
                    <a:solidFill>
                      <a:srgbClr val="F3F5F8"/>
                    </a:solidFill>
                  </a:tcPr>
                </a:tc>
                <a:tc>
                  <a:txBody>
                    <a:bodyPr wrap="square"/>
                    <a:lstStyle/>
                    <a:p>
                      <a:pPr algn="l"/>
                      <a:r>
                        <a:rPr sz="950" b="0" i="0">
                          <a:solidFill>
                            <a:srgbClr val="1E2430"/>
                          </a:solidFill>
                          <a:latin typeface="Calibri"/>
                        </a:rPr>
                        <a:t>Matches CNNs with large pretraining</a:t>
                      </a:r>
                    </a:p>
                  </a:txBody>
                  <a:tcPr marL="64008" marR="64008" marT="27432" marB="27432" anchor="ctr">
                    <a:solidFill>
                      <a:srgbClr val="F3F5F8"/>
                    </a:solidFill>
                  </a:tcPr>
                </a:tc>
                <a:tc>
                  <a:txBody>
                    <a:bodyPr wrap="square"/>
                    <a:lstStyle/>
                    <a:p>
                      <a:pPr algn="l"/>
                      <a:r>
                        <a:rPr sz="950" b="0" i="0">
                          <a:solidFill>
                            <a:srgbClr val="1E2430"/>
                          </a:solidFill>
                          <a:latin typeface="Calibri"/>
                        </a:rPr>
                        <a:t>ViT-B/16 benchmarked</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Liu et al., 2021 [40]; Dai et al., 2021 [41]</a:t>
                      </a:r>
                    </a:p>
                  </a:txBody>
                  <a:tcPr marL="64008" marR="64008" marT="27432" marB="27432" anchor="ctr">
                    <a:solidFill>
                      <a:srgbClr val="FFFFFF"/>
                    </a:solidFill>
                  </a:tcPr>
                </a:tc>
                <a:tc>
                  <a:txBody>
                    <a:bodyPr wrap="square"/>
                    <a:lstStyle/>
                    <a:p>
                      <a:pPr algn="l"/>
                      <a:r>
                        <a:rPr sz="950" b="0" i="0">
                          <a:solidFill>
                            <a:srgbClr val="1E2430"/>
                          </a:solidFill>
                          <a:latin typeface="Calibri"/>
                        </a:rPr>
                        <a:t>ImageNet</a:t>
                      </a:r>
                    </a:p>
                  </a:txBody>
                  <a:tcPr marL="64008" marR="64008" marT="27432" marB="27432" anchor="ctr">
                    <a:solidFill>
                      <a:srgbClr val="FFFFFF"/>
                    </a:solidFill>
                  </a:tcPr>
                </a:tc>
                <a:tc>
                  <a:txBody>
                    <a:bodyPr wrap="square"/>
                    <a:lstStyle/>
                    <a:p>
                      <a:pPr algn="l"/>
                      <a:r>
                        <a:rPr sz="950" b="0" i="0">
                          <a:solidFill>
                            <a:srgbClr val="1E2430"/>
                          </a:solidFill>
                          <a:latin typeface="Calibri"/>
                        </a:rPr>
                        <a:t>Shifted-window transformer; convolution-attention hybrid</a:t>
                      </a:r>
                    </a:p>
                  </a:txBody>
                  <a:tcPr marL="64008" marR="64008" marT="27432" marB="27432" anchor="ctr">
                    <a:solidFill>
                      <a:srgbClr val="FFFFFF"/>
                    </a:solidFill>
                  </a:tcPr>
                </a:tc>
                <a:tc>
                  <a:txBody>
                    <a:bodyPr wrap="square"/>
                    <a:lstStyle/>
                    <a:p>
                      <a:pPr algn="l"/>
                      <a:r>
                        <a:rPr sz="950" b="0" i="0">
                          <a:solidFill>
                            <a:srgbClr val="1E2430"/>
                          </a:solidFill>
                          <a:latin typeface="Calibri"/>
                        </a:rPr>
                        <a:t>Hierarchical and hybrid designs</a:t>
                      </a:r>
                    </a:p>
                  </a:txBody>
                  <a:tcPr marL="64008" marR="64008" marT="27432" marB="27432" anchor="ctr">
                    <a:solidFill>
                      <a:srgbClr val="FFFFFF"/>
                    </a:solidFill>
                  </a:tcPr>
                </a:tc>
                <a:tc>
                  <a:txBody>
                    <a:bodyPr wrap="square"/>
                    <a:lstStyle/>
                    <a:p>
                      <a:pPr algn="l"/>
                      <a:r>
                        <a:rPr sz="950" b="0" i="0">
                          <a:solidFill>
                            <a:srgbClr val="1E2430"/>
                          </a:solidFill>
                          <a:latin typeface="Calibri"/>
                        </a:rPr>
                        <a:t>Swin-Base and CoAtNet-0 benchmarked</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Litjens et al., 2017 [42]; Khan et al., 2022 [43]; Shamshad et al., 2023 [44]</a:t>
                      </a:r>
                    </a:p>
                  </a:txBody>
                  <a:tcPr marL="64008" marR="64008" marT="27432" marB="27432" anchor="ctr">
                    <a:solidFill>
                      <a:srgbClr val="F3F5F8"/>
                    </a:solidFill>
                  </a:tcPr>
                </a:tc>
                <a:tc>
                  <a:txBody>
                    <a:bodyPr wrap="square"/>
                    <a:lstStyle/>
                    <a:p>
                      <a:pPr algn="l"/>
                      <a:r>
                        <a:rPr sz="950" b="0" i="0">
                          <a:solidFill>
                            <a:srgbClr val="1E2430"/>
                          </a:solidFill>
                          <a:latin typeface="Calibri"/>
                        </a:rPr>
                        <a:t>Surveys: medical deep learning, vision and medical transformers</a:t>
                      </a:r>
                    </a:p>
                  </a:txBody>
                  <a:tcPr marL="64008" marR="64008" marT="27432" marB="27432" anchor="ctr">
                    <a:solidFill>
                      <a:srgbClr val="F3F5F8"/>
                    </a:solidFill>
                  </a:tcPr>
                </a:tc>
                <a:tc>
                  <a:txBody>
                    <a:bodyPr wrap="square"/>
                    <a:lstStyle/>
                    <a:p>
                      <a:pPr algn="l"/>
                      <a:r>
                        <a:rPr sz="950" b="0" i="0">
                          <a:solidFill>
                            <a:srgbClr val="1E2430"/>
                          </a:solidFill>
                          <a:latin typeface="Calibri"/>
                        </a:rPr>
                        <a:t>Reviews</a:t>
                      </a:r>
                    </a:p>
                  </a:txBody>
                  <a:tcPr marL="64008" marR="64008" marT="27432" marB="27432" anchor="ctr">
                    <a:solidFill>
                      <a:srgbClr val="F3F5F8"/>
                    </a:solidFill>
                  </a:tcPr>
                </a:tc>
                <a:tc>
                  <a:txBody>
                    <a:bodyPr wrap="square"/>
                    <a:lstStyle/>
                    <a:p>
                      <a:pPr algn="l"/>
                      <a:r>
                        <a:rPr sz="950" b="0" i="0">
                          <a:solidFill>
                            <a:srgbClr val="1E2430"/>
                          </a:solidFill>
                          <a:latin typeface="Calibri"/>
                        </a:rPr>
                        <a:t>Few controlled CNN-transformer comparisons</a:t>
                      </a:r>
                    </a:p>
                  </a:txBody>
                  <a:tcPr marL="64008" marR="64008" marT="27432" marB="27432" anchor="ctr">
                    <a:solidFill>
                      <a:srgbClr val="F3F5F8"/>
                    </a:solidFill>
                  </a:tcPr>
                </a:tc>
                <a:tc>
                  <a:txBody>
                    <a:bodyPr wrap="square"/>
                    <a:lstStyle/>
                    <a:p>
                      <a:pPr algn="l"/>
                      <a:r>
                        <a:rPr sz="950" b="0" i="0">
                          <a:solidFill>
                            <a:srgbClr val="1E2430"/>
                          </a:solidFill>
                          <a:latin typeface="Calibri"/>
                        </a:rPr>
                        <a:t>Motivates the equal-budget benchmark</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Paszke et al., 2019 [45]; Loshchilov and Hutter [46, 47]; Micikevicius et al., 2018 [48]</a:t>
                      </a:r>
                    </a:p>
                  </a:txBody>
                  <a:tcPr marL="64008" marR="64008" marT="27432" marB="27432" anchor="ctr">
                    <a:solidFill>
                      <a:srgbClr val="FFFFFF"/>
                    </a:solidFill>
                  </a:tcPr>
                </a:tc>
                <a:tc>
                  <a:txBody>
                    <a:bodyPr wrap="square"/>
                    <a:lstStyle/>
                    <a:p>
                      <a:pPr algn="l"/>
                      <a:r>
                        <a:rPr sz="950" b="0" i="0">
                          <a:solidFill>
                            <a:srgbClr val="1E2430"/>
                          </a:solidFill>
                          <a:latin typeface="Calibri"/>
                        </a:rPr>
                        <a:t>Training tools</a:t>
                      </a:r>
                    </a:p>
                  </a:txBody>
                  <a:tcPr marL="64008" marR="64008" marT="27432" marB="27432" anchor="ctr">
                    <a:solidFill>
                      <a:srgbClr val="FFFFFF"/>
                    </a:solidFill>
                  </a:tcPr>
                </a:tc>
                <a:tc>
                  <a:txBody>
                    <a:bodyPr wrap="square"/>
                    <a:lstStyle/>
                    <a:p>
                      <a:pPr algn="l"/>
                      <a:r>
                        <a:rPr sz="950" b="0" i="0">
                          <a:solidFill>
                            <a:srgbClr val="1E2430"/>
                          </a:solidFill>
                          <a:latin typeface="Calibri"/>
                        </a:rPr>
                        <a:t>PyTorch; AdamW; cosine schedule; mixed precision</a:t>
                      </a:r>
                    </a:p>
                  </a:txBody>
                  <a:tcPr marL="64008" marR="64008" marT="27432" marB="27432" anchor="ctr">
                    <a:solidFill>
                      <a:srgbClr val="FFFFFF"/>
                    </a:solidFill>
                  </a:tcPr>
                </a:tc>
                <a:tc>
                  <a:txBody>
                    <a:bodyPr wrap="square"/>
                    <a:lstStyle/>
                    <a:p>
                      <a:pPr algn="l"/>
                      <a:r>
                        <a:rPr sz="950" b="0" i="0">
                          <a:solidFill>
                            <a:srgbClr val="1E2430"/>
                          </a:solidFill>
                          <a:latin typeface="Calibri"/>
                        </a:rPr>
                        <a:t>Standard training recipe</a:t>
                      </a:r>
                    </a:p>
                  </a:txBody>
                  <a:tcPr marL="64008" marR="64008" marT="27432" marB="27432" anchor="ctr">
                    <a:solidFill>
                      <a:srgbClr val="FFFFFF"/>
                    </a:solidFill>
                  </a:tcPr>
                </a:tc>
                <a:tc>
                  <a:txBody>
                    <a:bodyPr wrap="square"/>
                    <a:lstStyle/>
                    <a:p>
                      <a:pPr algn="l"/>
                      <a:r>
                        <a:rPr sz="950" b="0" i="0">
                          <a:solidFill>
                            <a:srgbClr val="1E2430"/>
                          </a:solidFill>
                          <a:latin typeface="Calibri"/>
                        </a:rPr>
                        <a:t>One recipe for every backbone</a:t>
                      </a:r>
                    </a:p>
                  </a:txBody>
                  <a:tcPr marL="64008" marR="64008" marT="27432" marB="27432"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(3/4)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3D segmentation, ensembles and uncertainty</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Menze et al., 2015 [49]; Bakas et al., 2017 [2]</a:t>
                      </a:r>
                    </a:p>
                  </a:txBody>
                  <a:tcPr marL="64008" marR="64008" marT="27432" marB="27432" anchor="ctr">
                    <a:solidFill>
                      <a:srgbClr val="FFFFFF"/>
                    </a:solidFill>
                  </a:tcPr>
                </a:tc>
                <a:tc>
                  <a:txBody>
                    <a:bodyPr wrap="square"/>
                    <a:lstStyle/>
                    <a:p>
                      <a:pPr algn="l"/>
                      <a:r>
                        <a:rPr sz="950" b="0" i="0">
                          <a:solidFill>
                            <a:srgbClr val="1E2430"/>
                          </a:solidFill>
                          <a:latin typeface="Calibri"/>
                        </a:rPr>
                        <a:t>BraTS benchmark; TCGA glioma labels</a:t>
                      </a:r>
                    </a:p>
                  </a:txBody>
                  <a:tcPr marL="64008" marR="64008" marT="27432" marB="27432" anchor="ctr">
                    <a:solidFill>
                      <a:srgbClr val="FFFFFF"/>
                    </a:solidFill>
                  </a:tcPr>
                </a:tc>
                <a:tc>
                  <a:txBody>
                    <a:bodyPr wrap="square"/>
                    <a:lstStyle/>
                    <a:p>
                      <a:pPr algn="l"/>
                      <a:r>
                        <a:rPr sz="950" b="0" i="0">
                          <a:solidFill>
                            <a:srgbClr val="1E2430"/>
                          </a:solidFill>
                          <a:latin typeface="Calibri"/>
                        </a:rPr>
                        <a:t>Four-sequence MRI with expert labels</a:t>
                      </a:r>
                    </a:p>
                  </a:txBody>
                  <a:tcPr marL="64008" marR="64008" marT="27432" marB="27432" anchor="ctr">
                    <a:solidFill>
                      <a:srgbClr val="FFFFFF"/>
                    </a:solidFill>
                  </a:tcPr>
                </a:tc>
                <a:tc>
                  <a:txBody>
                    <a:bodyPr wrap="square"/>
                    <a:lstStyle/>
                    <a:p>
                      <a:pPr algn="l"/>
                      <a:r>
                        <a:rPr sz="950" b="0" i="0">
                          <a:solidFill>
                            <a:srgbClr val="1E2430"/>
                          </a:solidFill>
                          <a:latin typeface="Calibri"/>
                        </a:rPr>
                        <a:t>Standard WT, TC and ET benchmark</a:t>
                      </a:r>
                    </a:p>
                  </a:txBody>
                  <a:tcPr marL="64008" marR="64008" marT="27432" marB="27432" anchor="ctr">
                    <a:solidFill>
                      <a:srgbClr val="FFFFFF"/>
                    </a:solidFill>
                  </a:tcPr>
                </a:tc>
                <a:tc>
                  <a:txBody>
                    <a:bodyPr wrap="square"/>
                    <a:lstStyle/>
                    <a:p>
                      <a:pPr algn="l"/>
                      <a:r>
                        <a:rPr sz="950" b="0" i="0">
                          <a:solidFill>
                            <a:srgbClr val="1E2430"/>
                          </a:solidFill>
                          <a:latin typeface="Calibri"/>
                        </a:rPr>
                        <a:t>BraTS 2020 data</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Adewole et al., 2025 [10]</a:t>
                      </a:r>
                    </a:p>
                  </a:txBody>
                  <a:tcPr marL="64008" marR="64008" marT="27432" marB="27432" anchor="ctr">
                    <a:solidFill>
                      <a:srgbClr val="F3F5F8"/>
                    </a:solidFill>
                  </a:tcPr>
                </a:tc>
                <a:tc>
                  <a:txBody>
                    <a:bodyPr wrap="square"/>
                    <a:lstStyle/>
                    <a:p>
                      <a:pPr algn="l"/>
                      <a:r>
                        <a:rPr sz="950" b="0" i="0">
                          <a:solidFill>
                            <a:srgbClr val="1E2430"/>
                          </a:solidFill>
                          <a:latin typeface="Calibri"/>
                        </a:rPr>
                        <a:t>BraTS-Africa: sub-Saharan African cohorts</a:t>
                      </a:r>
                    </a:p>
                  </a:txBody>
                  <a:tcPr marL="64008" marR="64008" marT="27432" marB="27432" anchor="ctr">
                    <a:solidFill>
                      <a:srgbClr val="F3F5F8"/>
                    </a:solidFill>
                  </a:tcPr>
                </a:tc>
                <a:tc>
                  <a:txBody>
                    <a:bodyPr wrap="square"/>
                    <a:lstStyle/>
                    <a:p>
                      <a:pPr algn="l"/>
                      <a:r>
                        <a:rPr sz="950" b="0" i="0">
                          <a:solidFill>
                            <a:srgbClr val="1E2430"/>
                          </a:solidFill>
                          <a:latin typeface="Calibri"/>
                        </a:rPr>
                        <a:t>Lower-resolution, more varied scans</a:t>
                      </a:r>
                    </a:p>
                  </a:txBody>
                  <a:tcPr marL="64008" marR="64008" marT="27432" marB="27432" anchor="ctr">
                    <a:solidFill>
                      <a:srgbClr val="F3F5F8"/>
                    </a:solidFill>
                  </a:tcPr>
                </a:tc>
                <a:tc>
                  <a:txBody>
                    <a:bodyPr wrap="square"/>
                    <a:lstStyle/>
                    <a:p>
                      <a:pPr algn="l"/>
                      <a:r>
                        <a:rPr sz="950" b="0" i="0">
                          <a:solidFill>
                            <a:srgbClr val="1E2430"/>
                          </a:solidFill>
                          <a:latin typeface="Calibri"/>
                        </a:rPr>
                        <a:t>Models trained elsewhere degrade</a:t>
                      </a:r>
                    </a:p>
                  </a:txBody>
                  <a:tcPr marL="64008" marR="64008" marT="27432" marB="27432" anchor="ctr">
                    <a:solidFill>
                      <a:srgbClr val="F3F5F8"/>
                    </a:solidFill>
                  </a:tcPr>
                </a:tc>
                <a:tc>
                  <a:txBody>
                    <a:bodyPr wrap="square"/>
                    <a:lstStyle/>
                    <a:p>
                      <a:pPr algn="l"/>
                      <a:r>
                        <a:rPr sz="950" b="0" i="0">
                          <a:solidFill>
                            <a:srgbClr val="1E2430"/>
                          </a:solidFill>
                          <a:latin typeface="Calibri"/>
                        </a:rPr>
                        <a:t>External test set (60 cases)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Ronneberger et al., 2015 [50]; Çiçek et al., 2016 [51]</a:t>
                      </a:r>
                    </a:p>
                  </a:txBody>
                  <a:tcPr marL="64008" marR="64008" marT="27432" marB="27432" anchor="ctr">
                    <a:solidFill>
                      <a:srgbClr val="FFFFFF"/>
                    </a:solidFill>
                  </a:tcPr>
                </a:tc>
                <a:tc>
                  <a:txBody>
                    <a:bodyPr wrap="square"/>
                    <a:lstStyle/>
                    <a:p>
                      <a:pPr algn="l"/>
                      <a:r>
                        <a:rPr sz="950" b="0" i="0">
                          <a:solidFill>
                            <a:srgbClr val="1E2430"/>
                          </a:solidFill>
                          <a:latin typeface="Calibri"/>
                        </a:rPr>
                        <a:t>Biomedical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U-Net encoder-decoder with skips; 3D U-Net</a:t>
                      </a:r>
                    </a:p>
                  </a:txBody>
                  <a:tcPr marL="64008" marR="64008" marT="27432" marB="27432" anchor="ctr">
                    <a:solidFill>
                      <a:srgbClr val="FFFFFF"/>
                    </a:solidFill>
                  </a:tcPr>
                </a:tc>
                <a:tc>
                  <a:txBody>
                    <a:bodyPr wrap="square"/>
                    <a:lstStyle/>
                    <a:p>
                      <a:pPr algn="l"/>
                      <a:r>
                        <a:rPr sz="950" b="0" i="0">
                          <a:solidFill>
                            <a:srgbClr val="1E2430"/>
                          </a:solidFill>
                          <a:latin typeface="Calibri"/>
                        </a:rPr>
                        <a:t>Standard segmentation design</a:t>
                      </a:r>
                    </a:p>
                  </a:txBody>
                  <a:tcPr marL="64008" marR="64008" marT="27432" marB="27432" anchor="ctr">
                    <a:solidFill>
                      <a:srgbClr val="FFFFFF"/>
                    </a:solidFill>
                  </a:tcPr>
                </a:tc>
                <a:tc>
                  <a:txBody>
                    <a:bodyPr wrap="square"/>
                    <a:lstStyle/>
                    <a:p>
                      <a:pPr algn="l"/>
                      <a:r>
                        <a:rPr sz="950" b="0" i="0">
                          <a:solidFill>
                            <a:srgbClr val="1E2430"/>
                          </a:solidFill>
                          <a:latin typeface="Calibri"/>
                        </a:rPr>
                        <a:t>Basis of all three 3D networks</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Myronenko, 2019 [12]; Isensee et al., 2021 [11]</a:t>
                      </a:r>
                    </a:p>
                  </a:txBody>
                  <a:tcPr marL="64008" marR="64008" marT="27432" marB="27432" anchor="ctr">
                    <a:solidFill>
                      <a:srgbClr val="F3F5F8"/>
                    </a:solidFill>
                  </a:tcPr>
                </a:tc>
                <a:tc>
                  <a:txBody>
                    <a:bodyPr wrap="square"/>
                    <a:lstStyle/>
                    <a:p>
                      <a:pPr algn="l"/>
                      <a:r>
                        <a:rPr sz="950" b="0" i="0">
                          <a:solidFill>
                            <a:srgbClr val="1E2430"/>
                          </a:solidFill>
                          <a:latin typeface="Calibri"/>
                        </a:rPr>
                        <a:t>BraTS 2018; 23 biomedical datasets</a:t>
                      </a:r>
                    </a:p>
                  </a:txBody>
                  <a:tcPr marL="64008" marR="64008" marT="27432" marB="27432" anchor="ctr">
                    <a:solidFill>
                      <a:srgbClr val="F3F5F8"/>
                    </a:solidFill>
                  </a:tcPr>
                </a:tc>
                <a:tc>
                  <a:txBody>
                    <a:bodyPr wrap="square"/>
                    <a:lstStyle/>
                    <a:p>
                      <a:pPr algn="l"/>
                      <a:r>
                        <a:rPr sz="950" b="0" i="0">
                          <a:solidFill>
                            <a:srgbClr val="1E2430"/>
                          </a:solidFill>
                          <a:latin typeface="Calibri"/>
                        </a:rPr>
                        <a:t>SegResNet with VAE branch; self-configuring nnU-Net</a:t>
                      </a:r>
                    </a:p>
                  </a:txBody>
                  <a:tcPr marL="64008" marR="64008" marT="27432" marB="27432" anchor="ctr">
                    <a:solidFill>
                      <a:srgbClr val="F3F5F8"/>
                    </a:solidFill>
                  </a:tcPr>
                </a:tc>
                <a:tc>
                  <a:txBody>
                    <a:bodyPr wrap="square"/>
                    <a:lstStyle/>
                    <a:p>
                      <a:pPr algn="l"/>
                      <a:r>
                        <a:rPr sz="950" b="0" i="0">
                          <a:solidFill>
                            <a:srgbClr val="1E2430"/>
                          </a:solidFill>
                          <a:latin typeface="Calibri"/>
                        </a:rPr>
                        <a:t>Strong CNN baselines</a:t>
                      </a:r>
                    </a:p>
                  </a:txBody>
                  <a:tcPr marL="64008" marR="64008" marT="27432" marB="27432" anchor="ctr">
                    <a:solidFill>
                      <a:srgbClr val="F3F5F8"/>
                    </a:solidFill>
                  </a:tcPr>
                </a:tc>
                <a:tc>
                  <a:txBody>
                    <a:bodyPr wrap="square"/>
                    <a:lstStyle/>
                    <a:p>
                      <a:pPr algn="l"/>
                      <a:r>
                        <a:rPr sz="950" b="0" i="0">
                          <a:solidFill>
                            <a:srgbClr val="1E2430"/>
                          </a:solidFill>
                          <a:latin typeface="Calibri"/>
                        </a:rPr>
                        <a:t>SegResNet (deployed) and nnU-Net members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Hatamizadeh et al. [52, 53]; He et al., 2023 [13]</a:t>
                      </a:r>
                    </a:p>
                  </a:txBody>
                  <a:tcPr marL="64008" marR="64008" marT="27432" marB="27432" anchor="ctr">
                    <a:solidFill>
                      <a:srgbClr val="FFFFFF"/>
                    </a:solidFill>
                  </a:tcPr>
                </a:tc>
                <a:tc>
                  <a:txBody>
                    <a:bodyPr wrap="square"/>
                    <a:lstStyle/>
                    <a:p>
                      <a:pPr algn="l"/>
                      <a:r>
                        <a:rPr sz="950" b="0" i="0">
                          <a:solidFill>
                            <a:srgbClr val="1E2430"/>
                          </a:solidFill>
                          <a:latin typeface="Calibri"/>
                        </a:rPr>
                        <a:t>3D segmentation; BraTS 2021</a:t>
                      </a:r>
                    </a:p>
                  </a:txBody>
                  <a:tcPr marL="64008" marR="64008" marT="27432" marB="27432" anchor="ctr">
                    <a:solidFill>
                      <a:srgbClr val="FFFFFF"/>
                    </a:solidFill>
                  </a:tcPr>
                </a:tc>
                <a:tc>
                  <a:txBody>
                    <a:bodyPr wrap="square"/>
                    <a:lstStyle/>
                    <a:p>
                      <a:pPr algn="l"/>
                      <a:r>
                        <a:rPr sz="950" b="0" i="0">
                          <a:solidFill>
                            <a:srgbClr val="1E2430"/>
                          </a:solidFill>
                          <a:latin typeface="Calibri"/>
                        </a:rPr>
                        <a:t>UNETR, Swin UNETR, Swin UNETR-v2</a:t>
                      </a:r>
                    </a:p>
                  </a:txBody>
                  <a:tcPr marL="64008" marR="64008" marT="27432" marB="27432" anchor="ctr">
                    <a:solidFill>
                      <a:srgbClr val="FFFFFF"/>
                    </a:solidFill>
                  </a:tcPr>
                </a:tc>
                <a:tc>
                  <a:txBody>
                    <a:bodyPr wrap="square"/>
                    <a:lstStyle/>
                    <a:p>
                      <a:pPr algn="l"/>
                      <a:r>
                        <a:rPr sz="950" b="0" i="0">
                          <a:solidFill>
                            <a:srgbClr val="1E2430"/>
                          </a:solidFill>
                          <a:latin typeface="Calibri"/>
                        </a:rPr>
                        <a:t>Long-range context</a:t>
                      </a:r>
                    </a:p>
                  </a:txBody>
                  <a:tcPr marL="64008" marR="64008" marT="27432" marB="27432" anchor="ctr">
                    <a:solidFill>
                      <a:srgbClr val="FFFFFF"/>
                    </a:solidFill>
                  </a:tcPr>
                </a:tc>
                <a:tc>
                  <a:txBody>
                    <a:bodyPr wrap="square"/>
                    <a:lstStyle/>
                    <a:p>
                      <a:pPr algn="l"/>
                      <a:r>
                        <a:rPr sz="950" b="0" i="0">
                          <a:solidFill>
                            <a:srgbClr val="1E2430"/>
                          </a:solidFill>
                          <a:latin typeface="Calibri"/>
                        </a:rPr>
                        <a:t>Swin UNETR-v2 member</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Wang et al., 2021 [54]; Chen et al., 2024 [55]</a:t>
                      </a:r>
                    </a:p>
                  </a:txBody>
                  <a:tcPr marL="64008" marR="64008" marT="27432" marB="27432" anchor="ctr">
                    <a:solidFill>
                      <a:srgbClr val="F3F5F8"/>
                    </a:solidFill>
                  </a:tcPr>
                </a:tc>
                <a:tc>
                  <a:txBody>
                    <a:bodyPr wrap="square"/>
                    <a:lstStyle/>
                    <a:p>
                      <a:pPr algn="l"/>
                      <a:r>
                        <a:rPr sz="950" b="0" i="0">
                          <a:solidFill>
                            <a:srgbClr val="1E2430"/>
                          </a:solidFill>
                          <a:latin typeface="Calibri"/>
                        </a:rPr>
                        <a:t>BraTS; multi-organ CT</a:t>
                      </a:r>
                    </a:p>
                  </a:txBody>
                  <a:tcPr marL="64008" marR="64008" marT="27432" marB="27432" anchor="ctr">
                    <a:solidFill>
                      <a:srgbClr val="F3F5F8"/>
                    </a:solidFill>
                  </a:tcPr>
                </a:tc>
                <a:tc>
                  <a:txBody>
                    <a:bodyPr wrap="square"/>
                    <a:lstStyle/>
                    <a:p>
                      <a:pPr algn="l"/>
                      <a:r>
                        <a:rPr sz="950" b="0" i="0">
                          <a:solidFill>
                            <a:srgbClr val="1E2430"/>
                          </a:solidFill>
                          <a:latin typeface="Calibri"/>
                        </a:rPr>
                        <a:t>TransBTS, TransUNet hybrids</a:t>
                      </a:r>
                    </a:p>
                  </a:txBody>
                  <a:tcPr marL="64008" marR="64008" marT="27432" marB="27432" anchor="ctr">
                    <a:solidFill>
                      <a:srgbClr val="F3F5F8"/>
                    </a:solidFill>
                  </a:tcPr>
                </a:tc>
                <a:tc>
                  <a:txBody>
                    <a:bodyPr wrap="square"/>
                    <a:lstStyle/>
                    <a:p>
                      <a:pPr algn="l"/>
                      <a:r>
                        <a:rPr sz="950" b="0" i="0">
                          <a:solidFill>
                            <a:srgbClr val="1E2430"/>
                          </a:solidFill>
                          <a:latin typeface="Calibri"/>
                        </a:rPr>
                        <a:t>Competitive Dice</a:t>
                      </a:r>
                    </a:p>
                  </a:txBody>
                  <a:tcPr marL="64008" marR="64008" marT="27432" marB="27432" anchor="ctr">
                    <a:solidFill>
                      <a:srgbClr val="F3F5F8"/>
                    </a:solidFill>
                  </a:tcPr>
                </a:tc>
                <a:tc>
                  <a:txBody>
                    <a:bodyPr wrap="square"/>
                    <a:lstStyle/>
                    <a:p>
                      <a:pPr algn="l"/>
                      <a:r>
                        <a:rPr sz="950" b="0" i="0">
                          <a:solidFill>
                            <a:srgbClr val="1E2430"/>
                          </a:solidFill>
                          <a:latin typeface="Calibri"/>
                        </a:rPr>
                        <a:t>Mostly tested on internal splits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Kamnitsas et al., 2018 [56]</a:t>
                      </a:r>
                    </a:p>
                  </a:txBody>
                  <a:tcPr marL="64008" marR="64008" marT="27432" marB="27432" anchor="ctr">
                    <a:solidFill>
                      <a:srgbClr val="FFFFFF"/>
                    </a:solidFill>
                  </a:tcPr>
                </a:tc>
                <a:tc>
                  <a:txBody>
                    <a:bodyPr wrap="square"/>
                    <a:lstStyle/>
                    <a:p>
                      <a:pPr algn="l"/>
                      <a:r>
                        <a:rPr sz="950" b="0" i="0">
                          <a:solidFill>
                            <a:srgbClr val="1E2430"/>
                          </a:solidFill>
                          <a:latin typeface="Calibri"/>
                        </a:rPr>
                        <a:t>BraTS 2017</a:t>
                      </a:r>
                    </a:p>
                  </a:txBody>
                  <a:tcPr marL="64008" marR="64008" marT="27432" marB="27432" anchor="ctr">
                    <a:solidFill>
                      <a:srgbClr val="FFFFFF"/>
                    </a:solidFill>
                  </a:tcPr>
                </a:tc>
                <a:tc>
                  <a:txBody>
                    <a:bodyPr wrap="square"/>
                    <a:lstStyle/>
                    <a:p>
                      <a:pPr algn="l"/>
                      <a:r>
                        <a:rPr sz="950" b="0" i="0">
                          <a:solidFill>
                            <a:srgbClr val="1E2430"/>
                          </a:solidFill>
                          <a:latin typeface="Calibri"/>
                        </a:rPr>
                        <a:t>Ensemble of multiple models and architectures</a:t>
                      </a:r>
                    </a:p>
                  </a:txBody>
                  <a:tcPr marL="64008" marR="64008" marT="27432" marB="27432" anchor="ctr">
                    <a:solidFill>
                      <a:srgbClr val="FFFFFF"/>
                    </a:solidFill>
                  </a:tcPr>
                </a:tc>
                <a:tc>
                  <a:txBody>
                    <a:bodyPr wrap="square"/>
                    <a:lstStyle/>
                    <a:p>
                      <a:pPr algn="l"/>
                      <a:r>
                        <a:rPr sz="950" b="0" i="0">
                          <a:solidFill>
                            <a:srgbClr val="1E2430"/>
                          </a:solidFill>
                          <a:latin typeface="Calibri"/>
                        </a:rPr>
                        <a:t>Robust; won BraTS 2017</a:t>
                      </a:r>
                    </a:p>
                  </a:txBody>
                  <a:tcPr marL="64008" marR="64008" marT="27432" marB="27432" anchor="ctr">
                    <a:solidFill>
                      <a:srgbClr val="FFFFFF"/>
                    </a:solidFill>
                  </a:tcPr>
                </a:tc>
                <a:tc>
                  <a:txBody>
                    <a:bodyPr wrap="square"/>
                    <a:lstStyle/>
                    <a:p>
                      <a:pPr algn="l"/>
                      <a:r>
                        <a:rPr sz="950" b="0" i="0">
                          <a:solidFill>
                            <a:srgbClr val="1E2430"/>
                          </a:solidFill>
                          <a:latin typeface="Calibri"/>
                        </a:rPr>
                        <a:t>Plain averaging; here weights per region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Wang et al., 2019 [57]; Jungo and Reyes, 2019 [58]; Roy et al., 2019 [59]; Mehrtash et al., 2020 [60]</a:t>
                      </a:r>
                    </a:p>
                  </a:txBody>
                  <a:tcPr marL="64008" marR="64008" marT="27432" marB="27432" anchor="ctr">
                    <a:solidFill>
                      <a:srgbClr val="F3F5F8"/>
                    </a:solidFill>
                  </a:tcPr>
                </a:tc>
                <a:tc>
                  <a:txBody>
                    <a:bodyPr wrap="square"/>
                    <a:lstStyle/>
                    <a:p>
                      <a:pPr algn="l"/>
                      <a:r>
                        <a:rPr sz="950" b="0" i="0">
                          <a:solidFill>
                            <a:srgbClr val="1E2430"/>
                          </a:solidFill>
                          <a:latin typeface="Calibri"/>
                        </a:rPr>
                        <a:t>Segmentation uncertainty</a:t>
                      </a:r>
                    </a:p>
                  </a:txBody>
                  <a:tcPr marL="64008" marR="64008" marT="27432" marB="27432" anchor="ctr">
                    <a:solidFill>
                      <a:srgbClr val="F3F5F8"/>
                    </a:solidFill>
                  </a:tcPr>
                </a:tc>
                <a:tc>
                  <a:txBody>
                    <a:bodyPr wrap="square"/>
                    <a:lstStyle/>
                    <a:p>
                      <a:pPr algn="l"/>
                      <a:r>
                        <a:rPr sz="950" b="0" i="0">
                          <a:solidFill>
                            <a:srgbClr val="1E2430"/>
                          </a:solidFill>
                          <a:latin typeface="Calibri"/>
                        </a:rPr>
                        <a:t>Test-time augmentation; MC dropout; calibration</a:t>
                      </a:r>
                    </a:p>
                  </a:txBody>
                  <a:tcPr marL="64008" marR="64008" marT="27432" marB="27432" anchor="ctr">
                    <a:solidFill>
                      <a:srgbClr val="F3F5F8"/>
                    </a:solidFill>
                  </a:tcPr>
                </a:tc>
                <a:tc>
                  <a:txBody>
                    <a:bodyPr wrap="square"/>
                    <a:lstStyle/>
                    <a:p>
                      <a:pPr algn="l"/>
                      <a:r>
                        <a:rPr sz="950" b="0" i="0">
                          <a:solidFill>
                            <a:srgbClr val="1E2430"/>
                          </a:solidFill>
                          <a:latin typeface="Calibri"/>
                        </a:rPr>
                        <a:t>Uncertainty estimates vary in reliability</a:t>
                      </a:r>
                    </a:p>
                  </a:txBody>
                  <a:tcPr marL="64008" marR="64008" marT="27432" marB="27432" anchor="ctr">
                    <a:solidFill>
                      <a:srgbClr val="F3F5F8"/>
                    </a:solidFill>
                  </a:tcPr>
                </a:tc>
                <a:tc>
                  <a:txBody>
                    <a:bodyPr wrap="square"/>
                    <a:lstStyle/>
                    <a:p>
                      <a:pPr algn="l"/>
                      <a:r>
                        <a:rPr sz="950" b="0" i="0">
                          <a:solidFill>
                            <a:srgbClr val="1E2430"/>
                          </a:solidFill>
                          <a:latin typeface="Calibri"/>
                        </a:rPr>
                        <a:t>Disagreement between networks as QC</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Maier-Hein et al., 2024 [61]</a:t>
                      </a:r>
                    </a:p>
                  </a:txBody>
                  <a:tcPr marL="64008" marR="64008" marT="27432" marB="27432" anchor="ctr">
                    <a:solidFill>
                      <a:srgbClr val="FFFFFF"/>
                    </a:solidFill>
                  </a:tcPr>
                </a:tc>
                <a:tc>
                  <a:txBody>
                    <a:bodyPr wrap="square"/>
                    <a:lstStyle/>
                    <a:p>
                      <a:pPr algn="l"/>
                      <a:r>
                        <a:rPr sz="950" b="0" i="0">
                          <a:solidFill>
                            <a:srgbClr val="1E2430"/>
                          </a:solidFill>
                          <a:latin typeface="Calibri"/>
                        </a:rPr>
                        <a:t>Validation of image analysis</a:t>
                      </a:r>
                    </a:p>
                  </a:txBody>
                  <a:tcPr marL="64008" marR="64008" marT="27432" marB="27432" anchor="ctr">
                    <a:solidFill>
                      <a:srgbClr val="FFFFFF"/>
                    </a:solidFill>
                  </a:tcPr>
                </a:tc>
                <a:tc>
                  <a:txBody>
                    <a:bodyPr wrap="square"/>
                    <a:lstStyle/>
                    <a:p>
                      <a:pPr algn="l"/>
                      <a:r>
                        <a:rPr sz="950" b="0" i="0">
                          <a:solidFill>
                            <a:srgbClr val="1E2430"/>
                          </a:solidFill>
                          <a:latin typeface="Calibri"/>
                        </a:rPr>
                        <a:t>Metric selection recommendations</a:t>
                      </a:r>
                    </a:p>
                  </a:txBody>
                  <a:tcPr marL="64008" marR="64008" marT="27432" marB="27432" anchor="ctr">
                    <a:solidFill>
                      <a:srgbClr val="FFFFFF"/>
                    </a:solidFill>
                  </a:tcPr>
                </a:tc>
                <a:tc>
                  <a:txBody>
                    <a:bodyPr wrap="square"/>
                    <a:lstStyle/>
                    <a:p>
                      <a:pPr algn="l"/>
                      <a:r>
                        <a:rPr sz="950" b="0" i="0">
                          <a:solidFill>
                            <a:srgbClr val="1E2430"/>
                          </a:solidFill>
                          <a:latin typeface="Calibri"/>
                        </a:rPr>
                        <a:t>Metric choice changes conclusions</a:t>
                      </a:r>
                    </a:p>
                  </a:txBody>
                  <a:tcPr marL="64008" marR="64008" marT="27432" marB="27432" anchor="ctr">
                    <a:solidFill>
                      <a:srgbClr val="FFFFFF"/>
                    </a:solidFill>
                  </a:tcPr>
                </a:tc>
                <a:tc>
                  <a:txBody>
                    <a:bodyPr wrap="square"/>
                    <a:lstStyle/>
                    <a:p>
                      <a:pPr algn="l"/>
                      <a:r>
                        <a:rPr sz="950" b="0" i="0">
                          <a:solidFill>
                            <a:srgbClr val="1E2430"/>
                          </a:solidFill>
                          <a:latin typeface="Calibri"/>
                        </a:rPr>
                        <a:t>Per-region, per-patient Dice</a:t>
                      </a:r>
                    </a:p>
                  </a:txBody>
                  <a:tcPr marL="64008" marR="64008" marT="27432" marB="27432"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(4/4)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Reliability, shortcuts, explanations and statistics</a:t>
            </a:r>
          </a:p>
        </p:txBody>
      </p:sp>
      <p:graphicFrame>
        <p:nvGraphicFramePr>
          <p:cNvPr id="12" name="Table 11"/>
          <p:cNvGraphicFramePr>
            <a:graphicFrameLocks noGrp="1"/>
          </p:cNvGraphicFramePr>
          <p:nvPr/>
        </p:nvGraphicFramePr>
        <p:xfrm>
          <a:off x="548640" y="1234440"/>
          <a:ext cx="11091672" cy="41148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Kapoor and Narayanan, 2023 [8]; Roberts et al., 2021 [9]</a:t>
                      </a:r>
                    </a:p>
                  </a:txBody>
                  <a:tcPr marL="64008" marR="64008" marT="27432" marB="27432" anchor="ctr">
                    <a:solidFill>
                      <a:srgbClr val="FFFFFF"/>
                    </a:solidFill>
                  </a:tcPr>
                </a:tc>
                <a:tc>
                  <a:txBody>
                    <a:bodyPr wrap="square"/>
                    <a:lstStyle/>
                    <a:p>
                      <a:pPr algn="l"/>
                      <a:r>
                        <a:rPr sz="950" b="0" i="0">
                          <a:solidFill>
                            <a:srgbClr val="1E2430"/>
                          </a:solidFill>
                          <a:latin typeface="Calibri"/>
                        </a:rPr>
                        <a:t>Leakage in 17 fields; COVID-19 imaging models</a:t>
                      </a:r>
                    </a:p>
                  </a:txBody>
                  <a:tcPr marL="64008" marR="64008" marT="27432" marB="27432" anchor="ctr">
                    <a:solidFill>
                      <a:srgbClr val="FFFFFF"/>
                    </a:solidFill>
                  </a:tcPr>
                </a:tc>
                <a:tc>
                  <a:txBody>
                    <a:bodyPr wrap="square"/>
                    <a:lstStyle/>
                    <a:p>
                      <a:pPr algn="l"/>
                      <a:r>
                        <a:rPr sz="950" b="0" i="0">
                          <a:solidFill>
                            <a:srgbClr val="1E2430"/>
                          </a:solidFill>
                          <a:latin typeface="Calibri"/>
                        </a:rPr>
                        <a:t>Systematic reviews</a:t>
                      </a:r>
                    </a:p>
                  </a:txBody>
                  <a:tcPr marL="64008" marR="64008" marT="27432" marB="27432" anchor="ctr">
                    <a:solidFill>
                      <a:srgbClr val="FFFFFF"/>
                    </a:solidFill>
                  </a:tcPr>
                </a:tc>
                <a:tc>
                  <a:txBody>
                    <a:bodyPr wrap="square"/>
                    <a:lstStyle/>
                    <a:p>
                      <a:pPr algn="l"/>
                      <a:r>
                        <a:rPr sz="950" b="0" i="0">
                          <a:solidFill>
                            <a:srgbClr val="1E2430"/>
                          </a:solidFill>
                          <a:latin typeface="Calibri"/>
                        </a:rPr>
                        <a:t>Leakage and bias inflate scores</a:t>
                      </a:r>
                    </a:p>
                  </a:txBody>
                  <a:tcPr marL="64008" marR="64008" marT="27432" marB="27432" anchor="ctr">
                    <a:solidFill>
                      <a:srgbClr val="FFFFFF"/>
                    </a:solidFill>
                  </a:tcPr>
                </a:tc>
                <a:tc>
                  <a:txBody>
                    <a:bodyPr wrap="square"/>
                    <a:lstStyle/>
                    <a:p>
                      <a:pPr algn="l"/>
                      <a:r>
                        <a:rPr sz="950" b="0" i="0">
                          <a:solidFill>
                            <a:srgbClr val="1E2430"/>
                          </a:solidFill>
                          <a:latin typeface="Calibri"/>
                        </a:rPr>
                        <a:t>Deduplication and group split</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Br35H [62], Chakrabarty [63], Bhuvaji [64], Cheng [65, 66]; Fateh et al., 2026 [67]</a:t>
                      </a:r>
                    </a:p>
                  </a:txBody>
                  <a:tcPr marL="64008" marR="64008" marT="27432" marB="27432" anchor="ctr">
                    <a:solidFill>
                      <a:srgbClr val="F3F5F8"/>
                    </a:solidFill>
                  </a:tcPr>
                </a:tc>
                <a:tc>
                  <a:txBody>
                    <a:bodyPr wrap="square"/>
                    <a:lstStyle/>
                    <a:p>
                      <a:pPr algn="l"/>
                      <a:r>
                        <a:rPr sz="950" b="0" i="0">
                          <a:solidFill>
                            <a:srgbClr val="1E2430"/>
                          </a:solidFill>
                          <a:latin typeface="Calibri"/>
                        </a:rPr>
                        <a:t>Public 2D MRI collections; BRISC</a:t>
                      </a:r>
                    </a:p>
                  </a:txBody>
                  <a:tcPr marL="64008" marR="64008" marT="27432" marB="27432" anchor="ctr">
                    <a:solidFill>
                      <a:srgbClr val="F3F5F8"/>
                    </a:solidFill>
                  </a:tcPr>
                </a:tc>
                <a:tc>
                  <a:txBody>
                    <a:bodyPr wrap="square"/>
                    <a:lstStyle/>
                    <a:p>
                      <a:pPr algn="l"/>
                      <a:r>
                        <a:rPr sz="950" b="0" i="0">
                          <a:solidFill>
                            <a:srgbClr val="1E2430"/>
                          </a:solidFill>
                          <a:latin typeface="Calibri"/>
                        </a:rPr>
                        <a:t>Pooled web collections; curated BRISC</a:t>
                      </a:r>
                    </a:p>
                  </a:txBody>
                  <a:tcPr marL="64008" marR="64008" marT="27432" marB="27432" anchor="ctr">
                    <a:solidFill>
                      <a:srgbClr val="F3F5F8"/>
                    </a:solidFill>
                  </a:tcPr>
                </a:tc>
                <a:tc>
                  <a:txBody>
                    <a:bodyPr wrap="square"/>
                    <a:lstStyle/>
                    <a:p>
                      <a:pPr algn="l"/>
                      <a:r>
                        <a:rPr sz="950" b="0" i="0">
                          <a:solidFill>
                            <a:srgbClr val="1E2430"/>
                          </a:solidFill>
                          <a:latin typeface="Calibri"/>
                        </a:rPr>
                        <a:t>Widely reused benchmarks</a:t>
                      </a:r>
                    </a:p>
                  </a:txBody>
                  <a:tcPr marL="64008" marR="64008" marT="27432" marB="27432" anchor="ctr">
                    <a:solidFill>
                      <a:srgbClr val="F3F5F8"/>
                    </a:solidFill>
                  </a:tcPr>
                </a:tc>
                <a:tc>
                  <a:txBody>
                    <a:bodyPr wrap="square"/>
                    <a:lstStyle/>
                    <a:p>
                      <a:pPr algn="l"/>
                      <a:r>
                        <a:rPr sz="950" b="0" i="0">
                          <a:solidFill>
                            <a:srgbClr val="1E2430"/>
                          </a:solidFill>
                          <a:latin typeface="Calibri"/>
                        </a:rPr>
                        <a:t>Pooled and deduplicated here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Monga and Evans, 2006 [68]; Hamming, 1950 [69]; Norouzi et al., 2014 [70]</a:t>
                      </a:r>
                    </a:p>
                  </a:txBody>
                  <a:tcPr marL="64008" marR="64008" marT="27432" marB="27432" anchor="ctr">
                    <a:solidFill>
                      <a:srgbClr val="FFFFFF"/>
                    </a:solidFill>
                  </a:tcPr>
                </a:tc>
                <a:tc>
                  <a:txBody>
                    <a:bodyPr wrap="square"/>
                    <a:lstStyle/>
                    <a:p>
                      <a:pPr algn="l"/>
                      <a:r>
                        <a:rPr sz="950" b="0" i="0">
                          <a:solidFill>
                            <a:srgbClr val="1E2430"/>
                          </a:solidFill>
                          <a:latin typeface="Calibri"/>
                        </a:rPr>
                        <a:t>Near-duplicate image search</a:t>
                      </a:r>
                    </a:p>
                  </a:txBody>
                  <a:tcPr marL="64008" marR="64008" marT="27432" marB="27432" anchor="ctr">
                    <a:solidFill>
                      <a:srgbClr val="FFFFFF"/>
                    </a:solidFill>
                  </a:tcPr>
                </a:tc>
                <a:tc>
                  <a:txBody>
                    <a:bodyPr wrap="square"/>
                    <a:lstStyle/>
                    <a:p>
                      <a:pPr algn="l"/>
                      <a:r>
                        <a:rPr sz="950" b="0" i="0">
                          <a:solidFill>
                            <a:srgbClr val="1E2430"/>
                          </a:solidFill>
                          <a:latin typeface="Calibri"/>
                        </a:rPr>
                        <a:t>Perceptual hashing; Hamming distance; multi-index</a:t>
                      </a:r>
                    </a:p>
                  </a:txBody>
                  <a:tcPr marL="64008" marR="64008" marT="27432" marB="27432" anchor="ctr">
                    <a:solidFill>
                      <a:srgbClr val="FFFFFF"/>
                    </a:solidFill>
                  </a:tcPr>
                </a:tc>
                <a:tc>
                  <a:txBody>
                    <a:bodyPr wrap="square"/>
                    <a:lstStyle/>
                    <a:p>
                      <a:pPr algn="l"/>
                      <a:r>
                        <a:rPr sz="950" b="0" i="0">
                          <a:solidFill>
                            <a:srgbClr val="1E2430"/>
                          </a:solidFill>
                          <a:latin typeface="Calibri"/>
                        </a:rPr>
                        <a:t>Robust to small edits</a:t>
                      </a:r>
                    </a:p>
                  </a:txBody>
                  <a:tcPr marL="64008" marR="64008" marT="27432" marB="27432" anchor="ctr">
                    <a:solidFill>
                      <a:srgbClr val="FFFFFF"/>
                    </a:solidFill>
                  </a:tcPr>
                </a:tc>
                <a:tc>
                  <a:txBody>
                    <a:bodyPr wrap="square"/>
                    <a:lstStyle/>
                    <a:p>
                      <a:pPr algn="l"/>
                      <a:r>
                        <a:rPr sz="950" b="0" i="0">
                          <a:solidFill>
                            <a:srgbClr val="1E2430"/>
                          </a:solidFill>
                          <a:latin typeface="Calibri"/>
                        </a:rPr>
                        <a:t>pHash deduplication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Geirhos et al., 2020 [71]; Zech et al., 2018 [72]; DeGrave et al., 2021 [73]</a:t>
                      </a:r>
                    </a:p>
                  </a:txBody>
                  <a:tcPr marL="64008" marR="64008" marT="27432" marB="27432" anchor="ctr">
                    <a:solidFill>
                      <a:srgbClr val="F3F5F8"/>
                    </a:solidFill>
                  </a:tcPr>
                </a:tc>
                <a:tc>
                  <a:txBody>
                    <a:bodyPr wrap="square"/>
                    <a:lstStyle/>
                    <a:p>
                      <a:pPr algn="l"/>
                      <a:r>
                        <a:rPr sz="950" b="0" i="0">
                          <a:solidFill>
                            <a:srgbClr val="1E2430"/>
                          </a:solidFill>
                          <a:latin typeface="Calibri"/>
                        </a:rPr>
                        <a:t>Shortcut learning; chest radiographs across hospitals</a:t>
                      </a:r>
                    </a:p>
                  </a:txBody>
                  <a:tcPr marL="64008" marR="64008" marT="27432" marB="27432" anchor="ctr">
                    <a:solidFill>
                      <a:srgbClr val="F3F5F8"/>
                    </a:solidFill>
                  </a:tcPr>
                </a:tc>
                <a:tc>
                  <a:txBody>
                    <a:bodyPr wrap="square"/>
                    <a:lstStyle/>
                    <a:p>
                      <a:pPr algn="l"/>
                      <a:r>
                        <a:rPr sz="950" b="0" i="0">
                          <a:solidFill>
                            <a:srgbClr val="1E2430"/>
                          </a:solidFill>
                          <a:latin typeface="Calibri"/>
                        </a:rPr>
                        <a:t>Confounder analyses</a:t>
                      </a:r>
                    </a:p>
                  </a:txBody>
                  <a:tcPr marL="64008" marR="64008" marT="27432" marB="27432" anchor="ctr">
                    <a:solidFill>
                      <a:srgbClr val="F3F5F8"/>
                    </a:solidFill>
                  </a:tcPr>
                </a:tc>
                <a:tc>
                  <a:txBody>
                    <a:bodyPr wrap="square"/>
                    <a:lstStyle/>
                    <a:p>
                      <a:pPr algn="l"/>
                      <a:r>
                        <a:rPr sz="950" b="0" i="0">
                          <a:solidFill>
                            <a:srgbClr val="1E2430"/>
                          </a:solidFill>
                          <a:latin typeface="Calibri"/>
                        </a:rPr>
                        <a:t>Models use hospital and acquisition cues</a:t>
                      </a:r>
                    </a:p>
                  </a:txBody>
                  <a:tcPr marL="64008" marR="64008" marT="27432" marB="27432" anchor="ctr">
                    <a:solidFill>
                      <a:srgbClr val="F3F5F8"/>
                    </a:solidFill>
                  </a:tcPr>
                </a:tc>
                <a:tc>
                  <a:txBody>
                    <a:bodyPr wrap="square"/>
                    <a:lstStyle/>
                    <a:p>
                      <a:pPr algn="l"/>
                      <a:r>
                        <a:rPr sz="950" b="0" i="0">
                          <a:solidFill>
                            <a:srgbClr val="1E2430"/>
                          </a:solidFill>
                          <a:latin typeface="Calibri"/>
                        </a:rPr>
                        <a:t>Background-only shortcut test</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Selvaraju et al., 2017 [74]; Zeiler and Fergus, 2014 [75]; Abnar and Zuidema, 2020 [76]; Vinogradova et al., 2020 [77]</a:t>
                      </a:r>
                    </a:p>
                  </a:txBody>
                  <a:tcPr marL="64008" marR="64008" marT="27432" marB="27432" anchor="ctr">
                    <a:solidFill>
                      <a:srgbClr val="FFFFFF"/>
                    </a:solidFill>
                  </a:tcPr>
                </a:tc>
                <a:tc>
                  <a:txBody>
                    <a:bodyPr wrap="square"/>
                    <a:lstStyle/>
                    <a:p>
                      <a:pPr algn="l"/>
                      <a:r>
                        <a:rPr sz="950" b="0" i="0">
                          <a:solidFill>
                            <a:srgbClr val="1E2430"/>
                          </a:solidFill>
                          <a:latin typeface="Calibri"/>
                        </a:rPr>
                        <a:t>Visual explanations</a:t>
                      </a:r>
                    </a:p>
                  </a:txBody>
                  <a:tcPr marL="64008" marR="64008" marT="27432" marB="27432" anchor="ctr">
                    <a:solidFill>
                      <a:srgbClr val="FFFFFF"/>
                    </a:solidFill>
                  </a:tcPr>
                </a:tc>
                <a:tc>
                  <a:txBody>
                    <a:bodyPr wrap="square"/>
                    <a:lstStyle/>
                    <a:p>
                      <a:pPr algn="l"/>
                      <a:r>
                        <a:rPr sz="950" b="0" i="0">
                          <a:solidFill>
                            <a:srgbClr val="1E2430"/>
                          </a:solidFill>
                          <a:latin typeface="Calibri"/>
                        </a:rPr>
                        <a:t>Grad-CAM; occlusion; attention rollout; Seg-Grad-CAM</a:t>
                      </a:r>
                    </a:p>
                  </a:txBody>
                  <a:tcPr marL="64008" marR="64008" marT="27432" marB="27432" anchor="ctr">
                    <a:solidFill>
                      <a:srgbClr val="FFFFFF"/>
                    </a:solidFill>
                  </a:tcPr>
                </a:tc>
                <a:tc>
                  <a:txBody>
                    <a:bodyPr wrap="square"/>
                    <a:lstStyle/>
                    <a:p>
                      <a:pPr algn="l"/>
                      <a:r>
                        <a:rPr sz="950" b="0" i="0">
                          <a:solidFill>
                            <a:srgbClr val="1E2430"/>
                          </a:solidFill>
                          <a:latin typeface="Calibri"/>
                        </a:rPr>
                        <a:t>Show where a model looks</a:t>
                      </a:r>
                    </a:p>
                  </a:txBody>
                  <a:tcPr marL="64008" marR="64008" marT="27432" marB="27432" anchor="ctr">
                    <a:solidFill>
                      <a:srgbClr val="FFFFFF"/>
                    </a:solidFill>
                  </a:tcPr>
                </a:tc>
                <a:tc>
                  <a:txBody>
                    <a:bodyPr wrap="square"/>
                    <a:lstStyle/>
                    <a:p>
                      <a:pPr algn="l"/>
                      <a:r>
                        <a:rPr sz="950" b="0" i="0">
                          <a:solidFill>
                            <a:srgbClr val="1E2430"/>
                          </a:solidFill>
                          <a:latin typeface="Calibri"/>
                        </a:rPr>
                        <a:t>Maps scored inside and outside the lesion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Guo et al., 2017 [78]; Naeini et al., 2015 [79]; Gneiting and Raftery, 2007 [80]</a:t>
                      </a:r>
                    </a:p>
                  </a:txBody>
                  <a:tcPr marL="64008" marR="64008" marT="27432" marB="27432" anchor="ctr">
                    <a:solidFill>
                      <a:srgbClr val="F3F5F8"/>
                    </a:solidFill>
                  </a:tcPr>
                </a:tc>
                <a:tc>
                  <a:txBody>
                    <a:bodyPr wrap="square"/>
                    <a:lstStyle/>
                    <a:p>
                      <a:pPr algn="l"/>
                      <a:r>
                        <a:rPr sz="950" b="0" i="0">
                          <a:solidFill>
                            <a:srgbClr val="1E2430"/>
                          </a:solidFill>
                          <a:latin typeface="Calibri"/>
                        </a:rPr>
                        <a:t>Probability calibration</a:t>
                      </a:r>
                    </a:p>
                  </a:txBody>
                  <a:tcPr marL="64008" marR="64008" marT="27432" marB="27432" anchor="ctr">
                    <a:solidFill>
                      <a:srgbClr val="F3F5F8"/>
                    </a:solidFill>
                  </a:tcPr>
                </a:tc>
                <a:tc>
                  <a:txBody>
                    <a:bodyPr wrap="square"/>
                    <a:lstStyle/>
                    <a:p>
                      <a:pPr algn="l"/>
                      <a:r>
                        <a:rPr sz="950" b="0" i="0">
                          <a:solidFill>
                            <a:srgbClr val="1E2430"/>
                          </a:solidFill>
                          <a:latin typeface="Calibri"/>
                        </a:rPr>
                        <a:t>Temperature scaling; ECE; proper scoring rules</a:t>
                      </a:r>
                    </a:p>
                  </a:txBody>
                  <a:tcPr marL="64008" marR="64008" marT="27432" marB="27432" anchor="ctr">
                    <a:solidFill>
                      <a:srgbClr val="F3F5F8"/>
                    </a:solidFill>
                  </a:tcPr>
                </a:tc>
                <a:tc>
                  <a:txBody>
                    <a:bodyPr wrap="square"/>
                    <a:lstStyle/>
                    <a:p>
                      <a:pPr algn="l"/>
                      <a:r>
                        <a:rPr sz="950" b="0" i="0">
                          <a:solidFill>
                            <a:srgbClr val="1E2430"/>
                          </a:solidFill>
                          <a:latin typeface="Calibri"/>
                        </a:rPr>
                        <a:t>Modern networks are overconfident</a:t>
                      </a:r>
                    </a:p>
                  </a:txBody>
                  <a:tcPr marL="64008" marR="64008" marT="27432" marB="27432" anchor="ctr">
                    <a:solidFill>
                      <a:srgbClr val="F3F5F8"/>
                    </a:solidFill>
                  </a:tcPr>
                </a:tc>
                <a:tc>
                  <a:txBody>
                    <a:bodyPr wrap="square"/>
                    <a:lstStyle/>
                    <a:p>
                      <a:pPr algn="l"/>
                      <a:r>
                        <a:rPr sz="950" b="0" i="0">
                          <a:solidFill>
                            <a:srgbClr val="1E2430"/>
                          </a:solidFill>
                          <a:latin typeface="Calibri"/>
                        </a:rPr>
                        <a:t>Calibrated, reported per model</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Efron, 1979 [81]; McNemar, 1947 [82]; Holm, 1979 [83]; Wilcoxon, 1945 [84]</a:t>
                      </a:r>
                    </a:p>
                  </a:txBody>
                  <a:tcPr marL="64008" marR="64008" marT="27432" marB="27432" anchor="ctr">
                    <a:solidFill>
                      <a:srgbClr val="FFFFFF"/>
                    </a:solidFill>
                  </a:tcPr>
                </a:tc>
                <a:tc>
                  <a:txBody>
                    <a:bodyPr wrap="square"/>
                    <a:lstStyle/>
                    <a:p>
                      <a:pPr algn="l"/>
                      <a:r>
                        <a:rPr sz="950" b="0" i="0">
                          <a:solidFill>
                            <a:srgbClr val="1E2430"/>
                          </a:solidFill>
                          <a:latin typeface="Calibri"/>
                        </a:rPr>
                        <a:t>Statistical inference</a:t>
                      </a:r>
                    </a:p>
                  </a:txBody>
                  <a:tcPr marL="64008" marR="64008" marT="27432" marB="27432" anchor="ctr">
                    <a:solidFill>
                      <a:srgbClr val="FFFFFF"/>
                    </a:solidFill>
                  </a:tcPr>
                </a:tc>
                <a:tc>
                  <a:txBody>
                    <a:bodyPr wrap="square"/>
                    <a:lstStyle/>
                    <a:p>
                      <a:pPr algn="l"/>
                      <a:r>
                        <a:rPr sz="950" b="0" i="0">
                          <a:solidFill>
                            <a:srgbClr val="1E2430"/>
                          </a:solidFill>
                          <a:latin typeface="Calibri"/>
                        </a:rPr>
                        <a:t>Bootstrap; paired tests; multiple-test correction</a:t>
                      </a:r>
                    </a:p>
                  </a:txBody>
                  <a:tcPr marL="64008" marR="64008" marT="27432" marB="27432" anchor="ctr">
                    <a:solidFill>
                      <a:srgbClr val="FFFFFF"/>
                    </a:solidFill>
                  </a:tcPr>
                </a:tc>
                <a:tc>
                  <a:txBody>
                    <a:bodyPr wrap="square"/>
                    <a:lstStyle/>
                    <a:p>
                      <a:pPr algn="l"/>
                      <a:r>
                        <a:rPr sz="950" b="0" i="0">
                          <a:solidFill>
                            <a:srgbClr val="1E2430"/>
                          </a:solidFill>
                          <a:latin typeface="Calibri"/>
                        </a:rPr>
                        <a:t>Quantify uncertainty of comparisons</a:t>
                      </a:r>
                    </a:p>
                  </a:txBody>
                  <a:tcPr marL="64008" marR="64008" marT="27432" marB="27432" anchor="ctr">
                    <a:solidFill>
                      <a:srgbClr val="FFFFFF"/>
                    </a:solidFill>
                  </a:tcPr>
                </a:tc>
                <a:tc>
                  <a:txBody>
                    <a:bodyPr wrap="square"/>
                    <a:lstStyle/>
                    <a:p>
                      <a:pPr algn="l"/>
                      <a:r>
                        <a:rPr sz="950" b="0" i="0">
                          <a:solidFill>
                            <a:srgbClr val="1E2430"/>
                          </a:solidFill>
                          <a:latin typeface="Calibri"/>
                        </a:rPr>
                        <a:t>CIs and corrected tests throughout</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Beam and Kohane, 2018 [6]; De Fauw et al., 2018 [7]</a:t>
                      </a:r>
                    </a:p>
                  </a:txBody>
                  <a:tcPr marL="64008" marR="64008" marT="27432" marB="27432" anchor="ctr">
                    <a:solidFill>
                      <a:srgbClr val="F3F5F8"/>
                    </a:solidFill>
                  </a:tcPr>
                </a:tc>
                <a:tc>
                  <a:txBody>
                    <a:bodyPr wrap="square"/>
                    <a:lstStyle/>
                    <a:p>
                      <a:pPr algn="l"/>
                      <a:r>
                        <a:rPr sz="950" b="0" i="0">
                          <a:solidFill>
                            <a:srgbClr val="1E2430"/>
                          </a:solidFill>
                          <a:latin typeface="Calibri"/>
                        </a:rPr>
                        <a:t>Machine learning in health care; retinal OCT referral</a:t>
                      </a:r>
                    </a:p>
                  </a:txBody>
                  <a:tcPr marL="64008" marR="64008" marT="27432" marB="27432" anchor="ctr">
                    <a:solidFill>
                      <a:srgbClr val="F3F5F8"/>
                    </a:solidFill>
                  </a:tcPr>
                </a:tc>
                <a:tc>
                  <a:txBody>
                    <a:bodyPr wrap="square"/>
                    <a:lstStyle/>
                    <a:p>
                      <a:pPr algn="l"/>
                      <a:r>
                        <a:rPr sz="950" b="0" i="0">
                          <a:solidFill>
                            <a:srgbClr val="1E2430"/>
                          </a:solidFill>
                          <a:latin typeface="Calibri"/>
                        </a:rPr>
                        <a:t>Review; deep-learning referral system</a:t>
                      </a:r>
                    </a:p>
                  </a:txBody>
                  <a:tcPr marL="64008" marR="64008" marT="27432" marB="27432" anchor="ctr">
                    <a:solidFill>
                      <a:srgbClr val="F3F5F8"/>
                    </a:solidFill>
                  </a:tcPr>
                </a:tc>
                <a:tc>
                  <a:txBody>
                    <a:bodyPr wrap="square"/>
                    <a:lstStyle/>
                    <a:p>
                      <a:pPr algn="l"/>
                      <a:r>
                        <a:rPr sz="950" b="0" i="0">
                          <a:solidFill>
                            <a:srgbClr val="1E2430"/>
                          </a:solidFill>
                          <a:latin typeface="Calibri"/>
                        </a:rPr>
                        <a:t>Expert-level performance is possible</a:t>
                      </a:r>
                    </a:p>
                  </a:txBody>
                  <a:tcPr marL="64008" marR="64008" marT="27432" marB="27432" anchor="ctr">
                    <a:solidFill>
                      <a:srgbClr val="F3F5F8"/>
                    </a:solidFill>
                  </a:tcPr>
                </a:tc>
                <a:tc>
                  <a:txBody>
                    <a:bodyPr wrap="square"/>
                    <a:lstStyle/>
                    <a:p>
                      <a:pPr algn="l"/>
                      <a:r>
                        <a:rPr sz="950" b="0" i="0">
                          <a:solidFill>
                            <a:srgbClr val="1E2430"/>
                          </a:solidFill>
                          <a:latin typeface="Calibri"/>
                        </a:rPr>
                        <a:t>Motivates a usable tool</a:t>
                      </a:r>
                    </a:p>
                  </a:txBody>
                  <a:tcPr marL="64008" marR="64008" marT="27432" marB="27432" anchor="ctr">
                    <a:solidFill>
                      <a:srgbClr val="F3F5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&lt;&lt;Programme B.Tech/ M.Tech Course Code – Course Title&gt;&gt; &lt;&lt;Project Title&gt;&gt;</vt:lpstr>
      <vt:lpstr>Approval Mail From Guide</vt:lpstr>
      <vt:lpstr>Aim</vt:lpstr>
      <vt:lpstr>Abstract</vt:lpstr>
      <vt:lpstr>Literature Review</vt:lpstr>
      <vt:lpstr>Research Gap</vt:lpstr>
      <vt:lpstr>Objectives</vt:lpstr>
      <vt:lpstr>Framework/Architecture/Block Diagram</vt:lpstr>
      <vt:lpstr>Functional Requirements</vt:lpstr>
      <vt:lpstr>Modules</vt:lpstr>
      <vt:lpstr>Experiments and Results</vt:lpstr>
      <vt:lpstr>Conclusion and Future Work</vt:lpstr>
      <vt:lpstr>Outcome Achieved</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