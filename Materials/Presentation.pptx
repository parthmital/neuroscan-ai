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7" r:id="rId12"/>
    <p:sldId id="270" r:id="rId22"/>
    <p:sldId id="271" r:id="rId23"/>
    <p:sldId id="272" r:id="rId24"/>
    <p:sldId id="273" r:id="rId25"/>
    <p:sldId id="274" r:id="rId26"/>
    <p:sldId id="275" r:id="rId27"/>
    <p:sldId id="268" r:id="rId13"/>
    <p:sldId id="269" r:id="rId14"/>
    <p:sldId id="262" r:id="rId15"/>
    <p:sldId id="27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-1232" y="-1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interSettings" Target="printerSettings/printerSettings1.bin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E2430"/>
                </a:solidFill>
                <a:latin typeface="Calibri"/>
              </a:rPr>
              <a:t>Images per class before and after deduplication (Hamming ≤ 5)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9FB1CC"/>
            </a:solidFill>
          </c:spPr>
          <c:cat>
            <c:strRef>
              <c:f>Sheet1!$A$2:$A$6</c:f>
              <c:strCache>
                <c:ptCount val="5"/>
                <c:pt idx="0">
                  <c:v>Tumour-negative</c:v>
                </c:pt>
                <c:pt idx="1">
                  <c:v>Tumour</c:v>
                </c:pt>
                <c:pt idx="2">
                  <c:v>Glioma</c:v>
                </c:pt>
                <c:pt idx="3">
                  <c:v>Meningioma</c:v>
                </c:pt>
                <c:pt idx="4">
                  <c:v>Pituitary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1598</c:v>
                </c:pt>
                <c:pt idx="1">
                  <c:v>1655</c:v>
                </c:pt>
                <c:pt idx="2">
                  <c:v>2352</c:v>
                </c:pt>
                <c:pt idx="3">
                  <c:v>1645</c:v>
                </c:pt>
                <c:pt idx="4">
                  <c:v>1831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rgbClr val="1F3A68"/>
            </a:solidFill>
          </c:spPr>
          <c:cat>
            <c:strRef>
              <c:f>Sheet1!$A$2:$A$6</c:f>
              <c:strCache>
                <c:ptCount val="5"/>
                <c:pt idx="0">
                  <c:v>Tumour-negative</c:v>
                </c:pt>
                <c:pt idx="1">
                  <c:v>Tumour</c:v>
                </c:pt>
                <c:pt idx="2">
                  <c:v>Glioma</c:v>
                </c:pt>
                <c:pt idx="3">
                  <c:v>Meningioma</c:v>
                </c:pt>
                <c:pt idx="4">
                  <c:v>Pituitary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455</c:v>
                </c:pt>
                <c:pt idx="1">
                  <c:v>730</c:v>
                </c:pt>
                <c:pt idx="2">
                  <c:v>2008</c:v>
                </c:pt>
                <c:pt idx="3">
                  <c:v>1314</c:v>
                </c:pt>
                <c:pt idx="4">
                  <c:v>1408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>
                  <a:solidFill>
                    <a:srgbClr val="1E243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AE1"/>
            </a:solidFill>
          </a:ln>
        </c:spPr>
        <c:txPr>
          <a:bodyPr/>
          <a:lstStyle/>
          <a:p>
            <a:pPr>
              <a:defRPr sz="1000">
                <a:solidFill>
                  <a:srgbClr val="1E243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5DAE1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B6472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1E243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E2430"/>
                </a:solidFill>
                <a:latin typeface="Calibri"/>
              </a:rPr>
              <a:t>Detection: fold-ensemble test accuracy (%), 171 images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F3A68"/>
            </a:solidFill>
          </c:spPr>
          <c:dPt>
            <c:idx val="0"/>
            <c:spPr>
              <a:solidFill>
                <a:srgbClr val="2E7D74"/>
              </a:solidFill>
            </c:spPr>
          </c:dPt>
          <c:dPt>
            <c:idx val="1"/>
            <c:spPr>
              <a:solidFill>
                <a:srgbClr val="1F3A68"/>
              </a:solidFill>
            </c:spPr>
          </c:dPt>
          <c:dPt>
            <c:idx val="2"/>
            <c:spPr>
              <a:solidFill>
                <a:srgbClr val="B4532A"/>
              </a:solidFill>
            </c:spPr>
          </c:dPt>
          <c:dPt>
            <c:idx val="3"/>
            <c:spPr>
              <a:solidFill>
                <a:srgbClr val="B4532A"/>
              </a:solidFill>
            </c:spPr>
          </c:dPt>
          <c:dPt>
            <c:idx val="4"/>
            <c:spPr>
              <a:solidFill>
                <a:srgbClr val="1F3A68"/>
              </a:solidFill>
            </c:spPr>
          </c:dPt>
          <c:dPt>
            <c:idx val="5"/>
            <c:spPr>
              <a:solidFill>
                <a:srgbClr val="1F3A68"/>
              </a:solidFill>
            </c:spPr>
          </c:dPt>
          <c:dPt>
            <c:idx val="6"/>
            <c:spPr>
              <a:solidFill>
                <a:srgbClr val="1F3A68"/>
              </a:solidFill>
            </c:spPr>
          </c:dPt>
          <c:dPt>
            <c:idx val="7"/>
            <c:spPr>
              <a:solidFill>
                <a:srgbClr val="1F3A68"/>
              </a:solidFill>
            </c:spPr>
          </c:dPt>
          <c:dPt>
            <c:idx val="8"/>
            <c:spPr>
              <a:solidFill>
                <a:srgbClr val="1F3A68"/>
              </a:solidFill>
            </c:spPr>
          </c:dPt>
          <c:cat>
            <c:strRef>
              <c:f>Sheet1!$A$2:$A$10</c:f>
              <c:strCache>
                <c:ptCount val="9"/>
                <c:pt idx="0">
                  <c:v>CoAtNet-0</c:v>
                </c:pt>
                <c:pt idx="1">
                  <c:v>EfficientNetB0</c:v>
                </c:pt>
                <c:pt idx="2">
                  <c:v>ViT-B/16</c:v>
                </c:pt>
                <c:pt idx="3">
                  <c:v>Swin-Base</c:v>
                </c:pt>
                <c:pt idx="4">
                  <c:v>InceptionV3</c:v>
                </c:pt>
                <c:pt idx="5">
                  <c:v>ResNet50</c:v>
                </c:pt>
                <c:pt idx="6">
                  <c:v>DenseNet121</c:v>
                </c:pt>
                <c:pt idx="7">
                  <c:v>MobileNetV3‑Large</c:v>
                </c:pt>
                <c:pt idx="8">
                  <c:v>VGG16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99.42</c:v>
                </c:pt>
                <c:pt idx="1">
                  <c:v>99.42</c:v>
                </c:pt>
                <c:pt idx="2">
                  <c:v>99.42</c:v>
                </c:pt>
                <c:pt idx="3">
                  <c:v>98.83</c:v>
                </c:pt>
                <c:pt idx="4">
                  <c:v>98.25</c:v>
                </c:pt>
                <c:pt idx="5">
                  <c:v>98.25</c:v>
                </c:pt>
                <c:pt idx="6">
                  <c:v>97.08</c:v>
                </c:pt>
                <c:pt idx="7">
                  <c:v>97.08</c:v>
                </c:pt>
                <c:pt idx="8">
                  <c:v>97.08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>
                  <a:solidFill>
                    <a:srgbClr val="1E243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5DAE1"/>
            </a:solidFill>
          </a:ln>
        </c:spPr>
        <c:txPr>
          <a:bodyPr/>
          <a:lstStyle/>
          <a:p>
            <a:pPr>
              <a:defRPr sz="1000">
                <a:solidFill>
                  <a:srgbClr val="1E243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5"/>
          <c:min val="95.0"/>
        </c:scaling>
        <c:delete val="0"/>
        <c:axPos val="b"/>
        <c:majorGridlines>
          <c:spPr>
            <a:ln w="9525">
              <a:solidFill>
                <a:srgbClr val="D5DAE1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B6472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1E243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E2430"/>
                </a:solidFill>
                <a:latin typeface="Calibri"/>
              </a:rPr>
              <a:t>Shortcut test: accuracy (%) of models trained and tested on background-only images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Detection (majority-class rate 62.6%)</c:v>
                </c:pt>
              </c:strCache>
            </c:strRef>
          </c:tx>
          <c:spPr>
            <a:solidFill>
              <a:srgbClr val="1F3A68"/>
            </a:solidFill>
          </c:spPr>
          <c:dPt>
            <c:idx val="0"/>
            <c:spPr>
              <a:solidFill>
                <a:srgbClr val="1F3A68"/>
              </a:solidFill>
            </c:spPr>
          </c:dPt>
          <c:dPt>
            <c:idx val="1"/>
            <c:spPr>
              <a:solidFill>
                <a:srgbClr val="1F3A68"/>
              </a:solidFill>
            </c:spPr>
          </c:dPt>
          <c:dPt>
            <c:idx val="2"/>
            <c:spPr>
              <a:solidFill>
                <a:srgbClr val="1F3A68"/>
              </a:solidFill>
            </c:spPr>
          </c:dPt>
          <c:dPt>
            <c:idx val="3"/>
            <c:spPr>
              <a:solidFill>
                <a:srgbClr val="1F3A68"/>
              </a:solidFill>
            </c:spPr>
          </c:dPt>
          <c:dPt>
            <c:idx val="4"/>
            <c:spPr>
              <a:solidFill>
                <a:srgbClr val="A7AFB9"/>
              </a:solidFill>
            </c:spPr>
          </c:dPt>
          <c:dPt>
            <c:idx val="5"/>
            <c:spPr>
              <a:solidFill>
                <a:srgbClr val="1F3A68"/>
              </a:solidFill>
            </c:spPr>
          </c:dPt>
          <c:dPt>
            <c:idx val="6"/>
            <c:spPr>
              <a:solidFill>
                <a:srgbClr val="A7AFB9"/>
              </a:solidFill>
            </c:spPr>
          </c:dPt>
          <c:dPt>
            <c:idx val="7"/>
            <c:spPr>
              <a:solidFill>
                <a:srgbClr val="1F3A68"/>
              </a:solidFill>
            </c:spPr>
          </c:dPt>
          <c:dPt>
            <c:idx val="8"/>
            <c:spPr>
              <a:solidFill>
                <a:srgbClr val="1F3A68"/>
              </a:solidFill>
            </c:spPr>
          </c:dPt>
          <c:cat>
            <c:strRef>
              <c:f>Sheet1!$A$2:$A$10</c:f>
              <c:strCache>
                <c:ptCount val="9"/>
                <c:pt idx="0">
                  <c:v>ResNet50</c:v>
                </c:pt>
                <c:pt idx="1">
                  <c:v>VGG16</c:v>
                </c:pt>
                <c:pt idx="2">
                  <c:v>DenseNet121</c:v>
                </c:pt>
                <c:pt idx="3">
                  <c:v>EfficientNetB0</c:v>
                </c:pt>
                <c:pt idx="4">
                  <c:v>MobileNetV3‑Large</c:v>
                </c:pt>
                <c:pt idx="5">
                  <c:v>InceptionV3</c:v>
                </c:pt>
                <c:pt idx="6">
                  <c:v>ViT-B/16</c:v>
                </c:pt>
                <c:pt idx="7">
                  <c:v>Swin-Base</c:v>
                </c:pt>
                <c:pt idx="8">
                  <c:v>CoAtNet-0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81.29</c:v>
                </c:pt>
                <c:pt idx="1">
                  <c:v>74.85</c:v>
                </c:pt>
                <c:pt idx="2">
                  <c:v>79.53</c:v>
                </c:pt>
                <c:pt idx="3">
                  <c:v>77.78</c:v>
                </c:pt>
                <c:pt idx="4">
                  <c:v>67.84</c:v>
                </c:pt>
                <c:pt idx="5">
                  <c:v>79.53</c:v>
                </c:pt>
                <c:pt idx="6">
                  <c:v>65.5</c:v>
                </c:pt>
                <c:pt idx="7">
                  <c:v>83.04</c:v>
                </c:pt>
                <c:pt idx="8">
                  <c:v>79.53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Subtype (majority-class rate 68.9%)</c:v>
                </c:pt>
              </c:strCache>
            </c:strRef>
          </c:tx>
          <c:spPr>
            <a:solidFill>
              <a:srgbClr val="9FB1CC"/>
            </a:solidFill>
          </c:spPr>
          <c:cat>
            <c:strRef>
              <c:f>Sheet1!$A$2:$A$10</c:f>
              <c:strCache>
                <c:ptCount val="9"/>
                <c:pt idx="0">
                  <c:v>ResNet50</c:v>
                </c:pt>
                <c:pt idx="1">
                  <c:v>VGG16</c:v>
                </c:pt>
                <c:pt idx="2">
                  <c:v>DenseNet121</c:v>
                </c:pt>
                <c:pt idx="3">
                  <c:v>EfficientNetB0</c:v>
                </c:pt>
                <c:pt idx="4">
                  <c:v>MobileNetV3‑Large</c:v>
                </c:pt>
                <c:pt idx="5">
                  <c:v>InceptionV3</c:v>
                </c:pt>
                <c:pt idx="6">
                  <c:v>ViT-B/16</c:v>
                </c:pt>
                <c:pt idx="7">
                  <c:v>Swin-Base</c:v>
                </c:pt>
                <c:pt idx="8">
                  <c:v>CoAtNet-0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93.33</c:v>
                </c:pt>
                <c:pt idx="1">
                  <c:v>97.78</c:v>
                </c:pt>
                <c:pt idx="2">
                  <c:v>86.67</c:v>
                </c:pt>
                <c:pt idx="3">
                  <c:v>88.89</c:v>
                </c:pt>
                <c:pt idx="4">
                  <c:v>93.33</c:v>
                </c:pt>
                <c:pt idx="5">
                  <c:v>97.78</c:v>
                </c:pt>
                <c:pt idx="6">
                  <c:v>91.11</c:v>
                </c:pt>
                <c:pt idx="7">
                  <c:v>91.11</c:v>
                </c:pt>
                <c:pt idx="8">
                  <c:v>82.22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>
                  <a:solidFill>
                    <a:srgbClr val="1E243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-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5DAE1"/>
            </a:solidFill>
          </a:ln>
        </c:spPr>
        <c:txPr>
          <a:bodyPr/>
          <a:lstStyle/>
          <a:p>
            <a:pPr>
              <a:defRPr sz="1000">
                <a:solidFill>
                  <a:srgbClr val="1E243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50.0"/>
        </c:scaling>
        <c:delete val="0"/>
        <c:axPos val="b"/>
        <c:majorGridlines>
          <c:spPr>
            <a:ln w="9525">
              <a:solidFill>
                <a:srgbClr val="D5DAE1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B6472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1E243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1E2430"/>
                </a:solidFill>
                <a:latin typeface="Calibri"/>
              </a:rPr>
              <a:t>Enhancing-tumour Dice by tumour grade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HGG (44 cases)</c:v>
                </c:pt>
              </c:strCache>
            </c:strRef>
          </c:tx>
          <c:spPr>
            <a:solidFill>
              <a:srgbClr val="1F3A68"/>
            </a:solidFill>
          </c:spPr>
          <c:cat>
            <c:strRef>
              <c:f>Sheet1!$A$2:$A$7</c:f>
              <c:strCache>
                <c:ptCount val="6"/>
                <c:pt idx="0">
                  <c:v>UNet</c:v>
                </c:pt>
                <c:pt idx="1">
                  <c:v>nnU-Net-style</c:v>
                </c:pt>
                <c:pt idx="2">
                  <c:v>VNet</c:v>
                </c:pt>
                <c:pt idx="3">
                  <c:v>Swin UNETR</c:v>
                </c:pt>
                <c:pt idx="4">
                  <c:v>TransBTS</c:v>
                </c:pt>
                <c:pt idx="5">
                  <c:v>UNETR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0.8117</c:v>
                </c:pt>
                <c:pt idx="1">
                  <c:v>0.8124</c:v>
                </c:pt>
                <c:pt idx="2">
                  <c:v>0.7923</c:v>
                </c:pt>
                <c:pt idx="3">
                  <c:v>0.7262</c:v>
                </c:pt>
                <c:pt idx="4">
                  <c:v>0.674</c:v>
                </c:pt>
                <c:pt idx="5">
                  <c:v>0.6773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LGG (12 cases)</c:v>
                </c:pt>
              </c:strCache>
            </c:strRef>
          </c:tx>
          <c:spPr>
            <a:solidFill>
              <a:srgbClr val="9FB1CC"/>
            </a:solidFill>
          </c:spPr>
          <c:cat>
            <c:strRef>
              <c:f>Sheet1!$A$2:$A$7</c:f>
              <c:strCache>
                <c:ptCount val="6"/>
                <c:pt idx="0">
                  <c:v>UNet</c:v>
                </c:pt>
                <c:pt idx="1">
                  <c:v>nnU-Net-style</c:v>
                </c:pt>
                <c:pt idx="2">
                  <c:v>VNet</c:v>
                </c:pt>
                <c:pt idx="3">
                  <c:v>Swin UNETR</c:v>
                </c:pt>
                <c:pt idx="4">
                  <c:v>TransBTS</c:v>
                </c:pt>
                <c:pt idx="5">
                  <c:v>UNETR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0.4237</c:v>
                </c:pt>
                <c:pt idx="1">
                  <c:v>0.4112</c:v>
                </c:pt>
                <c:pt idx="2">
                  <c:v>0.3885</c:v>
                </c:pt>
                <c:pt idx="3">
                  <c:v>0.2193</c:v>
                </c:pt>
                <c:pt idx="4">
                  <c:v>0.1613</c:v>
                </c:pt>
                <c:pt idx="5">
                  <c:v>0.1857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>
                  <a:solidFill>
                    <a:srgbClr val="1E2430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AE1"/>
            </a:solidFill>
          </a:ln>
        </c:spPr>
        <c:txPr>
          <a:bodyPr/>
          <a:lstStyle/>
          <a:p>
            <a:pPr>
              <a:defRPr sz="1000">
                <a:solidFill>
                  <a:srgbClr val="1E243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 w="9525">
              <a:solidFill>
                <a:srgbClr val="D5DAE1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B6472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solidFill>
            <a:srgbClr val="1E243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100" b="1">
                <a:solidFill>
                  <a:srgbClr val="1E2430"/>
                </a:solidFill>
                <a:latin typeface="Calibri"/>
              </a:rPr>
              <a:t>Mean Dice vs latency per volume (bubble area: parameters)</a:t>
            </a:r>
          </a:p>
        </c:rich>
      </c:tx>
      <c:layout/>
      <c:overlay val="0"/>
    </c:title>
    <c:autoTitleDeleted val="0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UNet</c:v>
                </c:pt>
              </c:strCache>
            </c:strRef>
          </c:tx>
          <c:spPr>
            <a:solidFill>
              <a:srgbClr val="1F3A68"/>
            </a:solidFill>
            <a:ln>
              <a:solidFill>
                <a:srgbClr val="FFFFFF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900">
                        <a:solidFill>
                          <a:srgbClr val="1E2430"/>
                        </a:solidFill>
                        <a:latin typeface="Calibri"/>
                      </a:rPr>
                      <a:t>UNet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Sheet1!$A$2:$A$2</c:f>
              <c:numCache>
                <c:formatCode>General</c:formatCode>
                <c:ptCount val="1"/>
                <c:pt idx="0">
                  <c:v>0.1076</c:v>
                </c:pt>
              </c:numCache>
            </c:numRef>
          </c:xVal>
          <c:yVal>
            <c:numRef>
              <c:f>Sheet1!$B$2:$B$2</c:f>
              <c:numCache>
                <c:formatCode>General</c:formatCode>
                <c:ptCount val="1"/>
                <c:pt idx="0">
                  <c:v>0.8199</c:v>
                </c:pt>
              </c:numCache>
            </c:numRef>
          </c:yVal>
          <c:bubbleSize>
            <c:numRef>
              <c:f>Sheet1!$C$2:$C$2</c:f>
              <c:numCache>
                <c:formatCode>General</c:formatCode>
                <c:ptCount val="1"/>
                <c:pt idx="0">
                  <c:v>5.6</c:v>
                </c:pt>
              </c:numCache>
            </c:numRef>
          </c:bubbleSize>
          <c:bubble3D val="0"/>
        </c:ser>
        <c:ser>
          <c:idx val="1"/>
          <c:order val="1"/>
          <c:tx>
            <c:strRef>
              <c:f>Sheet1!$B$4</c:f>
              <c:strCache>
                <c:ptCount val="1"/>
                <c:pt idx="0">
                  <c:v>nnU-Net-style</c:v>
                </c:pt>
              </c:strCache>
            </c:strRef>
          </c:tx>
          <c:spPr>
            <a:solidFill>
              <a:srgbClr val="1F3A68"/>
            </a:solidFill>
            <a:ln>
              <a:solidFill>
                <a:srgbClr val="FFFFFF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900">
                        <a:solidFill>
                          <a:srgbClr val="1E2430"/>
                        </a:solidFill>
                        <a:latin typeface="Calibri"/>
                      </a:rPr>
                      <a:t>nnU-Net-style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Sheet1!$A$5:$A$5</c:f>
              <c:numCache>
                <c:formatCode>General</c:formatCode>
                <c:ptCount val="1"/>
                <c:pt idx="0">
                  <c:v>0.1112</c:v>
                </c:pt>
              </c:numCache>
            </c:numRef>
          </c:xVal>
          <c:yVal>
            <c:numRef>
              <c:f>Sheet1!$B$5:$B$5</c:f>
              <c:numCache>
                <c:formatCode>General</c:formatCode>
                <c:ptCount val="1"/>
                <c:pt idx="0">
                  <c:v>0.8192</c:v>
                </c:pt>
              </c:numCache>
            </c:numRef>
          </c:yVal>
          <c:bubbleSize>
            <c:numRef>
              <c:f>Sheet1!$C$5:$C$5</c:f>
              <c:numCache>
                <c:formatCode>General</c:formatCode>
                <c:ptCount val="1"/>
                <c:pt idx="0">
                  <c:v>16.55</c:v>
                </c:pt>
              </c:numCache>
            </c:numRef>
          </c:bubbleSize>
          <c:bubble3D val="0"/>
        </c:ser>
        <c:ser>
          <c:idx val="2"/>
          <c:order val="2"/>
          <c:tx>
            <c:strRef>
              <c:f>Sheet1!$B$7</c:f>
              <c:strCache>
                <c:ptCount val="1"/>
                <c:pt idx="0">
                  <c:v>VNet</c:v>
                </c:pt>
              </c:strCache>
            </c:strRef>
          </c:tx>
          <c:spPr>
            <a:solidFill>
              <a:srgbClr val="1F3A68"/>
            </a:solidFill>
            <a:ln>
              <a:solidFill>
                <a:srgbClr val="FFFFFF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900">
                        <a:solidFill>
                          <a:srgbClr val="1E2430"/>
                        </a:solidFill>
                        <a:latin typeface="Calibri"/>
                      </a:rPr>
                      <a:t>VNet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Sheet1!$A$8:$A$8</c:f>
              <c:numCache>
                <c:formatCode>General</c:formatCode>
                <c:ptCount val="1"/>
                <c:pt idx="0">
                  <c:v>0.0375</c:v>
                </c:pt>
              </c:numCache>
            </c:numRef>
          </c:xVal>
          <c:yVal>
            <c:numRef>
              <c:f>Sheet1!$B$8:$B$8</c:f>
              <c:numCache>
                <c:formatCode>General</c:formatCode>
                <c:ptCount val="1"/>
                <c:pt idx="0">
                  <c:v>0.7965</c:v>
                </c:pt>
              </c:numCache>
            </c:numRef>
          </c:yVal>
          <c:bubbleSize>
            <c:numRef>
              <c:f>Sheet1!$C$8:$C$8</c:f>
              <c:numCache>
                <c:formatCode>General</c:formatCode>
                <c:ptCount val="1"/>
                <c:pt idx="0">
                  <c:v>1.4</c:v>
                </c:pt>
              </c:numCache>
            </c:numRef>
          </c:bubbleSize>
          <c:bubble3D val="0"/>
        </c:ser>
        <c:ser>
          <c:idx val="3"/>
          <c:order val="3"/>
          <c:tx>
            <c:strRef>
              <c:f>Sheet1!$B$10</c:f>
              <c:strCache>
                <c:ptCount val="1"/>
                <c:pt idx="0">
                  <c:v>UNETR</c:v>
                </c:pt>
              </c:strCache>
            </c:strRef>
          </c:tx>
          <c:spPr>
            <a:solidFill>
              <a:srgbClr val="B4532A"/>
            </a:solidFill>
            <a:ln>
              <a:solidFill>
                <a:srgbClr val="FFFFFF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900">
                        <a:solidFill>
                          <a:srgbClr val="1E2430"/>
                        </a:solidFill>
                        <a:latin typeface="Calibri"/>
                      </a:rPr>
                      <a:t>UNETR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Sheet1!$A$11:$A$11</c:f>
              <c:numCache>
                <c:formatCode>General</c:formatCode>
                <c:ptCount val="1"/>
                <c:pt idx="0">
                  <c:v>0.2094</c:v>
                </c:pt>
              </c:numCache>
            </c:numRef>
          </c:xVal>
          <c:yVal>
            <c:numRef>
              <c:f>Sheet1!$B$11:$B$11</c:f>
              <c:numCache>
                <c:formatCode>General</c:formatCode>
                <c:ptCount val="1"/>
                <c:pt idx="0">
                  <c:v>0.7056</c:v>
                </c:pt>
              </c:numCache>
            </c:numRef>
          </c:yVal>
          <c:bubbleSize>
            <c:numRef>
              <c:f>Sheet1!$C$11:$C$11</c:f>
              <c:numCache>
                <c:formatCode>General</c:formatCode>
                <c:ptCount val="1"/>
                <c:pt idx="0">
                  <c:v>137.6</c:v>
                </c:pt>
              </c:numCache>
            </c:numRef>
          </c:bubbleSize>
          <c:bubble3D val="0"/>
        </c:ser>
        <c:ser>
          <c:idx val="4"/>
          <c:order val="4"/>
          <c:tx>
            <c:strRef>
              <c:f>Sheet1!$B$13</c:f>
              <c:strCache>
                <c:ptCount val="1"/>
                <c:pt idx="0">
                  <c:v>Swin UNETR</c:v>
                </c:pt>
              </c:strCache>
            </c:strRef>
          </c:tx>
          <c:spPr>
            <a:solidFill>
              <a:srgbClr val="B4532A"/>
            </a:solidFill>
            <a:ln>
              <a:solidFill>
                <a:srgbClr val="FFFFFF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900">
                        <a:solidFill>
                          <a:srgbClr val="1E2430"/>
                        </a:solidFill>
                        <a:latin typeface="Calibri"/>
                      </a:rPr>
                      <a:t>Swin UNETR</a:t>
                    </a:r>
                  </a:p>
                </c:rich>
              </c:tx>
              <c:dLblPos val="l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Sheet1!$A$14:$A$14</c:f>
              <c:numCache>
                <c:formatCode>General</c:formatCode>
                <c:ptCount val="1"/>
                <c:pt idx="0">
                  <c:v>0.4893</c:v>
                </c:pt>
              </c:numCache>
            </c:numRef>
          </c:xVal>
          <c:yVal>
            <c:numRef>
              <c:f>Sheet1!$B$14:$B$14</c:f>
              <c:numCache>
                <c:formatCode>General</c:formatCode>
                <c:ptCount val="1"/>
                <c:pt idx="0">
                  <c:v>0.7462</c:v>
                </c:pt>
              </c:numCache>
            </c:numRef>
          </c:yVal>
          <c:bubbleSize>
            <c:numRef>
              <c:f>Sheet1!$C$14:$C$14</c:f>
              <c:numCache>
                <c:formatCode>General</c:formatCode>
                <c:ptCount val="1"/>
                <c:pt idx="0">
                  <c:v>10.52</c:v>
                </c:pt>
              </c:numCache>
            </c:numRef>
          </c:bubbleSize>
          <c:bubble3D val="0"/>
        </c:ser>
        <c:ser>
          <c:idx val="5"/>
          <c:order val="5"/>
          <c:tx>
            <c:strRef>
              <c:f>Sheet1!$B$16</c:f>
              <c:strCache>
                <c:ptCount val="1"/>
                <c:pt idx="0">
                  <c:v>TransBTS</c:v>
                </c:pt>
              </c:strCache>
            </c:strRef>
          </c:tx>
          <c:spPr>
            <a:solidFill>
              <a:srgbClr val="2E7D74"/>
            </a:solidFill>
            <a:ln>
              <a:solidFill>
                <a:srgbClr val="FFFFFF"/>
              </a:solidFill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900">
                        <a:solidFill>
                          <a:srgbClr val="1E2430"/>
                        </a:solidFill>
                        <a:latin typeface="Calibri"/>
                      </a:rPr>
                      <a:t>TransBTS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xVal>
            <c:numRef>
              <c:f>Sheet1!$A$17:$A$17</c:f>
              <c:numCache>
                <c:formatCode>General</c:formatCode>
                <c:ptCount val="1"/>
                <c:pt idx="0">
                  <c:v>0.1291</c:v>
                </c:pt>
              </c:numCache>
            </c:numRef>
          </c:xVal>
          <c:yVal>
            <c:numRef>
              <c:f>Sheet1!$B$17:$B$17</c:f>
              <c:numCache>
                <c:formatCode>General</c:formatCode>
                <c:ptCount val="1"/>
                <c:pt idx="0">
                  <c:v>0.7291</c:v>
                </c:pt>
              </c:numCache>
            </c:numRef>
          </c:yVal>
          <c:bubbleSize>
            <c:numRef>
              <c:f>Sheet1!$C$17:$C$17</c:f>
              <c:numCache>
                <c:formatCode>General</c:formatCode>
                <c:ptCount val="1"/>
                <c:pt idx="0">
                  <c:v>35.81</c:v>
                </c:pt>
              </c:numCache>
            </c:numRef>
          </c:bubbleSize>
          <c:bubble3D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35"/>
        <c:showNegBubbles val="0"/>
        <c:axId val="-2115720072"/>
        <c:axId val="-2115723560"/>
      </c:bubbleChart>
      <c:valAx>
        <c:axId val="-2115720072"/>
        <c:scaling>
          <c:orientation val="minMax"/>
          <c:max val="0.55"/>
          <c:min val="0.0"/>
        </c:scaling>
        <c:delete val="0"/>
        <c:axPos val="b"/>
        <c:title>
          <c:tx>
            <c:rich>
              <a:bodyPr/>
              <a:lstStyle/>
              <a:p>
                <a:r>
                  <a:rPr sz="1000" b="0">
                    <a:solidFill>
                      <a:srgbClr val="5B6472"/>
                    </a:solidFill>
                  </a:rPr>
                  <a:t>Latency per volume (s, no TTA)</a:t>
                </a:r>
              </a:p>
            </c:rich>
          </c:tx>
          <c:layout/>
          <c:overlay val="0"/>
        </c:title>
        <c:numFmt formatCode="0.0" sourceLinked="0"/>
        <c:majorTickMark val="out"/>
        <c:minorTickMark val="none"/>
        <c:tickLblPos val="nextTo"/>
        <c:spPr>
          <a:ln>
            <a:solidFill>
              <a:srgbClr val="D5DAE1"/>
            </a:solidFill>
          </a:ln>
        </c:spPr>
        <c:txPr>
          <a:bodyPr/>
          <a:lstStyle/>
          <a:p>
            <a:pPr>
              <a:defRPr sz="1000">
                <a:solidFill>
                  <a:srgbClr val="5B6472"/>
                </a:solidFill>
              </a:defRPr>
            </a:pPr>
          </a:p>
        </c:txPr>
        <c:crossAx val="-2115723560"/>
        <c:crosses val="autoZero"/>
        <c:crossBetween val="midCat"/>
      </c:valAx>
      <c:valAx>
        <c:axId val="-2115723560"/>
        <c:scaling>
          <c:orientation val="minMax"/>
          <c:max val="0.84"/>
          <c:min val="0.68"/>
        </c:scaling>
        <c:delete val="0"/>
        <c:axPos val="l"/>
        <c:majorGridlines>
          <c:spPr>
            <a:ln w="9525">
              <a:solidFill>
                <a:srgbClr val="D5DAE1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 b="0">
                    <a:solidFill>
                      <a:srgbClr val="5B6472"/>
                    </a:solidFill>
                  </a:rPr>
                  <a:t>Mean Dice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5B6472"/>
                </a:solidFill>
              </a:defRPr>
            </a:pPr>
          </a:p>
        </c:txPr>
        <c:crossAx val="-2115720072"/>
        <c:crosses val="autoZero"/>
        <c:crossBetween val="midCat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1E2430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05/10/26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team and the guide. The project has two research outputs and one product: a 2D classification benchmark, a 3D segmentation benchmark, and the NeuroScan AI web application that deploys the models those benchmarks selected.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the sample image with the guide's approval mail before the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aim has three parts that map to the two papers and the application. The statistics motivate the problem: brain tumours are common, and gliomas dominate the malignant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problem, two controlled benchmarks, one deployed system. The headline accuracy is measured after deduplication, and the shortcut audit qualifies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Early work used hand-crafted features; transfer learning pushed reported accuracy to 97 to 100%, but each study uses its own data, split and single model. Figures are as reported by each study; the figshare three-class studies are subtype classification, not 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gap on the left is answered by a specific design decision on the right; these decisions are the contributions of the two papers.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Objectives 1 to 3 belong to Paper 1, objective 4 to Paper 2 and objective 5 to the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Top: the two research pipelines that produced the checkpoints. Bottom: the application that loads them. The application only reads the exported checkpoints; training stays in the notebooks.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Requirements are what the user can do; modules are how the project is built. The first three modules are the research notebooks; the rest form the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Deduplication removed 63.57% of the detection pool, mostly Br35H copies, and 18.84% of the subtype pool. The brain crop is the same one the application applies. Grouping by similarity is a proxy for patient-level splitting because no source records patient identifiers.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row of every results table differs only in the architecture. Two Tesla T4 GPUs on Kaggle, PyTorch 2.11.0. Each backbone was also trained once on fold 0 with the head set to zero for the shortcut test, giving 54 runs per task, all completed. EfficientNetB0, shaded, is the deployed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pair of models differs significantly (all Holm-adjusted p = 1.0), so the ordering on the left is not a ranking of architectures. The bootstrap gap to CoAtNet-0 excludes zero only for VGG16 and MobileNetV3-Large, both 2.34 points behind (0.58 to 4.68).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Models trained on full images depend on the head, but the data do not stop them from using the background. Swin-Base reaches 83.0% detection accuracy without seeing any brain; subtype background-only models reach up to 97.8%.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six networks are implemented from scratch in one notebook and take the same four-channel 128³ input. VNet, shaded, is the deployed model; its module names match the application's network class, so its weights load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UNet leads VNet by a median 0.0119 Dice and every transformer-based model by 0.0738 to 0.1139. Best validation Dice: UNet 0.7845 (epoch 45), nnU-Net-style 0.7824 (50), VNet 0.7598 (44), Swin UNETR 0.7235 (33), TransBTS 0.7102 (45), UNETR 0.6960 (39).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Swin UNETR is the slowest model (0.4893 s per volume, 5.29 training hours) despite 10.52 M parameters, because its first stage attends over 64³ tokens. TTA multiplies latency by about eight for every model. In the bubble chart, navy marks CNNs, brick transformers and teal the hybrid.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Recommendation: UNet for the highest accuracy; VNet and EfficientNetB0 for deployment with limited compute. Transformers should be revisited with pretraining, more data or higher resolution.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Update the status before the review and upload the proof to the form given in the template.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IEEE-style references, numbered in order of first citation in this deck; all 88 references cited by the two manuscripts are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IEEE-style references, numbered in order of first citation in this deck; all 88 references cited by the two manuscripts are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05/10/26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05/10/26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05/10/26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05/10/26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05/10/26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05/10/26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05/10/26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forms.gle/B9B71VPy5b9bZ9dJ8" TargetMode="External"/><Relationship Id="rId3" Type="http://schemas.openxmlformats.org/officeDocument/2006/relationships/notesSlide" Target="../notesSlides/notesSlide1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xmlns="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280160" y="1874519"/>
            <a:ext cx="9628632" cy="1325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E2430"/>
                </a:solidFill>
                <a:latin typeface="Times New Roman"/>
              </a:rPr>
              <a:t>B.Tech BCSE497J – Project-I</a:t>
            </a:r>
          </a:p>
          <a:p>
            <a:pPr algn="ctr">
              <a:spcAft>
                <a:spcPts val="600"/>
              </a:spcAft>
            </a:pPr>
            <a:r>
              <a:rPr sz="2600" b="1" i="0">
                <a:solidFill>
                  <a:srgbClr val="1F3A68"/>
                </a:solidFill>
                <a:latin typeface="Times New Roman"/>
              </a:rPr>
              <a:t>NeuroScan AI: AI-Powered Brain Tumour Detection, Classification and Segmentation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5728" y="3520440"/>
            <a:ext cx="329184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E2430"/>
                </a:solidFill>
                <a:latin typeface="Calibri"/>
              </a:rPr>
              <a:t>Team members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2430"/>
                </a:solidFill>
                <a:latin typeface="Calibri"/>
              </a:rPr>
              <a:t>Parth Mital (23BCE0842)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2430"/>
                </a:solidFill>
                <a:latin typeface="Calibri"/>
              </a:rPr>
              <a:t>Ved Lawand (23BDS0141)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352044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E2430"/>
                </a:solidFill>
                <a:latin typeface="Calibri"/>
              </a:rPr>
              <a:t>Faculty guide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2430"/>
                </a:solidFill>
                <a:latin typeface="Calibri"/>
              </a:rPr>
              <a:t>Dr. Biji C. L.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2430"/>
                </a:solidFill>
                <a:latin typeface="Calibri"/>
              </a:rPr>
              <a:t>Associate Professor Grade 2,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120640"/>
            <a:ext cx="962863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472"/>
                </a:solidFill>
                <a:latin typeface="Calibri"/>
              </a:rPr>
              <a:t>Based on two research manuscripts: a leakage-controlled benchmark of 2D backbones for detection and subtype classification, and a benchmark of 3D segmentation architectures on BraTS 2020</a:t>
            </a: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6ACBE13-A9D6-9564-DA47-597E38E09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1672" cy="621792"/>
          </a:xfrm>
        </p:spPr>
        <p:txBody>
          <a:bodyPr lIns="0" tIns="0" rIns="0" bIns="0" anchor="ctr">
            <a:normAutofit/>
          </a:bodyPr>
          <a:lstStyle/>
          <a:p>
            <a:pPr algn="l"/>
            <a:r>
              <a:rPr sz="2800" b="1">
                <a:solidFill>
                  <a:srgbClr val="1E2430"/>
                </a:solidFill>
                <a:latin typeface="Times New Roman"/>
              </a:rPr>
              <a:t>Approval Mail From Guide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7827C50-3ED3-2DB6-C227-6784C6CA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000">
                <a:solidFill>
                  <a:srgbClr val="8A929C"/>
                </a:solidFill>
                <a:latin typeface="Calibri"/>
                <a:cs typeface="Calibri"/>
              </a:rPr>
              <a:t>28/10/26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6664170-792F-28F8-1C31-5F7A8D69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000">
                <a:solidFill>
                  <a:srgbClr val="8A929C"/>
                </a:solidFill>
                <a:latin typeface="Calibri"/>
                <a:cs typeface="Calibri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E16528B-72DB-0275-6A94-33ABB5CD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 sz="1000">
                <a:solidFill>
                  <a:srgbClr val="8A929C"/>
                </a:solidFill>
                <a:latin typeface="Calibri"/>
                <a:cs typeface="Calibri"/>
              </a:rPr>
              <a:t>2</a:t>
            </a:fld>
            <a:endParaRPr lang="en-IN"/>
          </a:p>
        </p:txBody>
      </p:sp>
      <p:pic>
        <p:nvPicPr>
          <p:cNvPr id="7" name="Picture 6" descr="Screen Shot 2026-10-05 at 11.12.42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358" y="1371600"/>
            <a:ext cx="8942979" cy="26714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39496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2430"/>
                </a:solidFill>
                <a:latin typeface="Calibri"/>
              </a:rPr>
              <a:t>All the above aspects are addressed and updated by the project team.</a:t>
            </a:r>
          </a:p>
        </p:txBody>
      </p:sp>
    </p:spTree>
    <p:extLst>
      <p:ext uri="{BB962C8B-B14F-4D97-AF65-F5344CB8AC3E}">
        <p14:creationId xmlns:p14="http://schemas.microsoft.com/office/powerpoint/2010/main" val="12565606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11091672" cy="621792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/>
          <a:p>
            <a:pPr algn="l"/>
            <a:r>
              <a:rPr sz="2800" b="1">
                <a:solidFill>
                  <a:srgbClr val="1E2430"/>
                </a:solidFill>
                <a:latin typeface="Times New Roman"/>
              </a:rPr>
              <a:t>Aim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000">
                <a:solidFill>
                  <a:srgbClr val="8A929C"/>
                </a:solidFill>
                <a:latin typeface="Calibri"/>
                <a:cs typeface="Calibri"/>
              </a:rPr>
              <a:t>28/10/26</a:t>
            </a:r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000">
                <a:solidFill>
                  <a:srgbClr val="8A929C"/>
                </a:solidFill>
                <a:latin typeface="Calibri"/>
                <a:cs typeface="Calibri"/>
              </a:rPr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 sz="1000">
                <a:solidFill>
                  <a:srgbClr val="8A929C"/>
                </a:solidFill>
                <a:latin typeface="Calibri"/>
                <a:cs typeface="Calibri"/>
              </a:rPr>
              <a:t>3</a:t>
            </a:fld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11091672" cy="800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E2430"/>
                </a:solidFill>
                <a:latin typeface="Calibri"/>
              </a:rPr>
              <a:t>To build and rigorously evaluate an AI system that </a:t>
            </a:r>
            <a:r>
              <a:rPr sz="1600" b="1" i="0">
                <a:solidFill>
                  <a:srgbClr val="1E2430"/>
                </a:solidFill>
                <a:latin typeface="Calibri"/>
              </a:rPr>
              <a:t>detects</a:t>
            </a:r>
            <a:r>
              <a:rPr sz="1600" b="0" i="0">
                <a:solidFill>
                  <a:srgbClr val="1E2430"/>
                </a:solidFill>
                <a:latin typeface="Calibri"/>
              </a:rPr>
              <a:t> brain tumours in MRI, </a:t>
            </a:r>
            <a:r>
              <a:rPr sz="1600" b="1" i="0">
                <a:solidFill>
                  <a:srgbClr val="1E2430"/>
                </a:solidFill>
                <a:latin typeface="Calibri"/>
              </a:rPr>
              <a:t>classifies</a:t>
            </a:r>
            <a:r>
              <a:rPr sz="1600" b="0" i="0">
                <a:solidFill>
                  <a:srgbClr val="1E2430"/>
                </a:solidFill>
                <a:latin typeface="Calibri"/>
              </a:rPr>
              <a:t> them as glioma, meningioma or pituitary tumour, and </a:t>
            </a:r>
            <a:r>
              <a:rPr sz="1600" b="1" i="0">
                <a:solidFill>
                  <a:srgbClr val="1E2430"/>
                </a:solidFill>
                <a:latin typeface="Calibri"/>
              </a:rPr>
              <a:t>segments</a:t>
            </a:r>
            <a:r>
              <a:rPr sz="1600" b="0" i="0">
                <a:solidFill>
                  <a:srgbClr val="1E2430"/>
                </a:solidFill>
                <a:latin typeface="Calibri"/>
              </a:rPr>
              <a:t> the whole tumour, tumour core and enhancing tumour in 3D, selecting every deployed model through a controlled, leakage-aware benchmark.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63648"/>
            <a:ext cx="3544824" cy="10972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391664"/>
            <a:ext cx="32156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1F3A68"/>
                </a:solidFill>
                <a:latin typeface="Calibri"/>
              </a:rPr>
              <a:t>453,623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885440"/>
            <a:ext cx="32156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primary brain and other CNS tumours diagnosed in the United States, 2016 to 2020 [1]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2064" y="2263648"/>
            <a:ext cx="3544824" cy="10972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6656" y="2391664"/>
            <a:ext cx="32156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1F3A68"/>
                </a:solidFill>
                <a:latin typeface="Calibri"/>
              </a:rPr>
              <a:t>26.3%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6656" y="2885440"/>
            <a:ext cx="32156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of these tumours are gliomas [1]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5488" y="2263648"/>
            <a:ext cx="3544824" cy="10972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0080" y="2391664"/>
            <a:ext cx="32156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1F3A68"/>
                </a:solidFill>
                <a:latin typeface="Calibri"/>
              </a:rPr>
              <a:t>About 80%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0080" y="2885440"/>
            <a:ext cx="32156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of malignant brain tumours worldwide are gliomas [2]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589528"/>
            <a:ext cx="3544824" cy="156870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754119"/>
            <a:ext cx="3215640" cy="1239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F3A68"/>
                </a:solidFill>
                <a:latin typeface="Calibri"/>
              </a:rPr>
              <a:t>1. Detect and classify in 2D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E2430"/>
                </a:solidFill>
                <a:latin typeface="Calibri"/>
              </a:rPr>
              <a:t>Benchmark nine ImageNet-pretrained CNN, transformer and hybrid backbones for tumour detection and glioma, meningioma or pituitary classification on deduplicated public MRI slices (Paper 1).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22064" y="3589528"/>
            <a:ext cx="3544824" cy="156870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6656" y="3754119"/>
            <a:ext cx="3215640" cy="1239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F3A68"/>
                </a:solidFill>
                <a:latin typeface="Calibri"/>
              </a:rPr>
              <a:t>2. Segment in 3D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E2430"/>
                </a:solidFill>
                <a:latin typeface="Calibri"/>
              </a:rPr>
              <a:t>Benchmark six 3D architectures for whole tumour, tumour core and enhancing tumour segmentation on BraTS 2020 under one training budget (Paper 2).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5488" y="3589528"/>
            <a:ext cx="3544824" cy="156870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60080" y="3754119"/>
            <a:ext cx="3215640" cy="1239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F3A68"/>
                </a:solidFill>
                <a:latin typeface="Calibri"/>
              </a:rPr>
              <a:t>3. Deploy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E2430"/>
                </a:solidFill>
                <a:latin typeface="Calibri"/>
              </a:rPr>
              <a:t>Serve the most efficient models, EfficientNetB0 and VNet, in a secure web application with a linked multi-planar and 3D viewer and PDF and CSV reports.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386832"/>
            <a:ext cx="11091672" cy="404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5B6472"/>
                </a:solidFill>
                <a:latin typeface="Calibri"/>
              </a:rPr>
              <a:t>Motivation.</a:t>
            </a:r>
            <a:r>
              <a:rPr sz="1100" b="0" i="0">
                <a:solidFill>
                  <a:srgbClr val="5B6472"/>
                </a:solidFill>
                <a:latin typeface="Calibri"/>
              </a:rPr>
              <a:t> MRI is the main non-invasive modality for characterising brain tumours [3], which are classified by cell of origin and molecular features [4]. Manual reading is slow and varies between and within readers [5], and reliable automation can support faster, more consistent assessment [6, 7].</a:t>
            </a:r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11091672" cy="621792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/>
          <a:p>
            <a:pPr algn="l"/>
            <a:r>
              <a:rPr sz="2800" b="1">
                <a:solidFill>
                  <a:srgbClr val="1E2430"/>
                </a:solidFill>
                <a:latin typeface="Times New Roman"/>
              </a:rPr>
              <a:t>Abstract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000">
                <a:solidFill>
                  <a:srgbClr val="8A929C"/>
                </a:solidFill>
                <a:latin typeface="Calibri"/>
                <a:cs typeface="Calibri"/>
              </a:rPr>
              <a:t>28/10/26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000">
                <a:solidFill>
                  <a:srgbClr val="8A929C"/>
                </a:solidFill>
                <a:latin typeface="Calibri"/>
                <a:cs typeface="Calibri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 sz="1000">
                <a:solidFill>
                  <a:srgbClr val="8A929C"/>
                </a:solidFill>
                <a:latin typeface="Calibri"/>
                <a:cs typeface="Calibri"/>
              </a:rPr>
              <a:t>4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91672" cy="43484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E2430"/>
                </a:solidFill>
                <a:latin typeface="Calibri"/>
              </a:rPr>
              <a:t>Problem.</a:t>
            </a:r>
            <a:r>
              <a:rPr sz="1200" b="0" i="0">
                <a:solidFill>
                  <a:srgbClr val="1E2430"/>
                </a:solidFill>
                <a:latin typeface="Calibri"/>
              </a:rPr>
              <a:t> Published brain tumour MRI results cannot be compared directly: studies differ in data, splits, training budgets and metrics, and near-duplicate images leak between training and test partitions [8, 9].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97888"/>
            <a:ext cx="5431536" cy="298399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062480"/>
            <a:ext cx="51023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3A68"/>
                </a:solidFill>
                <a:latin typeface="Calibri"/>
              </a:rPr>
              <a:t>Paper 1: 2D detection and subtype classification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336800"/>
            <a:ext cx="5102352" cy="1432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82880" indent="-182880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200" b="0" i="0">
                <a:solidFill>
                  <a:srgbClr val="1E2430"/>
                </a:solidFill>
                <a:latin typeface="Calibri"/>
              </a:rPr>
              <a:t>Nine backbones (six CNNs, two transformers, one hybrid), one code path and an equal number of optimiser steps</a:t>
            </a:r>
          </a:p>
          <a:p>
            <a:pPr algn="l" marL="182880" indent="-182880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200" b="0" i="0">
                <a:solidFill>
                  <a:srgbClr val="1E2430"/>
                </a:solidFill>
                <a:latin typeface="Calibri"/>
              </a:rPr>
              <a:t>Label-aware perceptual-hash deduplication: 3,253 to 1,185 detection images and 5,828 to 4,730 subtype images; group-aware five-fold split with a held-out test set</a:t>
            </a:r>
          </a:p>
          <a:p>
            <a:pPr algn="l" marL="182880" indent="-182880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200" b="0" i="0">
                <a:solidFill>
                  <a:srgbClr val="1E2430"/>
                </a:solidFill>
                <a:latin typeface="Calibri"/>
              </a:rPr>
              <a:t>Fold ensembles, bootstrap 95% CIs, exact McNemar tests with Holm correction, calibration, Grad-CAM and background-only shortcut audits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879088"/>
            <a:ext cx="132588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1F3A68"/>
                </a:solidFill>
                <a:latin typeface="Calibri"/>
              </a:rPr>
              <a:t>99.42%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30552" y="3879088"/>
            <a:ext cx="3685032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1E2430"/>
                </a:solidFill>
                <a:latin typeface="Calibri"/>
              </a:rPr>
              <a:t>detection accuracy of CoAtNet-0, EfficientNetB0 and ViT‑B/16 on 171 test images (95% CI 98.25 to 100%); no pair of models differs significantly; background-only models beat the majority-class rate for 7 of 9 detection and 9 of 9 subtype backbones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1897888"/>
            <a:ext cx="5431536" cy="298399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2062480"/>
            <a:ext cx="51023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3A68"/>
                </a:solidFill>
                <a:latin typeface="Calibri"/>
              </a:rPr>
              <a:t>Paper 2: 3D segmentation on BraTS 2020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336800"/>
            <a:ext cx="5102352" cy="1432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82880" indent="-182880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200" b="0" i="0">
                <a:solidFill>
                  <a:srgbClr val="1E2430"/>
                </a:solidFill>
                <a:latin typeface="Calibri"/>
              </a:rPr>
              <a:t>Six networks implemented from scratch: UNet, nnU-Net-style, VNet, UNETR, Swin UNETR and TransBTS</a:t>
            </a:r>
          </a:p>
          <a:p>
            <a:pPr algn="l" marL="182880" indent="-182880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200" b="0" i="0">
                <a:solidFill>
                  <a:srgbClr val="1E2430"/>
                </a:solidFill>
                <a:latin typeface="Calibri"/>
              </a:rPr>
              <a:t>369 cases in a grade-stratified 257 / 56 / 56 split; 50 epochs and 3,250 optimiser steps per model</a:t>
            </a:r>
          </a:p>
          <a:p>
            <a:pPr algn="l" marL="182880" indent="-182880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200" b="0" i="0">
                <a:solidFill>
                  <a:srgbClr val="1E2430"/>
                </a:solidFill>
                <a:latin typeface="Calibri"/>
              </a:rPr>
              <a:t>Native-resolution evaluation with eight-flip test-time augmentation, bootstrap CIs, Wilcoxon tests with Holm correction and results by tumour grade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3879088"/>
            <a:ext cx="1325880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1F3A68"/>
                </a:solidFill>
                <a:latin typeface="Calibri"/>
              </a:rPr>
              <a:t>0.8199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0688" y="3879088"/>
            <a:ext cx="3685032" cy="838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1E2430"/>
                </a:solidFill>
                <a:latin typeface="Calibri"/>
              </a:rPr>
              <a:t>mean Dice of UNet (95% CI 0.7826 to 0.8533); VNet 0.7965 with 1.40 M parameters; transformer-based models 0.7056 to 0.7462; every pairwise difference significant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10480"/>
            <a:ext cx="11091672" cy="2519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1E2430"/>
                </a:solidFill>
                <a:latin typeface="Calibri"/>
              </a:rPr>
              <a:t>Deployment.</a:t>
            </a:r>
            <a:r>
              <a:rPr sz="1200" b="0" i="0">
                <a:solidFill>
                  <a:srgbClr val="1E2430"/>
                </a:solidFill>
                <a:latin typeface="Calibri"/>
              </a:rPr>
              <a:t> EfficientNetB0 (detection and classification) and VNet (segmentation) run in a FastAPI and React application; 61 backend and 39 frontend automated tests pass.</a:t>
            </a:r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11091672" cy="621792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/>
          <a:p>
            <a:pPr algn="l"/>
            <a:r>
              <a:rPr sz="2800" b="1">
                <a:solidFill>
                  <a:srgbClr val="1E2430"/>
                </a:solidFill>
                <a:latin typeface="Times New Roman"/>
              </a:rPr>
              <a:t>Literature Review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000">
                <a:solidFill>
                  <a:srgbClr val="8A929C"/>
                </a:solidFill>
                <a:latin typeface="Calibri"/>
                <a:cs typeface="Calibri"/>
              </a:rPr>
              <a:t>28/10/26</a:t>
            </a:r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000">
                <a:solidFill>
                  <a:srgbClr val="8A929C"/>
                </a:solidFill>
                <a:latin typeface="Calibri"/>
                <a:cs typeface="Calibri"/>
              </a:rPr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 sz="1000">
                <a:solidFill>
                  <a:srgbClr val="8A929C"/>
                </a:solidFill>
                <a:latin typeface="Calibri"/>
                <a:cs typeface="Calibri"/>
              </a:rPr>
              <a:t>5</a:t>
            </a:fld>
            <a:endParaRPr lang="en-IN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234440"/>
          <a:ext cx="11091672" cy="471830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31720"/>
                <a:gridCol w="2011680"/>
                <a:gridCol w="3063240"/>
                <a:gridCol w="1417320"/>
                <a:gridCol w="2267712"/>
              </a:tblGrid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Study</a:t>
                      </a:r>
                    </a:p>
                  </a:txBody>
                  <a:tcPr marL="64008" marR="64008" marT="27432" marB="27432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Task and data</a:t>
                      </a:r>
                    </a:p>
                  </a:txBody>
                  <a:tcPr marL="64008" marR="64008" marT="27432" marB="27432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64008" marR="64008" marT="27432" marB="27432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Reported result</a:t>
                      </a:r>
                    </a:p>
                  </a:txBody>
                  <a:tcPr marL="64008" marR="64008" marT="27432" marB="27432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Limitation addressed here</a:t>
                      </a:r>
                    </a:p>
                  </a:txBody>
                  <a:tcPr marL="64008" marR="64008" marT="27432" marB="27432" anchor="ctr">
                    <a:solidFill>
                      <a:srgbClr val="1F3A68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Zacharaki et al., 2009 [10]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Glioma vs metastasis, glioma grade; 102 tumours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Shape, intensity and texture features; SVM with feature elimination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85% and 88% (leave-one-out)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Hand-crafted features transfer poorly [11, 12]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Cheng et al., 2015 [13]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Three-class subtype; 3,064 T1CE slices, 233 patients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Augmented tumour ROI, ring partition; intensity, GLCM, bag-of-words + SVM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Up to 91.28%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Needs a tumour ROI; features redesigned per task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Seetha and Raja, 2018 [14]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Tumour vs non-tumour; Radiopaedia, BRATS 2015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ImageNet-pretrained CNN, last layer trained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97.5% (training)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No held-out estimate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Talo et al., 2019 [15]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Normal vs abnormal; 613 MR images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ResNet34 transfer learning [16, 17]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100% (five-fold)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One small collection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Deepak and Ameer, 2019 [18]; Ghassemi et al., 2020 [19]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Three-class subtype; figshare 3,064 slices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GoogLeNet features + classifiers; CNN pretrained as a GAN discriminator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98% mean (Deepak)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One architecture each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Rehman et al., 2020 [20]; Noreen et al., 2020 [21]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Three-class subtype; figshare 3,064 slices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Fine-tuned VGG16 [22]; Inception-v3 [23] and DenseNet201 [24] features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98.69%; 99.34% and 99.51%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No deduplication, CIs or tests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Khan et al., 2020 [25]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Tumour classification; BraTS 2015, 2017, 2018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VGG16 and VGG19 features, ELM-based selection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97.8%, 96.9%, 92.5%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Multi-stage tuned pipeline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Tummala et al., 2022 [26]; Asiri et al., 2024 [27]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Three-class (3,064); four-class (2,870)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ViT ensemble [28]; Swin Transformer [29]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98.7%; 97%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No CNN baseline under one protocol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3D CNNs [30–33]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3D medical segmentation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U-Net, 3D U-Net, V-Net, self-configuring nnU-Net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Strong CNN baselines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Compared under different pipelines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3D transformers [34–37]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3D brain tumour segmentation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UNETR, Swin UNETR, TransBTS, TransUNet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Long-range context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Data-hungry from scratch [38]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Kapoor and Narayanan, 2023 [8]; Fateh et al., 2026 [39]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Reliability of ML results; BRISC curation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Leakage audit across 17 fields; duplicates removed before splitting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Leakage inflates scores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1E2430"/>
                          </a:solidFill>
                          <a:latin typeface="Calibri"/>
                        </a:rPr>
                        <a:t>No architecture benchmark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11091672" cy="621792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/>
          <a:p>
            <a:pPr algn="l"/>
            <a:r>
              <a:rPr sz="2800" b="1">
                <a:solidFill>
                  <a:srgbClr val="1E2430"/>
                </a:solidFill>
                <a:latin typeface="Times New Roman"/>
              </a:rPr>
              <a:t>Research Gap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000">
                <a:solidFill>
                  <a:srgbClr val="8A929C"/>
                </a:solidFill>
                <a:latin typeface="Calibri"/>
                <a:cs typeface="Calibri"/>
              </a:rPr>
              <a:t>28/10/26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000">
                <a:solidFill>
                  <a:srgbClr val="8A929C"/>
                </a:solidFill>
                <a:latin typeface="Calibri"/>
                <a:cs typeface="Calibri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 sz="1000">
                <a:solidFill>
                  <a:srgbClr val="8A929C"/>
                </a:solidFill>
                <a:latin typeface="Calibri"/>
                <a:cs typeface="Calibri"/>
              </a:rPr>
              <a:t>6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960120" y="1234440"/>
            <a:ext cx="5349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3A68"/>
                </a:solidFill>
                <a:latin typeface="Calibri"/>
              </a:rPr>
              <a:t>Gap in the literature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234440"/>
            <a:ext cx="496519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3A68"/>
                </a:solidFill>
                <a:latin typeface="Calibri"/>
              </a:rPr>
              <a:t>How this project addresses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18488"/>
            <a:ext cx="365760" cy="694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F3A68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1618488"/>
            <a:ext cx="5349240" cy="69494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24712" y="1618488"/>
            <a:ext cx="5020055" cy="694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E2430"/>
                </a:solidFill>
                <a:latin typeface="Calibri"/>
              </a:rPr>
              <a:t>No controlled comparison.</a:t>
            </a:r>
            <a:r>
              <a:rPr sz="1100" b="0" i="0">
                <a:solidFill>
                  <a:srgbClr val="1E2430"/>
                </a:solidFill>
                <a:latin typeface="Calibri"/>
              </a:rPr>
              <a:t> Most studies test two or three models with their own data, splits and budgets [40, 41].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355080" y="1965960"/>
            <a:ext cx="274320" cy="0"/>
          </a:xfrm>
          <a:prstGeom prst="line">
            <a:avLst/>
          </a:prstGeom>
          <a:ln w="15875">
            <a:solidFill>
              <a:srgbClr val="A7AF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675120" y="1618488"/>
            <a:ext cx="4965192" cy="694944"/>
          </a:xfrm>
          <a:prstGeom prst="rect">
            <a:avLst/>
          </a:prstGeom>
          <a:solidFill>
            <a:srgbClr val="E6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9712" y="1618488"/>
            <a:ext cx="4636008" cy="694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1E2430"/>
                </a:solidFill>
                <a:latin typeface="Calibri"/>
              </a:rPr>
              <a:t>Nine backbones and six 3D networks, one code path, identical splits, equal optimiser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404872"/>
            <a:ext cx="365760" cy="694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F3A68"/>
                </a:solidFill>
                <a:latin typeface="Calibri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2404872"/>
            <a:ext cx="5349240" cy="69494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4712" y="2404872"/>
            <a:ext cx="5020055" cy="694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E2430"/>
                </a:solidFill>
                <a:latin typeface="Calibri"/>
              </a:rPr>
              <a:t>Data leakage.</a:t>
            </a:r>
            <a:r>
              <a:rPr sz="1100" b="0" i="0">
                <a:solidFill>
                  <a:srgbClr val="1E2430"/>
                </a:solidFill>
                <a:latin typeface="Calibri"/>
              </a:rPr>
              <a:t> Combined public collections hold exact and near-duplicate images that are rarely removed before splitting [8, 9, 39].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355080" y="2752344"/>
            <a:ext cx="274320" cy="0"/>
          </a:xfrm>
          <a:prstGeom prst="line">
            <a:avLst/>
          </a:prstGeom>
          <a:ln w="15875">
            <a:solidFill>
              <a:srgbClr val="A7AF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6675120" y="2404872"/>
            <a:ext cx="4965192" cy="694944"/>
          </a:xfrm>
          <a:prstGeom prst="rect">
            <a:avLst/>
          </a:prstGeom>
          <a:solidFill>
            <a:srgbClr val="E6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9712" y="2404872"/>
            <a:ext cx="4636008" cy="694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1E2430"/>
                </a:solidFill>
                <a:latin typeface="Calibri"/>
              </a:rPr>
              <a:t>Label-aware perceptual-hash deduplication, similarity groups, group-aware split and a leakage audit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191256"/>
            <a:ext cx="365760" cy="694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F3A68"/>
                </a:solidFill>
                <a:latin typeface="Calibri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3191256"/>
            <a:ext cx="5349240" cy="69494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4712" y="3191256"/>
            <a:ext cx="5020055" cy="694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E2430"/>
                </a:solidFill>
                <a:latin typeface="Calibri"/>
              </a:rPr>
              <a:t>Single-run leaderboards.</a:t>
            </a:r>
            <a:r>
              <a:rPr sz="1100" b="0" i="0">
                <a:solidFill>
                  <a:srgbClr val="1E2430"/>
                </a:solidFill>
                <a:latin typeface="Calibri"/>
              </a:rPr>
              <a:t> Results are quoted from one run, without confidence intervals, tests, per-class metrics or calibration.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355080" y="3538728"/>
            <a:ext cx="274320" cy="0"/>
          </a:xfrm>
          <a:prstGeom prst="line">
            <a:avLst/>
          </a:prstGeom>
          <a:ln w="15875">
            <a:solidFill>
              <a:srgbClr val="A7AF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675120" y="3191256"/>
            <a:ext cx="4965192" cy="694944"/>
          </a:xfrm>
          <a:prstGeom prst="rect">
            <a:avLst/>
          </a:prstGeom>
          <a:solidFill>
            <a:srgbClr val="E6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9712" y="3191256"/>
            <a:ext cx="4636008" cy="694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1E2430"/>
                </a:solidFill>
                <a:latin typeface="Calibri"/>
              </a:rPr>
              <a:t>Five-fold CV, fold ensembles, bootstrap CIs, McNemar and Wilcoxon tests with Holm correction, ECE, per-grade 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977639"/>
            <a:ext cx="365760" cy="694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F3A68"/>
                </a:solidFill>
                <a:latin typeface="Calibri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" y="3977639"/>
            <a:ext cx="5349240" cy="69494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24712" y="3977639"/>
            <a:ext cx="5020055" cy="694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E2430"/>
                </a:solidFill>
                <a:latin typeface="Calibri"/>
              </a:rPr>
              <a:t>Shortcuts unchecked.</a:t>
            </a:r>
            <a:r>
              <a:rPr sz="1100" b="0" i="0">
                <a:solidFill>
                  <a:srgbClr val="1E2430"/>
                </a:solidFill>
                <a:latin typeface="Calibri"/>
              </a:rPr>
              <a:t> Models can exploit borders, hospital markers or scanner cues instead of pathology [42–44].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355080" y="4325112"/>
            <a:ext cx="274320" cy="0"/>
          </a:xfrm>
          <a:prstGeom prst="line">
            <a:avLst/>
          </a:prstGeom>
          <a:ln w="15875">
            <a:solidFill>
              <a:srgbClr val="A7AF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675120" y="3977639"/>
            <a:ext cx="4965192" cy="694944"/>
          </a:xfrm>
          <a:prstGeom prst="rect">
            <a:avLst/>
          </a:prstGeom>
          <a:solidFill>
            <a:srgbClr val="E6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39712" y="3977639"/>
            <a:ext cx="4636008" cy="694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1E2430"/>
                </a:solidFill>
                <a:latin typeface="Calibri"/>
              </a:rPr>
              <a:t>Grad-CAM, occlusion, head and background masking, and background-only retraining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764024"/>
            <a:ext cx="365760" cy="694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F3A68"/>
                </a:solidFill>
                <a:latin typeface="Calibri"/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120" y="4764024"/>
            <a:ext cx="5349240" cy="69494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24712" y="4764024"/>
            <a:ext cx="5020055" cy="694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E2430"/>
                </a:solidFill>
                <a:latin typeface="Calibri"/>
              </a:rPr>
              <a:t>Transformer cost in 3D.</a:t>
            </a:r>
            <a:r>
              <a:rPr sz="1100" b="0" i="0">
                <a:solidFill>
                  <a:srgbClr val="1E2430"/>
                </a:solidFill>
                <a:latin typeface="Calibri"/>
              </a:rPr>
              <a:t> Transformers need large data, distillation or modified attention [38, 45, 46], and their cost is rarely reported.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355080" y="5111496"/>
            <a:ext cx="274320" cy="0"/>
          </a:xfrm>
          <a:prstGeom prst="line">
            <a:avLst/>
          </a:prstGeom>
          <a:ln w="15875">
            <a:solidFill>
              <a:srgbClr val="A7AF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6675120" y="4764024"/>
            <a:ext cx="4965192" cy="694944"/>
          </a:xfrm>
          <a:prstGeom prst="rect">
            <a:avLst/>
          </a:prstGeom>
          <a:solidFill>
            <a:srgbClr val="E6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39712" y="4764024"/>
            <a:ext cx="4636008" cy="694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1E2430"/>
                </a:solidFill>
                <a:latin typeface="Calibri"/>
              </a:rPr>
              <a:t>Parameters, GFLOPs, latency, training time and memory measured for every model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550408"/>
            <a:ext cx="365760" cy="694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F3A68"/>
                </a:solidFill>
                <a:latin typeface="Calibri"/>
              </a:rPr>
              <a:t>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0120" y="5550408"/>
            <a:ext cx="5349240" cy="69494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24712" y="5550408"/>
            <a:ext cx="5020055" cy="694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E2430"/>
                </a:solidFill>
                <a:latin typeface="Calibri"/>
              </a:rPr>
              <a:t>No path to use.</a:t>
            </a:r>
            <a:r>
              <a:rPr sz="1100" b="0" i="0">
                <a:solidFill>
                  <a:srgbClr val="1E2430"/>
                </a:solidFill>
                <a:latin typeface="Calibri"/>
              </a:rPr>
              <a:t> Benchmarked models are rarely turned into tools that accept MRI volumes and protect patient data.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355080" y="5897880"/>
            <a:ext cx="274320" cy="0"/>
          </a:xfrm>
          <a:prstGeom prst="line">
            <a:avLst/>
          </a:prstGeom>
          <a:ln w="15875">
            <a:solidFill>
              <a:srgbClr val="A7AF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6675120" y="5550408"/>
            <a:ext cx="4965192" cy="694944"/>
          </a:xfrm>
          <a:prstGeom prst="rect">
            <a:avLst/>
          </a:prstGeom>
          <a:solidFill>
            <a:srgbClr val="E6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39712" y="5550408"/>
            <a:ext cx="4636008" cy="6949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1E2430"/>
                </a:solidFill>
                <a:latin typeface="Calibri"/>
              </a:rPr>
              <a:t>A secure web application with a multi-planar and 3D viewer and reports</a:t>
            </a:r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11091672" cy="621792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/>
          <a:p>
            <a:pPr algn="l"/>
            <a:r>
              <a:rPr sz="2800" b="1">
                <a:solidFill>
                  <a:srgbClr val="1E2430"/>
                </a:solidFill>
                <a:latin typeface="Times New Roman"/>
              </a:rPr>
              <a:t>Objectives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000">
                <a:solidFill>
                  <a:srgbClr val="8A929C"/>
                </a:solidFill>
                <a:latin typeface="Calibri"/>
                <a:cs typeface="Calibri"/>
              </a:rPr>
              <a:t>28/10/26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z="1000">
                <a:solidFill>
                  <a:srgbClr val="8A929C"/>
                </a:solidFill>
                <a:latin typeface="Calibri"/>
                <a:cs typeface="Calibri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 sz="1000">
                <a:solidFill>
                  <a:srgbClr val="8A929C"/>
                </a:solidFill>
                <a:latin typeface="Calibri"/>
                <a:cs typeface="Calibri"/>
              </a:rPr>
              <a:t>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3 The UN 17 Sustainable Development Goals (SDGs), implemented by all... | Download Scientific Diagram">
            <a:extLst>
              <a:ext uri="{FF2B5EF4-FFF2-40B4-BE49-F238E27FC236}">
                <a16:creationId xmlns:a16="http://schemas.microsoft.com/office/drawing/2014/main" xmlns="" id="{36180A9B-AA72-E2D6-8362-4CDF7058D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618488"/>
            <a:ext cx="2377440" cy="1905763"/>
          </a:xfrm>
          <a:prstGeom prst="rect">
            <a:avLst/>
          </a:prstGeom>
        </p:spPr>
      </p:pic>
      <p:pic>
        <p:nvPicPr>
          <p:cNvPr id="9" name="Picture 8" descr="What are Technology Readiness Levels (TRL)? - TWI">
            <a:extLst>
              <a:ext uri="{FF2B5EF4-FFF2-40B4-BE49-F238E27FC236}">
                <a16:creationId xmlns:a16="http://schemas.microsoft.com/office/drawing/2014/main" xmlns="" id="{D1491C9C-07B3-89C3-5FA0-72C9F44F3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1508760"/>
            <a:ext cx="2240280" cy="20440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119786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F3A6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234440"/>
            <a:ext cx="5623559" cy="441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E2430"/>
                </a:solidFill>
                <a:latin typeface="Calibri"/>
              </a:rPr>
              <a:t>Benchmark nine 2D backbones for tumour detection and subtype classification with identical splits and an equal number of optimiser steps.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0558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F3A68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042160"/>
            <a:ext cx="5623559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E2430"/>
                </a:solidFill>
                <a:latin typeface="Calibri"/>
              </a:rPr>
              <a:t>Remove leakage before splitting through label-aware perceptual-hash deduplication, similarity grouping and a group-aware split, verified by a leakage audit.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11423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F3A68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047999"/>
            <a:ext cx="5623559" cy="441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E2430"/>
                </a:solidFill>
                <a:latin typeface="Calibri"/>
              </a:rPr>
              <a:t>Evaluate with five-fold cross-validation, fold ensembles, bootstrap CIs, Holm-corrected McNemar tests, calibration, efficiency and shortcut audits.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8191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F3A68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855720"/>
            <a:ext cx="5623559" cy="441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E2430"/>
                </a:solidFill>
                <a:latin typeface="Calibri"/>
              </a:rPr>
              <a:t>Implement six 3D segmentation networks from scratch and compare them on BraTS 2020 per case, region, tumour grade and computational cost.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62686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F3A68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663440"/>
            <a:ext cx="5623559" cy="441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1E2430"/>
                </a:solidFill>
                <a:latin typeface="Calibri"/>
              </a:rPr>
              <a:t>Deploy the most efficient models in a secure, tested web application with a multi-planar and 3D viewer and reports.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1234440"/>
            <a:ext cx="469087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3A68"/>
                </a:solidFill>
                <a:latin typeface="Calibri"/>
              </a:rPr>
              <a:t>Sustainable Development Goals and Technology Readiness Level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02321" y="1618488"/>
            <a:ext cx="471676" cy="466912"/>
          </a:xfrm>
          <a:prstGeom prst="rect">
            <a:avLst/>
          </a:prstGeom>
          <a:noFill/>
          <a:ln w="2857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78762" y="2090164"/>
            <a:ext cx="471676" cy="466912"/>
          </a:xfrm>
          <a:prstGeom prst="rect">
            <a:avLst/>
          </a:prstGeom>
          <a:noFill/>
          <a:ln w="2857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94826" y="2676769"/>
            <a:ext cx="1819030" cy="177116"/>
          </a:xfrm>
          <a:prstGeom prst="rect">
            <a:avLst/>
          </a:prstGeom>
          <a:noFill/>
          <a:ln w="28575">
            <a:solidFill>
              <a:srgbClr val="1F3A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49440" y="3767328"/>
            <a:ext cx="4690872" cy="157886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14031" y="3931920"/>
            <a:ext cx="4361688" cy="1249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82880" indent="-182880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200" b="1" i="0">
                <a:solidFill>
                  <a:srgbClr val="1E2430"/>
                </a:solidFill>
                <a:latin typeface="Calibri"/>
              </a:rPr>
              <a:t>SDG 3:</a:t>
            </a:r>
            <a:r>
              <a:rPr sz="1200" b="0" i="0">
                <a:solidFill>
                  <a:srgbClr val="1E2430"/>
                </a:solidFill>
                <a:latin typeface="Calibri"/>
              </a:rPr>
              <a:t> Good Health and Well-being; </a:t>
            </a:r>
            <a:r>
              <a:rPr sz="1200" b="1" i="0">
                <a:solidFill>
                  <a:srgbClr val="1E2430"/>
                </a:solidFill>
                <a:latin typeface="Calibri"/>
              </a:rPr>
              <a:t>SDG 9:</a:t>
            </a:r>
            <a:r>
              <a:rPr sz="1200" b="0" i="0">
                <a:solidFill>
                  <a:srgbClr val="1E2430"/>
                </a:solidFill>
                <a:latin typeface="Calibri"/>
              </a:rPr>
              <a:t> Industry, Innovation and Infrastructure</a:t>
            </a:r>
          </a:p>
          <a:p>
            <a:pPr algn="l" marL="182880" indent="-182880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200" b="1" i="0">
                <a:solidFill>
                  <a:srgbClr val="1E2430"/>
                </a:solidFill>
                <a:latin typeface="Calibri"/>
              </a:rPr>
              <a:t>TRL 4:</a:t>
            </a:r>
            <a:r>
              <a:rPr sz="1200" b="0" i="0">
                <a:solidFill>
                  <a:srgbClr val="1E2430"/>
                </a:solidFill>
                <a:latin typeface="Calibri"/>
              </a:rPr>
              <a:t> technology validated in the laboratory</a:t>
            </a:r>
          </a:p>
          <a:p>
            <a:pPr algn="l" marL="182880" indent="-182880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200" b="1" i="0">
                <a:solidFill>
                  <a:srgbClr val="1E2430"/>
                </a:solidFill>
                <a:latin typeface="Calibri"/>
              </a:rPr>
              <a:t>Outcomes:</a:t>
            </a:r>
            <a:r>
              <a:rPr sz="1200" b="0" i="0">
                <a:solidFill>
                  <a:srgbClr val="1E2430"/>
                </a:solidFill>
                <a:latin typeface="Calibri"/>
              </a:rPr>
              <a:t> two journal manuscripts (Scopus) prepared for </a:t>
            </a:r>
            <a:r>
              <a:rPr sz="1200" b="0" i="1">
                <a:solidFill>
                  <a:srgbClr val="1E2430"/>
                </a:solidFill>
                <a:latin typeface="Calibri"/>
              </a:rPr>
              <a:t>Engineering Applications of Artificial Intelligence</a:t>
            </a:r>
            <a:r>
              <a:rPr sz="1200" b="0" i="0">
                <a:solidFill>
                  <a:srgbClr val="1E2430"/>
                </a:solidFill>
                <a:latin typeface="Calibri"/>
              </a:rPr>
              <a:t> (Elsevier); an open-source web application</a:t>
            </a:r>
          </a:p>
        </p:txBody>
      </p:sp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5DE9EA00-8D77-8DC9-1AE3-8B6FD1AF6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11091672" cy="621792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/>
          <a:p>
            <a:pPr algn="l"/>
            <a:r>
              <a:rPr sz="2800" b="1">
                <a:solidFill>
                  <a:srgbClr val="1E2430"/>
                </a:solidFill>
                <a:latin typeface="Times New Roman"/>
              </a:rPr>
              <a:t>Framework/Architecture/Block Diagram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3B40592E-46EE-B4F2-7D01-D3568C2F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000">
                <a:solidFill>
                  <a:srgbClr val="8A929C"/>
                </a:solidFill>
                <a:latin typeface="Calibri"/>
                <a:cs typeface="Calibri"/>
              </a:rPr>
              <a:t>28/10/26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z="1000">
                <a:solidFill>
                  <a:srgbClr val="8A929C"/>
                </a:solidFill>
                <a:latin typeface="Calibri"/>
                <a:cs typeface="Calibri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 sz="1000">
                <a:solidFill>
                  <a:srgbClr val="8A929C"/>
                </a:solidFill>
                <a:latin typeface="Calibri"/>
                <a:cs typeface="Calibri"/>
              </a:rPr>
              <a:t>8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3A68"/>
                </a:solidFill>
                <a:latin typeface="Calibri"/>
              </a:rPr>
              <a:t>Research pipelines (Kaggle, two Tesla T4 GPUs)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1645920" cy="7315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3A68"/>
                </a:solidFill>
                <a:latin typeface="Calibri"/>
              </a:rPr>
              <a:t>2D MRI collections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1E2430"/>
                </a:solidFill>
                <a:latin typeface="Calibri"/>
              </a:rPr>
              <a:t>Br35H, Chakrabarty; Bhuvaji, Cheng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450592" y="1554480"/>
            <a:ext cx="1645920" cy="7315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3A68"/>
                </a:solidFill>
                <a:latin typeface="Calibri"/>
              </a:rPr>
              <a:t>Curation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1E2430"/>
                </a:solidFill>
                <a:latin typeface="Calibri"/>
              </a:rPr>
              <a:t>brain crop, perceptual-hash deduplication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21992" y="1920240"/>
            <a:ext cx="201168" cy="0"/>
          </a:xfrm>
          <a:prstGeom prst="line">
            <a:avLst/>
          </a:prstGeom>
          <a:ln w="15875">
            <a:solidFill>
              <a:srgbClr val="A7AF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352544" y="1554480"/>
            <a:ext cx="1645920" cy="7315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3A68"/>
                </a:solidFill>
                <a:latin typeface="Calibri"/>
              </a:rPr>
              <a:t>Group-aware split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1E2430"/>
                </a:solidFill>
                <a:latin typeface="Calibri"/>
              </a:rPr>
              <a:t>five folds, held-out test, leakage audit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23944" y="1920240"/>
            <a:ext cx="201168" cy="0"/>
          </a:xfrm>
          <a:prstGeom prst="line">
            <a:avLst/>
          </a:prstGeom>
          <a:ln w="15875">
            <a:solidFill>
              <a:srgbClr val="A7AF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254496" y="1554480"/>
            <a:ext cx="1645920" cy="7315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3A68"/>
                </a:solidFill>
                <a:latin typeface="Calibri"/>
              </a:rPr>
              <a:t>9 backbones × 5 folds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1E2430"/>
                </a:solidFill>
                <a:latin typeface="Calibri"/>
              </a:rPr>
              <a:t>two tasks, equal optimiser steps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25896" y="1920240"/>
            <a:ext cx="201168" cy="0"/>
          </a:xfrm>
          <a:prstGeom prst="line">
            <a:avLst/>
          </a:prstGeom>
          <a:ln w="15875">
            <a:solidFill>
              <a:srgbClr val="A7AF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8156448" y="1554480"/>
            <a:ext cx="1645920" cy="7315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3A68"/>
                </a:solidFill>
                <a:latin typeface="Calibri"/>
              </a:rPr>
              <a:t>Evaluation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1E2430"/>
                </a:solidFill>
                <a:latin typeface="Calibri"/>
              </a:rPr>
              <a:t>ensembles, CIs, McNemar, shortcut audit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927848" y="1920240"/>
            <a:ext cx="201168" cy="0"/>
          </a:xfrm>
          <a:prstGeom prst="line">
            <a:avLst/>
          </a:prstGeom>
          <a:ln w="15875">
            <a:solidFill>
              <a:srgbClr val="A7AF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48640" y="2423160"/>
            <a:ext cx="1645920" cy="7315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3A68"/>
                </a:solidFill>
                <a:latin typeface="Calibri"/>
              </a:rPr>
              <a:t>BraTS 2020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1E2430"/>
                </a:solidFill>
                <a:latin typeface="Calibri"/>
              </a:rPr>
              <a:t>369 cases, four sequences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50592" y="2423160"/>
            <a:ext cx="1645920" cy="7315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3A68"/>
                </a:solidFill>
                <a:latin typeface="Calibri"/>
              </a:rPr>
              <a:t>Preprocessing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1E2430"/>
                </a:solidFill>
                <a:latin typeface="Calibri"/>
              </a:rPr>
              <a:t>foreground z-score, 128³ resampling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221992" y="2788920"/>
            <a:ext cx="201168" cy="0"/>
          </a:xfrm>
          <a:prstGeom prst="line">
            <a:avLst/>
          </a:prstGeom>
          <a:ln w="15875">
            <a:solidFill>
              <a:srgbClr val="A7AF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352544" y="2423160"/>
            <a:ext cx="1645920" cy="7315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3A68"/>
                </a:solidFill>
                <a:latin typeface="Calibri"/>
              </a:rPr>
              <a:t>Stratified split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1E2430"/>
                </a:solidFill>
                <a:latin typeface="Calibri"/>
              </a:rPr>
              <a:t>257 / 56 / 56 by grade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23944" y="2788920"/>
            <a:ext cx="201168" cy="0"/>
          </a:xfrm>
          <a:prstGeom prst="line">
            <a:avLst/>
          </a:prstGeom>
          <a:ln w="15875">
            <a:solidFill>
              <a:srgbClr val="A7AF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254496" y="2423160"/>
            <a:ext cx="1645920" cy="7315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3A68"/>
                </a:solidFill>
                <a:latin typeface="Calibri"/>
              </a:rPr>
              <a:t>6 3D networks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1E2430"/>
                </a:solidFill>
                <a:latin typeface="Calibri"/>
              </a:rPr>
              <a:t>3,250 optimiser steps each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25896" y="2788920"/>
            <a:ext cx="201168" cy="0"/>
          </a:xfrm>
          <a:prstGeom prst="line">
            <a:avLst/>
          </a:prstGeom>
          <a:ln w="15875">
            <a:solidFill>
              <a:srgbClr val="A7AF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156448" y="2423160"/>
            <a:ext cx="1645920" cy="73152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3A68"/>
                </a:solidFill>
                <a:latin typeface="Calibri"/>
              </a:rPr>
              <a:t>Evaluation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1E2430"/>
                </a:solidFill>
                <a:latin typeface="Calibri"/>
              </a:rPr>
              <a:t>native grid, eight-flip TTA, Wilcoxon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927848" y="2788920"/>
            <a:ext cx="201168" cy="0"/>
          </a:xfrm>
          <a:prstGeom prst="line">
            <a:avLst/>
          </a:prstGeom>
          <a:ln w="15875">
            <a:solidFill>
              <a:srgbClr val="A7AF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0076688" y="1554480"/>
            <a:ext cx="1563623" cy="1600200"/>
          </a:xfrm>
          <a:prstGeom prst="rect">
            <a:avLst/>
          </a:prstGeom>
          <a:solidFill>
            <a:srgbClr val="E6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3A68"/>
                </a:solidFill>
                <a:latin typeface="Calibri"/>
              </a:rPr>
              <a:t>Checkpoints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1E2430"/>
                </a:solidFill>
                <a:latin typeface="Calibri"/>
              </a:rPr>
              <a:t>EfficientNetB0 for detection and classification; VNet for segmentation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829800" y="1920240"/>
            <a:ext cx="219456" cy="0"/>
          </a:xfrm>
          <a:prstGeom prst="line">
            <a:avLst/>
          </a:prstGeom>
          <a:ln w="15875">
            <a:solidFill>
              <a:srgbClr val="A7AF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829800" y="2788920"/>
            <a:ext cx="219456" cy="0"/>
          </a:xfrm>
          <a:prstGeom prst="line">
            <a:avLst/>
          </a:prstGeom>
          <a:ln w="15875">
            <a:solidFill>
              <a:srgbClr val="A7AF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8640" y="33832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3A68"/>
                </a:solidFill>
                <a:latin typeface="Calibri"/>
              </a:rPr>
              <a:t>NeuroScan AI application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749040"/>
            <a:ext cx="1828800" cy="8686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3A68"/>
                </a:solidFill>
                <a:latin typeface="Calibri"/>
              </a:rPr>
              <a:t>Browser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1E2430"/>
                </a:solidFill>
                <a:latin typeface="Calibri"/>
              </a:rPr>
              <a:t>React, vtk.js viewer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97480" y="3749040"/>
            <a:ext cx="1965960" cy="8686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3A68"/>
                </a:solidFill>
                <a:latin typeface="Calibri"/>
              </a:rPr>
              <a:t>Reverse proxy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1E2430"/>
                </a:solidFill>
                <a:latin typeface="Calibri"/>
              </a:rPr>
              <a:t>same origin, HttpOnly session cookie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983479" y="3749040"/>
            <a:ext cx="2148840" cy="8686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3A68"/>
                </a:solidFill>
                <a:latin typeface="Calibri"/>
              </a:rPr>
              <a:t>FastAPI backend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1E2430"/>
                </a:solidFill>
                <a:latin typeface="Calibri"/>
              </a:rPr>
              <a:t>23 routes: authentication, scans, slices, reports, health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52360" y="3749040"/>
            <a:ext cx="2011680" cy="8686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3A68"/>
                </a:solidFill>
                <a:latin typeface="Calibri"/>
              </a:rPr>
              <a:t>PipelineRunner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1E2430"/>
                </a:solidFill>
                <a:latin typeface="Calibri"/>
              </a:rPr>
              <a:t>one background worker; re-queues unfinished scans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404872" y="4183380"/>
            <a:ext cx="265176" cy="0"/>
          </a:xfrm>
          <a:prstGeom prst="line">
            <a:avLst/>
          </a:prstGeom>
          <a:ln w="15875">
            <a:solidFill>
              <a:srgbClr val="A7AF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690872" y="4183380"/>
            <a:ext cx="265175" cy="0"/>
          </a:xfrm>
          <a:prstGeom prst="line">
            <a:avLst/>
          </a:prstGeom>
          <a:ln w="15875">
            <a:solidFill>
              <a:srgbClr val="A7AF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159752" y="4183380"/>
            <a:ext cx="265176" cy="0"/>
          </a:xfrm>
          <a:prstGeom prst="line">
            <a:avLst/>
          </a:prstGeom>
          <a:ln w="15875">
            <a:solidFill>
              <a:srgbClr val="A7AF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9784080" y="3749040"/>
            <a:ext cx="1856232" cy="2423160"/>
          </a:xfrm>
          <a:prstGeom prst="rect">
            <a:avLst/>
          </a:prstGeom>
          <a:solidFill>
            <a:srgbClr val="E6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84080" y="3822192"/>
            <a:ext cx="185623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3A68"/>
                </a:solidFill>
                <a:latin typeface="Calibri"/>
              </a:rPr>
              <a:t>BrainProcessor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75519" y="4133088"/>
            <a:ext cx="1673352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 i="0">
                <a:solidFill>
                  <a:srgbClr val="1F3A68"/>
                </a:solidFill>
                <a:latin typeface="Calibri"/>
              </a:rPr>
              <a:t>Detection</a:t>
            </a:r>
          </a:p>
          <a:p>
            <a:pPr algn="ctr">
              <a:spcBef>
                <a:spcPts val="200"/>
              </a:spcBef>
            </a:pPr>
            <a:r>
              <a:rPr sz="900" b="0" i="0">
                <a:solidFill>
                  <a:srgbClr val="1E2430"/>
                </a:solidFill>
                <a:latin typeface="Calibri"/>
              </a:rPr>
              <a:t>EfficientNetB0 on the middle axial slice, 224² crop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75519" y="4800600"/>
            <a:ext cx="1673352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 i="0">
                <a:solidFill>
                  <a:srgbClr val="1F3A68"/>
                </a:solidFill>
                <a:latin typeface="Calibri"/>
              </a:rPr>
              <a:t>Classification</a:t>
            </a:r>
          </a:p>
          <a:p>
            <a:pPr algn="ctr">
              <a:spcBef>
                <a:spcPts val="200"/>
              </a:spcBef>
            </a:pPr>
            <a:r>
              <a:rPr sz="900" b="0" i="0">
                <a:solidFill>
                  <a:srgbClr val="1E2430"/>
                </a:solidFill>
                <a:latin typeface="Calibri"/>
              </a:rPr>
              <a:t>EfficientNetB0: glioma, meningioma, pituitary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875519" y="5468112"/>
            <a:ext cx="1673352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 i="0">
                <a:solidFill>
                  <a:srgbClr val="1F3A68"/>
                </a:solidFill>
                <a:latin typeface="Calibri"/>
              </a:rPr>
              <a:t>Segmentation</a:t>
            </a:r>
          </a:p>
          <a:p>
            <a:pPr algn="ctr">
              <a:spcBef>
                <a:spcPts val="200"/>
              </a:spcBef>
            </a:pPr>
            <a:r>
              <a:rPr sz="900" b="0" i="0">
                <a:solidFill>
                  <a:srgbClr val="1E2430"/>
                </a:solidFill>
                <a:latin typeface="Calibri"/>
              </a:rPr>
              <a:t>VNet on FLAIR, T1, T1CE, T2 at 128³: WT, TC, ET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491472" y="4183380"/>
            <a:ext cx="265176" cy="0"/>
          </a:xfrm>
          <a:prstGeom prst="line">
            <a:avLst/>
          </a:prstGeom>
          <a:ln w="15875">
            <a:solidFill>
              <a:srgbClr val="A7AF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881360" y="3182112"/>
            <a:ext cx="0" cy="539496"/>
          </a:xfrm>
          <a:prstGeom prst="line">
            <a:avLst/>
          </a:prstGeom>
          <a:ln w="15875">
            <a:solidFill>
              <a:srgbClr val="1F3A6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4983479" y="4937760"/>
            <a:ext cx="2148840" cy="8686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3A68"/>
                </a:solidFill>
                <a:latin typeface="Calibri"/>
              </a:rPr>
              <a:t>SQLite and Alembic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1E2430"/>
                </a:solidFill>
                <a:latin typeface="Calibri"/>
              </a:rPr>
              <a:t>users and scans; WAL mode; migrations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52360" y="4937760"/>
            <a:ext cx="2011680" cy="86868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3A68"/>
                </a:solidFill>
                <a:latin typeface="Calibri"/>
              </a:rPr>
              <a:t>Upload store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1E2430"/>
                </a:solidFill>
                <a:latin typeface="Calibri"/>
              </a:rPr>
              <a:t>per-scan volumes and segmentation mask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057900" y="4645152"/>
            <a:ext cx="0" cy="265176"/>
          </a:xfrm>
          <a:prstGeom prst="line">
            <a:avLst/>
          </a:prstGeom>
          <a:ln w="15875">
            <a:solidFill>
              <a:srgbClr val="A7AF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458200" y="4645152"/>
            <a:ext cx="0" cy="265176"/>
          </a:xfrm>
          <a:prstGeom prst="line">
            <a:avLst/>
          </a:prstGeom>
          <a:ln w="15875">
            <a:solidFill>
              <a:srgbClr val="A7AF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548640" y="4937760"/>
            <a:ext cx="4114800" cy="868680"/>
          </a:xfrm>
          <a:prstGeom prst="rect">
            <a:avLst/>
          </a:prstGeom>
          <a:solidFill>
            <a:srgbClr val="E6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3A68"/>
                </a:solidFill>
                <a:latin typeface="Calibri"/>
              </a:rPr>
              <a:t>Outputs to the user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1E2430"/>
                </a:solidFill>
                <a:latin typeface="Calibri"/>
              </a:rPr>
              <a:t>class probabilities, WT, TC and ET volumes, linked multi-planar and 3D views, PDF and CSV reports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4690872" y="5372100"/>
            <a:ext cx="265175" cy="0"/>
          </a:xfrm>
          <a:prstGeom prst="line">
            <a:avLst/>
          </a:prstGeom>
          <a:ln w="15875">
            <a:solidFill>
              <a:srgbClr val="A7AF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FE95AF1-B807-AC15-9C1A-B86677AF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11091672" cy="621792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/>
          <a:p>
            <a:pPr algn="l"/>
            <a:r>
              <a:rPr sz="2800" b="1">
                <a:solidFill>
                  <a:srgbClr val="1E2430"/>
                </a:solidFill>
                <a:latin typeface="Times New Roman"/>
              </a:rPr>
              <a:t>Functional Requirements and Modules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D4F25267-3005-EC45-A624-B78484DF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000">
                <a:solidFill>
                  <a:srgbClr val="8A929C"/>
                </a:solidFill>
                <a:latin typeface="Calibri"/>
                <a:cs typeface="Calibri"/>
              </a:rPr>
              <a:t>28/10/26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z="1000">
                <a:solidFill>
                  <a:srgbClr val="8A929C"/>
                </a:solidFill>
                <a:latin typeface="Calibri"/>
                <a:cs typeface="Calibri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 sz="1000">
                <a:solidFill>
                  <a:srgbClr val="8A929C"/>
                </a:solidFill>
                <a:latin typeface="Calibri"/>
                <a:cs typeface="Calibri"/>
              </a:rPr>
              <a:t>9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3A68"/>
                </a:solidFill>
                <a:latin typeface="Calibri"/>
              </a:rPr>
              <a:t>Functional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81912"/>
            <a:ext cx="3977639" cy="45902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82880" indent="-182880">
              <a:lnSpc>
                <a:spcPct val="100000"/>
              </a:lnSpc>
              <a:spcAft>
                <a:spcPts val="700"/>
              </a:spcAft>
              <a:buClr>
                <a:srgbClr val="1F3A68"/>
              </a:buClr>
              <a:buFont typeface="Arial"/>
              <a:buChar char="•"/>
            </a:pPr>
            <a:r>
              <a:rPr sz="1200" b="0" i="0">
                <a:solidFill>
                  <a:srgbClr val="1E2430"/>
                </a:solidFill>
                <a:latin typeface="Calibri"/>
              </a:rPr>
              <a:t>Register, sign in and out, change the password; optional TOTP two-factor authentication</a:t>
            </a:r>
          </a:p>
          <a:p>
            <a:pPr algn="l" marL="182880" indent="-182880">
              <a:lnSpc>
                <a:spcPct val="100000"/>
              </a:lnSpc>
              <a:spcAft>
                <a:spcPts val="700"/>
              </a:spcAft>
              <a:buClr>
                <a:srgbClr val="1F3A68"/>
              </a:buClr>
              <a:buFont typeface="Arial"/>
              <a:buChar char="•"/>
            </a:pPr>
            <a:r>
              <a:rPr sz="1200" b="0" i="0">
                <a:solidFill>
                  <a:srgbClr val="1E2430"/>
                </a:solidFill>
                <a:latin typeface="Calibri"/>
              </a:rPr>
              <a:t>Upload one to four NIfTI volumes (FLAIR, T1, T1CE, T2) per case; modality detected from the file name</a:t>
            </a:r>
          </a:p>
          <a:p>
            <a:pPr algn="l" marL="182880" indent="-182880">
              <a:lnSpc>
                <a:spcPct val="100000"/>
              </a:lnSpc>
              <a:spcAft>
                <a:spcPts val="700"/>
              </a:spcAft>
              <a:buClr>
                <a:srgbClr val="1F3A68"/>
              </a:buClr>
              <a:buFont typeface="Arial"/>
              <a:buChar char="•"/>
            </a:pPr>
            <a:r>
              <a:rPr sz="1200" b="0" i="0">
                <a:solidFill>
                  <a:srgbClr val="1E2430"/>
                </a:solidFill>
                <a:latin typeface="Calibri"/>
              </a:rPr>
              <a:t>Process each scan in the background with live status, step and progress; retry on failure</a:t>
            </a:r>
          </a:p>
          <a:p>
            <a:pPr algn="l" marL="182880" indent="-182880">
              <a:lnSpc>
                <a:spcPct val="100000"/>
              </a:lnSpc>
              <a:spcAft>
                <a:spcPts val="700"/>
              </a:spcAft>
              <a:buClr>
                <a:srgbClr val="1F3A68"/>
              </a:buClr>
              <a:buFont typeface="Arial"/>
              <a:buChar char="•"/>
            </a:pPr>
            <a:r>
              <a:rPr sz="1200" b="0" i="0">
                <a:solidFill>
                  <a:srgbClr val="1E2430"/>
                </a:solidFill>
                <a:latin typeface="Calibri"/>
              </a:rPr>
              <a:t>Detect a tumour, classify its type with class probabilities, and segment WT, TC and ET with volumes</a:t>
            </a:r>
          </a:p>
          <a:p>
            <a:pPr algn="l" marL="182880" indent="-182880">
              <a:lnSpc>
                <a:spcPct val="100000"/>
              </a:lnSpc>
              <a:spcAft>
                <a:spcPts val="700"/>
              </a:spcAft>
              <a:buClr>
                <a:srgbClr val="1F3A68"/>
              </a:buClr>
              <a:buFont typeface="Arial"/>
              <a:buChar char="•"/>
            </a:pPr>
            <a:r>
              <a:rPr sz="1200" b="0" i="0">
                <a:solidFill>
                  <a:srgbClr val="1E2430"/>
                </a:solidFill>
                <a:latin typeface="Calibri"/>
              </a:rPr>
              <a:t>View linked axial, coronal, sagittal and 3D panes with overlay, contrast, zoom and ruler</a:t>
            </a:r>
          </a:p>
          <a:p>
            <a:pPr algn="l" marL="182880" indent="-182880">
              <a:lnSpc>
                <a:spcPct val="100000"/>
              </a:lnSpc>
              <a:spcAft>
                <a:spcPts val="700"/>
              </a:spcAft>
              <a:buClr>
                <a:srgbClr val="1F3A68"/>
              </a:buClr>
              <a:buFont typeface="Arial"/>
              <a:buChar char="•"/>
            </a:pPr>
            <a:r>
              <a:rPr sz="1200" b="0" i="0">
                <a:solidFill>
                  <a:srgbClr val="1E2430"/>
                </a:solidFill>
                <a:latin typeface="Calibri"/>
              </a:rPr>
              <a:t>Search, rename and delete scans; dashboard with counts, recent scans and a volume chart</a:t>
            </a:r>
          </a:p>
          <a:p>
            <a:pPr algn="l" marL="182880" indent="-182880">
              <a:lnSpc>
                <a:spcPct val="100000"/>
              </a:lnSpc>
              <a:spcAft>
                <a:spcPts val="700"/>
              </a:spcAft>
              <a:buClr>
                <a:srgbClr val="1F3A68"/>
              </a:buClr>
              <a:buFont typeface="Arial"/>
              <a:buChar char="•"/>
            </a:pPr>
            <a:r>
              <a:rPr sz="1200" b="0" i="0">
                <a:solidFill>
                  <a:srgbClr val="1E2430"/>
                </a:solidFill>
                <a:latin typeface="Calibri"/>
              </a:rPr>
              <a:t>PDF and CSV report per scan; CSV export of all scans</a:t>
            </a:r>
          </a:p>
          <a:p>
            <a:pPr algn="l" marL="182880" indent="-182880">
              <a:lnSpc>
                <a:spcPct val="100000"/>
              </a:lnSpc>
              <a:spcAft>
                <a:spcPts val="700"/>
              </a:spcAft>
              <a:buClr>
                <a:srgbClr val="1F3A68"/>
              </a:buClr>
              <a:buFont typeface="Arial"/>
              <a:buChar char="•"/>
            </a:pPr>
            <a:r>
              <a:rPr sz="1200" b="0" i="0">
                <a:solidFill>
                  <a:srgbClr val="1E2430"/>
                </a:solidFill>
                <a:latin typeface="Calibri"/>
              </a:rPr>
              <a:t>Operator account recovery from the command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1234440"/>
            <a:ext cx="397763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3A68"/>
                </a:solidFill>
                <a:latin typeface="Calibri"/>
              </a:rPr>
              <a:t>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79" y="1581912"/>
            <a:ext cx="3977639" cy="45902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82880" indent="-182880">
              <a:lnSpc>
                <a:spcPct val="100000"/>
              </a:lnSpc>
              <a:spcAft>
                <a:spcPts val="700"/>
              </a:spcAft>
              <a:buClr>
                <a:srgbClr val="1F3A68"/>
              </a:buClr>
              <a:buFont typeface="Arial"/>
              <a:buChar char="•"/>
            </a:pPr>
            <a:r>
              <a:rPr sz="1200" b="1" i="0">
                <a:solidFill>
                  <a:srgbClr val="1E2430"/>
                </a:solidFill>
                <a:latin typeface="Calibri"/>
              </a:rPr>
              <a:t>Data curation:</a:t>
            </a:r>
            <a:r>
              <a:rPr sz="1200" b="0" i="0">
                <a:solidFill>
                  <a:srgbClr val="1E2430"/>
                </a:solidFill>
                <a:latin typeface="Calibri"/>
              </a:rPr>
              <a:t> brain crop, perceptual-hash deduplication, label-noise exclusion, group split</a:t>
            </a:r>
          </a:p>
          <a:p>
            <a:pPr algn="l" marL="182880" indent="-182880">
              <a:lnSpc>
                <a:spcPct val="100000"/>
              </a:lnSpc>
              <a:spcAft>
                <a:spcPts val="700"/>
              </a:spcAft>
              <a:buClr>
                <a:srgbClr val="1F3A68"/>
              </a:buClr>
              <a:buFont typeface="Arial"/>
              <a:buChar char="•"/>
            </a:pPr>
            <a:r>
              <a:rPr sz="1200" b="1" i="0">
                <a:solidFill>
                  <a:srgbClr val="1E2430"/>
                </a:solidFill>
                <a:latin typeface="Calibri"/>
              </a:rPr>
              <a:t>2D benchmark:</a:t>
            </a:r>
            <a:r>
              <a:rPr sz="1200" b="0" i="0">
                <a:solidFill>
                  <a:srgbClr val="1E2430"/>
                </a:solidFill>
                <a:latin typeface="Calibri"/>
              </a:rPr>
              <a:t> 9 backbones × 5 folds plus a background-only run; 54 runs per task</a:t>
            </a:r>
          </a:p>
          <a:p>
            <a:pPr algn="l" marL="182880" indent="-182880">
              <a:lnSpc>
                <a:spcPct val="100000"/>
              </a:lnSpc>
              <a:spcAft>
                <a:spcPts val="700"/>
              </a:spcAft>
              <a:buClr>
                <a:srgbClr val="1F3A68"/>
              </a:buClr>
              <a:buFont typeface="Arial"/>
              <a:buChar char="•"/>
            </a:pPr>
            <a:r>
              <a:rPr sz="1200" b="1" i="0">
                <a:solidFill>
                  <a:srgbClr val="1E2430"/>
                </a:solidFill>
                <a:latin typeface="Calibri"/>
              </a:rPr>
              <a:t>3D benchmark:</a:t>
            </a:r>
            <a:r>
              <a:rPr sz="1200" b="0" i="0">
                <a:solidFill>
                  <a:srgbClr val="1E2430"/>
                </a:solidFill>
                <a:latin typeface="Calibri"/>
              </a:rPr>
              <a:t> six networks, 3,250 steps each, eight-flip TTA, Dice, HD95, Wilcoxon</a:t>
            </a:r>
          </a:p>
          <a:p>
            <a:pPr algn="l" marL="182880" indent="-182880">
              <a:lnSpc>
                <a:spcPct val="100000"/>
              </a:lnSpc>
              <a:spcAft>
                <a:spcPts val="700"/>
              </a:spcAft>
              <a:buClr>
                <a:srgbClr val="1F3A68"/>
              </a:buClr>
              <a:buFont typeface="Arial"/>
              <a:buChar char="•"/>
            </a:pPr>
            <a:r>
              <a:rPr sz="1200" b="1" i="0">
                <a:solidFill>
                  <a:srgbClr val="1E2430"/>
                </a:solidFill>
                <a:latin typeface="Calibri"/>
              </a:rPr>
              <a:t>Inference engine:</a:t>
            </a:r>
            <a:r>
              <a:rPr sz="1200" b="0" i="0">
                <a:solidFill>
                  <a:srgbClr val="1E2430"/>
                </a:solidFill>
                <a:latin typeface="Calibri"/>
              </a:rPr>
              <a:t> BrainProcessor with safe weight loading, the training crop and the mask in FLAIR space</a:t>
            </a:r>
          </a:p>
          <a:p>
            <a:pPr algn="l" marL="182880" indent="-182880">
              <a:lnSpc>
                <a:spcPct val="100000"/>
              </a:lnSpc>
              <a:spcAft>
                <a:spcPts val="700"/>
              </a:spcAft>
              <a:buClr>
                <a:srgbClr val="1F3A68"/>
              </a:buClr>
              <a:buFont typeface="Arial"/>
              <a:buChar char="•"/>
            </a:pPr>
            <a:r>
              <a:rPr sz="1200" b="1" i="0">
                <a:solidFill>
                  <a:srgbClr val="1E2430"/>
                </a:solidFill>
                <a:latin typeface="Calibri"/>
              </a:rPr>
              <a:t>Backend and pipeline:</a:t>
            </a:r>
            <a:r>
              <a:rPr sz="1200" b="0" i="0">
                <a:solidFill>
                  <a:srgbClr val="1E2430"/>
                </a:solidFill>
                <a:latin typeface="Calibri"/>
              </a:rPr>
              <a:t> FastAPI (23 routes), one worker, SQLite in WAL mode, Alembic</a:t>
            </a:r>
          </a:p>
          <a:p>
            <a:pPr algn="l" marL="182880" indent="-182880">
              <a:lnSpc>
                <a:spcPct val="100000"/>
              </a:lnSpc>
              <a:spcAft>
                <a:spcPts val="700"/>
              </a:spcAft>
              <a:buClr>
                <a:srgbClr val="1F3A68"/>
              </a:buClr>
              <a:buFont typeface="Arial"/>
              <a:buChar char="•"/>
            </a:pPr>
            <a:r>
              <a:rPr sz="1200" b="1" i="0">
                <a:solidFill>
                  <a:srgbClr val="1E2430"/>
                </a:solidFill>
                <a:latin typeface="Calibri"/>
              </a:rPr>
              <a:t>Security:</a:t>
            </a:r>
            <a:r>
              <a:rPr sz="1200" b="0" i="0">
                <a:solidFill>
                  <a:srgbClr val="1E2430"/>
                </a:solidFill>
                <a:latin typeface="Calibri"/>
              </a:rPr>
              <a:t> bcrypt, revocable JWT cookies, CSRF header, lockout, rate limits, TOTP</a:t>
            </a:r>
          </a:p>
          <a:p>
            <a:pPr algn="l" marL="182880" indent="-182880">
              <a:lnSpc>
                <a:spcPct val="100000"/>
              </a:lnSpc>
              <a:spcAft>
                <a:spcPts val="700"/>
              </a:spcAft>
              <a:buClr>
                <a:srgbClr val="1F3A68"/>
              </a:buClr>
              <a:buFont typeface="Arial"/>
              <a:buChar char="•"/>
            </a:pPr>
            <a:r>
              <a:rPr sz="1200" b="1" i="0">
                <a:solidFill>
                  <a:srgbClr val="1E2430"/>
                </a:solidFill>
                <a:latin typeface="Calibri"/>
              </a:rPr>
              <a:t>Viewer:</a:t>
            </a:r>
            <a:r>
              <a:rPr sz="1200" b="0" i="0">
                <a:solidFill>
                  <a:srgbClr val="1E2430"/>
                </a:solidFill>
                <a:latin typeface="Calibri"/>
              </a:rPr>
              <a:t> React and vtk.js; linked multi-planar and 3D views, slab modes, ruler</a:t>
            </a:r>
          </a:p>
          <a:p>
            <a:pPr algn="l" marL="182880" indent="-182880">
              <a:lnSpc>
                <a:spcPct val="100000"/>
              </a:lnSpc>
              <a:spcAft>
                <a:spcPts val="700"/>
              </a:spcAft>
              <a:buClr>
                <a:srgbClr val="1F3A68"/>
              </a:buClr>
              <a:buFont typeface="Arial"/>
              <a:buChar char="•"/>
            </a:pPr>
            <a:r>
              <a:rPr sz="1200" b="1" i="0">
                <a:solidFill>
                  <a:srgbClr val="1E2430"/>
                </a:solidFill>
                <a:latin typeface="Calibri"/>
              </a:rPr>
              <a:t>Reports:</a:t>
            </a:r>
            <a:r>
              <a:rPr sz="1200" b="0" i="0">
                <a:solidFill>
                  <a:srgbClr val="1E2430"/>
                </a:solidFill>
                <a:latin typeface="Calibri"/>
              </a:rPr>
              <a:t> PDF MRI report with key images; CSV export with formula escaping</a:t>
            </a:r>
          </a:p>
        </p:txBody>
      </p:sp>
      <p:pic>
        <p:nvPicPr>
          <p:cNvPr id="11" name="Picture 10" descr="scan-viewer-pa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19" y="1234440"/>
            <a:ext cx="2679192" cy="26791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961119" y="3968496"/>
            <a:ext cx="2679192" cy="5262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B6472"/>
                </a:solidFill>
                <a:latin typeface="Calibri"/>
              </a:rPr>
              <a:t>NeuroScan AI viewer: linked axial, 3D, coronal and sagittal panes with the WT, TC and ET overlay on a BraTS case</a:t>
            </a:r>
          </a:p>
        </p:txBody>
      </p:sp>
    </p:spTree>
    <p:extLst>
      <p:ext uri="{BB962C8B-B14F-4D97-AF65-F5344CB8AC3E}">
        <p14:creationId xmlns:p14="http://schemas.microsoft.com/office/powerpoint/2010/main" val="3191299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6400800" cy="621792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/>
          <a:p>
            <a:pPr algn="l"/>
            <a:r>
              <a:rPr sz="2800" b="1">
                <a:solidFill>
                  <a:srgbClr val="1E2430"/>
                </a:solidFill>
                <a:latin typeface="Times New Roman"/>
              </a:rPr>
              <a:t>Data Curation and Leakage Control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000">
                <a:solidFill>
                  <a:srgbClr val="8A929C"/>
                </a:solidFill>
                <a:latin typeface="Calibri"/>
                <a:cs typeface="Calibri"/>
              </a:rPr>
              <a:t>28/10/26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z="1000">
                <a:solidFill>
                  <a:srgbClr val="8A929C"/>
                </a:solidFill>
                <a:latin typeface="Calibri"/>
                <a:cs typeface="Calibri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 sz="1000">
                <a:solidFill>
                  <a:srgbClr val="8A929C"/>
                </a:solidFill>
                <a:latin typeface="Calibri"/>
                <a:cs typeface="Calibri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68312" y="54864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472"/>
                </a:solidFill>
                <a:latin typeface="Calibri"/>
              </a:rPr>
              <a:t>Experiments and Results: Paper 1 (2D)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2035454" cy="10058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3A68"/>
                </a:solidFill>
                <a:latin typeface="Calibri"/>
              </a:rPr>
              <a:t>1. Brain crop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1E2430"/>
                </a:solidFill>
                <a:latin typeface="Calibri"/>
              </a:rPr>
              <a:t>greyscale, 5×5 Gaussian, threshold 45, largest contour [47]</a:t>
            </a:r>
          </a:p>
        </p:txBody>
      </p:sp>
      <p:sp>
        <p:nvSpPr>
          <p:cNvPr id="9" name="Rectangle 8"/>
          <p:cNvSpPr/>
          <p:nvPr/>
        </p:nvSpPr>
        <p:spPr>
          <a:xfrm>
            <a:off x="2812694" y="1234440"/>
            <a:ext cx="2035454" cy="10058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3A68"/>
                </a:solidFill>
                <a:latin typeface="Calibri"/>
              </a:rPr>
              <a:t>2. Perceptual hash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1E2430"/>
                </a:solidFill>
                <a:latin typeface="Calibri"/>
              </a:rPr>
              <a:t>64-bit pHash [48] and a 64×64 thumbnail per image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11526" y="1737360"/>
            <a:ext cx="173736" cy="0"/>
          </a:xfrm>
          <a:prstGeom prst="line">
            <a:avLst/>
          </a:prstGeom>
          <a:ln w="15875">
            <a:solidFill>
              <a:srgbClr val="A7AF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076748" y="1234440"/>
            <a:ext cx="2035454" cy="10058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3A68"/>
                </a:solidFill>
                <a:latin typeface="Calibri"/>
              </a:rPr>
              <a:t>3. Deduplicate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1E2430"/>
                </a:solidFill>
                <a:latin typeface="Calibri"/>
              </a:rPr>
              <a:t>same label, Hamming ≤ 5 [49]: keep one; cross-label NCC ≥ 0.98 [50]: drop both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875580" y="1737360"/>
            <a:ext cx="173736" cy="0"/>
          </a:xfrm>
          <a:prstGeom prst="line">
            <a:avLst/>
          </a:prstGeom>
          <a:ln w="15875">
            <a:solidFill>
              <a:srgbClr val="A7AF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340803" y="1234440"/>
            <a:ext cx="2035454" cy="10058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3A68"/>
                </a:solidFill>
                <a:latin typeface="Calibri"/>
              </a:rPr>
              <a:t>4. Group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1E2430"/>
                </a:solidFill>
                <a:latin typeface="Calibri"/>
              </a:rPr>
              <a:t>Hamming ≤ 8 or NCC ≥ 0.98: 821 and 1,867 groups as a patient proxy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39635" y="1737360"/>
            <a:ext cx="173736" cy="0"/>
          </a:xfrm>
          <a:prstGeom prst="line">
            <a:avLst/>
          </a:prstGeom>
          <a:ln w="15875">
            <a:solidFill>
              <a:srgbClr val="A7AF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604857" y="1234440"/>
            <a:ext cx="2035454" cy="100584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 i="0">
                <a:solidFill>
                  <a:srgbClr val="1F3A68"/>
                </a:solidFill>
                <a:latin typeface="Calibri"/>
              </a:rPr>
              <a:t>5. Split and audit</a:t>
            </a:r>
          </a:p>
          <a:p>
            <a:pPr algn="ctr">
              <a:spcBef>
                <a:spcPts val="200"/>
              </a:spcBef>
            </a:pPr>
            <a:r>
              <a:rPr sz="950" b="0" i="0">
                <a:solidFill>
                  <a:srgbClr val="1E2430"/>
                </a:solidFill>
                <a:latin typeface="Calibri"/>
              </a:rPr>
              <a:t>stratified group k-fold [51, 52]: 15% test, five folds; no test image near development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403689" y="1737360"/>
            <a:ext cx="173736" cy="0"/>
          </a:xfrm>
          <a:prstGeom prst="line">
            <a:avLst/>
          </a:prstGeom>
          <a:ln w="15875">
            <a:solidFill>
              <a:srgbClr val="A7AFB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48640" y="2468880"/>
          <a:ext cx="5486400" cy="126187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731520"/>
                <a:gridCol w="1965960"/>
                <a:gridCol w="868680"/>
                <a:gridCol w="1097280"/>
                <a:gridCol w="457200"/>
                <a:gridCol w="36576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 marL="64008" marR="64008" marT="27432" marB="27432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Sources</a:t>
                      </a:r>
                    </a:p>
                  </a:txBody>
                  <a:tcPr marL="64008" marR="64008" marT="27432" marB="27432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Images</a:t>
                      </a:r>
                    </a:p>
                  </a:txBody>
                  <a:tcPr marL="64008" marR="64008" marT="27432" marB="27432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After deduplication</a:t>
                      </a:r>
                    </a:p>
                  </a:txBody>
                  <a:tcPr marL="64008" marR="64008" marT="27432" marB="27432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Dev.</a:t>
                      </a:r>
                    </a:p>
                  </a:txBody>
                  <a:tcPr marL="64008" marR="64008" marT="27432" marB="27432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64008" marR="64008" marT="27432" marB="27432" anchor="ctr">
                    <a:solidFill>
                      <a:srgbClr val="1F3A6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Detection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Br35H [53], Chakrabarty [54]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3,000 + 253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1,185 (−63.57%)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1,014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171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Subtype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Bhuvaji [55], Cheng [13, 56, 57]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2,764 + 3,064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4,730 (−18.84%)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4,685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pic>
        <p:nvPicPr>
          <p:cNvPr id="18" name="Picture 17" descr="detection-samples-crop-m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959352"/>
            <a:ext cx="5486400" cy="189156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5905782"/>
            <a:ext cx="5486400" cy="2214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B6472"/>
                </a:solidFill>
                <a:latin typeface="Calibri"/>
              </a:rPr>
              <a:t>Original image, brain crop used for training, and head mask used by the attention audit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6263640" y="2468880"/>
          <a:ext cx="5376672" cy="237337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1" name="Rectangle 20"/>
          <p:cNvSpPr/>
          <p:nvPr/>
        </p:nvSpPr>
        <p:spPr>
          <a:xfrm>
            <a:off x="6263640" y="5070856"/>
            <a:ext cx="5376672" cy="110134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1" y="5235448"/>
            <a:ext cx="5047488" cy="772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80594" indent="-180594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100" b="0" i="0">
                <a:solidFill>
                  <a:srgbClr val="1E2430"/>
                </a:solidFill>
                <a:latin typeface="Calibri"/>
              </a:rPr>
              <a:t>Eight of 31 cross-label pairs in the subtype pool were label noise; the detection pool had none.</a:t>
            </a:r>
          </a:p>
          <a:p>
            <a:pPr algn="l" marL="180594" indent="-180594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100" b="0" i="0">
                <a:solidFill>
                  <a:srgbClr val="1E2430"/>
                </a:solidFill>
                <a:latin typeface="Calibri"/>
              </a:rPr>
              <a:t>One subtype group held 1,431 images, so the subtype test set has only 45 images (1 glioma, 13 meningioma, 31 pituitary).</a:t>
            </a:r>
          </a:p>
        </p:txBody>
      </p:sp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CC49A39-F362-DB35-B5DF-7E322AB9C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3754A46F-4AC3-5AF1-0B78-C0B5112BD1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11091672" cy="621792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/>
          <a:p>
            <a:pPr algn="l"/>
            <a:r>
              <a:rPr sz="2800" b="1">
                <a:solidFill>
                  <a:srgbClr val="1E2430"/>
                </a:solidFill>
                <a:latin typeface="Times New Roman"/>
              </a:rPr>
              <a:t>Conclusion and Future Work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51BAA61-633E-E24B-7DEE-4B2A2B1F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000">
                <a:solidFill>
                  <a:srgbClr val="8A929C"/>
                </a:solidFill>
                <a:latin typeface="Calibri"/>
                <a:cs typeface="Calibri"/>
              </a:rPr>
              <a:t>28/10/26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B93C553-2D0C-5A0A-39DC-21C43BD8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z="1000">
                <a:solidFill>
                  <a:srgbClr val="8A929C"/>
                </a:solidFill>
                <a:latin typeface="Calibri"/>
                <a:cs typeface="Calibri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BF7A7E9-45BE-62F4-D3A6-F19DC6AB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 sz="1000">
                <a:solidFill>
                  <a:srgbClr val="8A929C"/>
                </a:solidFill>
                <a:latin typeface="Calibri"/>
                <a:cs typeface="Calibri"/>
              </a:rPr>
              <a:t>12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19786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F3A68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234440"/>
            <a:ext cx="61722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E2430"/>
                </a:solidFill>
                <a:latin typeface="Calibri"/>
              </a:rPr>
              <a:t>Cost decides in 2D.</a:t>
            </a:r>
            <a:r>
              <a:rPr sz="1300" b="0" i="0">
                <a:solidFill>
                  <a:srgbClr val="1E2430"/>
                </a:solidFill>
                <a:latin typeface="Calibri"/>
              </a:rPr>
              <a:t> All nine backbones reach 97.08% to 99.42% detection accuracy with no significant difference; EfficientNetB0 matches the leaders with 4.01 M parameters and 0.77 GFLOPs.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0370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F3A68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40280"/>
            <a:ext cx="61722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E2430"/>
                </a:solidFill>
                <a:latin typeface="Calibri"/>
              </a:rPr>
              <a:t>Leakage and shortcuts are real.</a:t>
            </a:r>
            <a:r>
              <a:rPr sz="1300" b="0" i="0">
                <a:solidFill>
                  <a:srgbClr val="1E2430"/>
                </a:solidFill>
                <a:latin typeface="Calibri"/>
              </a:rPr>
              <a:t> Deduplication removed 63.57% and 18.84% of the images, and background-only models still beat chance: public 2D collections carry non-anatomical label cues.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0954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F3A68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246120"/>
            <a:ext cx="61722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E2430"/>
                </a:solidFill>
                <a:latin typeface="Calibri"/>
              </a:rPr>
              <a:t>CNNs lead in 3D.</a:t>
            </a:r>
            <a:r>
              <a:rPr sz="1300" b="0" i="0">
                <a:solidFill>
                  <a:srgbClr val="1E2430"/>
                </a:solidFill>
                <a:latin typeface="Calibri"/>
              </a:rPr>
              <a:t> UNet (0.8199) and nnU-Net-style (0.8192) lead, every CNN beats every from-scratch transformer-based model, and VNet gives 97% of the UNet Dice at about a third of its latency.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215383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F3A68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251959"/>
            <a:ext cx="6172200" cy="441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E2430"/>
                </a:solidFill>
                <a:latin typeface="Calibri"/>
              </a:rPr>
              <a:t>The weak spot is known.</a:t>
            </a:r>
            <a:r>
              <a:rPr sz="1300" b="0" i="0">
                <a:solidFill>
                  <a:srgbClr val="1E2430"/>
                </a:solidFill>
                <a:latin typeface="Calibri"/>
              </a:rPr>
              <a:t> Whole-tumour Dice is 0.87 to 0.90 for every model, but LGG enhancing-tumour Dice is 0.16 to 0.42, a bias that must be disclosed to users.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2310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F3A68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059680"/>
            <a:ext cx="6172200" cy="441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E2430"/>
                </a:solidFill>
                <a:latin typeface="Calibri"/>
              </a:rPr>
              <a:t>From benchmark to tool.</a:t>
            </a:r>
            <a:r>
              <a:rPr sz="1300" b="0" i="0">
                <a:solidFill>
                  <a:srgbClr val="1E2430"/>
                </a:solidFill>
                <a:latin typeface="Calibri"/>
              </a:rPr>
              <a:t> NeuroScan AI deploys EfficientNetB0 and VNet in a secure, tested application; it is a research prototype, not a diagnostic device.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1234440"/>
            <a:ext cx="4279392" cy="2838703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5512" y="1399032"/>
            <a:ext cx="3950208" cy="25095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F3A68"/>
                </a:solidFill>
                <a:latin typeface="Calibri"/>
              </a:rPr>
              <a:t>Future work</a:t>
            </a:r>
          </a:p>
          <a:p>
            <a:pPr algn="l" marL="182880" indent="-182880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200" b="0" i="0">
                <a:solidFill>
                  <a:srgbClr val="1E2430"/>
                </a:solidFill>
                <a:latin typeface="Calibri"/>
              </a:rPr>
              <a:t>Patient-level splits and external, multi-centre validation</a:t>
            </a:r>
          </a:p>
          <a:p>
            <a:pPr algn="l" marL="182880" indent="-182880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200" b="0" i="0">
                <a:solidFill>
                  <a:srgbClr val="1E2430"/>
                </a:solidFill>
                <a:latin typeface="Calibri"/>
              </a:rPr>
              <a:t>Grouping that keeps every subtype in the test set</a:t>
            </a:r>
          </a:p>
          <a:p>
            <a:pPr algn="l" marL="182880" indent="-182880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200" b="0" i="0">
                <a:solidFill>
                  <a:srgbClr val="1E2430"/>
                </a:solidFill>
                <a:latin typeface="Calibri"/>
              </a:rPr>
              <a:t>Standardise image borders, then repeat the shortcut test</a:t>
            </a:r>
          </a:p>
          <a:p>
            <a:pPr algn="l" marL="182880" indent="-182880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200" b="0" i="0">
                <a:solidFill>
                  <a:srgbClr val="1E2430"/>
                </a:solidFill>
                <a:latin typeface="Calibri"/>
              </a:rPr>
              <a:t>3D multi-sequence detection and classification</a:t>
            </a:r>
          </a:p>
          <a:p>
            <a:pPr algn="l" marL="182880" indent="-182880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200" b="0" i="0">
                <a:solidFill>
                  <a:srgbClr val="1E2430"/>
                </a:solidFill>
                <a:latin typeface="Calibri"/>
              </a:rPr>
              <a:t>Several seeds and cross-validation for the 3D benchmark</a:t>
            </a:r>
          </a:p>
          <a:p>
            <a:pPr algn="l" marL="182880" indent="-182880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200" b="0" i="0">
                <a:solidFill>
                  <a:srgbClr val="1E2430"/>
                </a:solidFill>
                <a:latin typeface="Calibri"/>
              </a:rPr>
              <a:t>Pretrained transformer encoders; higher-resolution or patch-based training</a:t>
            </a:r>
          </a:p>
          <a:p>
            <a:pPr algn="l" marL="182880" indent="-182880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200" b="0" i="0">
                <a:solidFill>
                  <a:srgbClr val="1E2430"/>
                </a:solidFill>
                <a:latin typeface="Calibri"/>
              </a:rPr>
              <a:t>Grade-aware ET post-processing for LGG cases</a:t>
            </a:r>
          </a:p>
          <a:p>
            <a:pPr algn="l" marL="182880" indent="-182880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200" b="0" i="0">
                <a:solidFill>
                  <a:srgbClr val="1E2430"/>
                </a:solidFill>
                <a:latin typeface="Calibri"/>
              </a:rPr>
              <a:t>Calibration on larger held-out sets; DICOM input and physical volumes in the application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0920" y="4301744"/>
            <a:ext cx="4279392" cy="1436623"/>
          </a:xfrm>
          <a:prstGeom prst="rect">
            <a:avLst/>
          </a:prstGeom>
          <a:solidFill>
            <a:srgbClr val="E6EB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5512" y="4466336"/>
            <a:ext cx="3950208" cy="11074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F3A68"/>
                </a:solidFill>
                <a:latin typeface="Calibri"/>
              </a:rPr>
              <a:t>Recommendation</a:t>
            </a:r>
          </a:p>
          <a:p>
            <a:pPr algn="l" marL="182880" indent="-182880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200" b="0" i="0">
                <a:solidFill>
                  <a:srgbClr val="1E2430"/>
                </a:solidFill>
                <a:latin typeface="Calibri"/>
              </a:rPr>
              <a:t>Highest 3D accuracy: UNet; limited compute and deployment: VNet (3D) and EfficientNetB0 (2D)</a:t>
            </a:r>
          </a:p>
          <a:p>
            <a:pPr algn="l" marL="182880" indent="-182880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200" b="0" i="0">
                <a:solidFill>
                  <a:srgbClr val="1E2430"/>
                </a:solidFill>
                <a:latin typeface="Calibri"/>
              </a:rPr>
              <a:t>Revisit transformers with pretraining, larger datasets or higher-resolution training</a:t>
            </a:r>
          </a:p>
        </p:txBody>
      </p:sp>
    </p:spTree>
    <p:extLst>
      <p:ext uri="{BB962C8B-B14F-4D97-AF65-F5344CB8AC3E}">
        <p14:creationId xmlns:p14="http://schemas.microsoft.com/office/powerpoint/2010/main" val="1317498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51EE89F-6F96-DF9C-768A-8B2A7BEAD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384048"/>
            <a:ext cx="11091672" cy="621792"/>
          </a:xfrm>
        </p:spPr>
        <p:txBody>
          <a:bodyPr lIns="0" tIns="0" rIns="0" bIns="0" anchor="ctr">
            <a:normAutofit/>
          </a:bodyPr>
          <a:lstStyle/>
          <a:p>
            <a:pPr algn="l"/>
            <a:r>
              <a:rPr sz="2800" b="1">
                <a:solidFill>
                  <a:srgbClr val="1E2430"/>
                </a:solidFill>
                <a:latin typeface="Times New Roman"/>
              </a:rPr>
              <a:t>Outcome Achieved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F86E621-0A63-DDD2-60A0-511D9D7C8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000">
                <a:solidFill>
                  <a:srgbClr val="8A929C"/>
                </a:solidFill>
                <a:latin typeface="Calibri"/>
                <a:cs typeface="Calibri"/>
              </a:rPr>
              <a:t>28/10/26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4966F66-9685-CC43-3B74-035A03CAF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000">
                <a:solidFill>
                  <a:srgbClr val="8A929C"/>
                </a:solidFill>
                <a:latin typeface="Calibri"/>
                <a:cs typeface="Calibri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2234F7B-54B7-5C34-9356-A94BE39E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 sz="1000">
                <a:solidFill>
                  <a:srgbClr val="8A929C"/>
                </a:solidFill>
                <a:latin typeface="Calibri"/>
                <a:cs typeface="Calibri"/>
              </a:rPr>
              <a:t>13</a:t>
            </a:fld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91672" cy="312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E2430"/>
                </a:solidFill>
                <a:latin typeface="Calibri"/>
              </a:rPr>
              <a:t>Journal publication:</a:t>
            </a:r>
            <a:r>
              <a:rPr sz="1600" b="0" i="0">
                <a:solidFill>
                  <a:srgbClr val="1E2430"/>
                </a:solidFill>
                <a:latin typeface="Calibri"/>
              </a:rPr>
              <a:t> two manuscripts prepared for </a:t>
            </a:r>
            <a:r>
              <a:rPr sz="1600" b="0" i="1">
                <a:solidFill>
                  <a:srgbClr val="1E2430"/>
                </a:solidFill>
                <a:latin typeface="Calibri"/>
              </a:rPr>
              <a:t>Engineering Applications of Artificial Intelligence</a:t>
            </a:r>
            <a:r>
              <a:rPr sz="1600" b="0" i="0">
                <a:solidFill>
                  <a:srgbClr val="1E2430"/>
                </a:solidFill>
                <a:latin typeface="Calibri"/>
              </a:rPr>
              <a:t> (Elsevier, Scopus indexed)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75968"/>
            <a:ext cx="5431536" cy="1792223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940560"/>
            <a:ext cx="5102352" cy="14630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F3A68"/>
                </a:solidFill>
                <a:latin typeface="Calibri"/>
              </a:rPr>
              <a:t>Manuscript 1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E2430"/>
                </a:solidFill>
                <a:latin typeface="Calibri"/>
              </a:rPr>
              <a:t>“Standardised Comparison of Convolutional and Transformer Backbones for Brain Tumour Magnetic Resonance Image Classification under Perceptual-Hash Deduplication”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5B6472"/>
                </a:solidFill>
                <a:latin typeface="Calibri"/>
              </a:rPr>
              <a:t>P. Mital, V. Lawand, Biji C. L., M. A. Dar and G. P. Doss C.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E2430"/>
                </a:solidFill>
                <a:latin typeface="Calibri"/>
              </a:rPr>
              <a:t>Status:</a:t>
            </a:r>
            <a:r>
              <a:rPr sz="1200" b="0" i="0">
                <a:solidFill>
                  <a:srgbClr val="1E2430"/>
                </a:solidFill>
                <a:latin typeface="Calibri"/>
              </a:rPr>
              <a:t> prepared for submission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8776" y="1775968"/>
            <a:ext cx="5431536" cy="1792223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940560"/>
            <a:ext cx="5102352" cy="14630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F3A68"/>
                </a:solidFill>
                <a:latin typeface="Calibri"/>
              </a:rPr>
              <a:t>Manuscript 2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E2430"/>
                </a:solidFill>
                <a:latin typeface="Calibri"/>
              </a:rPr>
              <a:t>“A Comprehensive Benchmark of Three-Dimensional Segmentation Architectures for Brain Tumour Segmentation”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5B6472"/>
                </a:solidFill>
                <a:latin typeface="Calibri"/>
              </a:rPr>
              <a:t>P. Mital, V. Lawand and Biji C. L.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1E2430"/>
                </a:solidFill>
                <a:latin typeface="Calibri"/>
              </a:rPr>
              <a:t>Status:</a:t>
            </a:r>
            <a:r>
              <a:rPr sz="1200" b="0" i="0">
                <a:solidFill>
                  <a:srgbClr val="1E2430"/>
                </a:solidFill>
                <a:latin typeface="Calibri"/>
              </a:rPr>
              <a:t> prepared for submission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96792"/>
            <a:ext cx="11091672" cy="1304543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961383"/>
            <a:ext cx="10762488" cy="9753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F3A68"/>
                </a:solidFill>
                <a:latin typeface="Calibri"/>
              </a:rPr>
              <a:t>Others</a:t>
            </a:r>
          </a:p>
          <a:p>
            <a:pPr algn="l" marL="182880" indent="-182880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200" b="0" i="0">
                <a:solidFill>
                  <a:srgbClr val="1E2430"/>
                </a:solidFill>
                <a:latin typeface="Calibri"/>
              </a:rPr>
              <a:t>Open-source NeuroScan AI web application (TRL 4) with 61 backend and 39 frontend automated tests</a:t>
            </a:r>
          </a:p>
          <a:p>
            <a:pPr algn="l" marL="182880" indent="-182880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200" b="0" i="0">
                <a:solidFill>
                  <a:srgbClr val="1E2430"/>
                </a:solidFill>
                <a:latin typeface="Calibri"/>
              </a:rPr>
              <a:t>Research notebooks with all outputs: splits, per-run metrics, plots and the trained checkpoints</a:t>
            </a:r>
          </a:p>
          <a:p>
            <a:pPr algn="l" marL="182880" indent="-182880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200" b="0" i="0">
                <a:solidFill>
                  <a:srgbClr val="1E2430"/>
                </a:solidFill>
                <a:latin typeface="Calibri"/>
              </a:rPr>
              <a:t>Repository: https://github.com/parthmital/NeuroScan-AI</a:t>
            </a:r>
          </a:p>
        </p:txBody>
      </p:sp>
    </p:spTree>
    <p:extLst>
      <p:ext uri="{BB962C8B-B14F-4D97-AF65-F5344CB8AC3E}">
        <p14:creationId xmlns:p14="http://schemas.microsoft.com/office/powerpoint/2010/main" val="4071570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xmlns="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11091672" cy="621792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/>
          <a:p>
            <a:pPr algn="l"/>
            <a:r>
              <a:rPr sz="2800" b="1">
                <a:solidFill>
                  <a:srgbClr val="1E2430"/>
                </a:solidFill>
                <a:latin typeface="Times New Roman"/>
              </a:rPr>
              <a:t>References (1/2)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000">
                <a:solidFill>
                  <a:srgbClr val="8A929C"/>
                </a:solidFill>
                <a:latin typeface="Calibri"/>
                <a:cs typeface="Calibri"/>
              </a:rPr>
              <a:t>28/10/26</a:t>
            </a:r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000">
                <a:solidFill>
                  <a:srgbClr val="8A929C"/>
                </a:solidFill>
                <a:latin typeface="Calibri"/>
                <a:cs typeface="Calibri"/>
              </a:rPr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 sz="1000">
                <a:solidFill>
                  <a:srgbClr val="8A929C"/>
                </a:solidFill>
                <a:latin typeface="Calibri"/>
                <a:cs typeface="Calibri"/>
              </a:rPr>
              <a:t>14</a:t>
            </a:fld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5431536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[1]	</a:t>
            </a:r>
            <a:r>
              <a:rPr sz="780" i="0">
                <a:solidFill>
                  <a:srgbClr val="1E2430"/>
                </a:solidFill>
                <a:latin typeface="Calibri"/>
              </a:rPr>
              <a:t>Q. T. Ostrom et al., “CBTRUS statistical report: Primary brain and other central nervous system tumors diagnosed in the United States in 2016–2020,” </a:t>
            </a:r>
            <a:r>
              <a:rPr sz="780" i="1">
                <a:solidFill>
                  <a:srgbClr val="1E2430"/>
                </a:solidFill>
                <a:latin typeface="Calibri"/>
              </a:rPr>
              <a:t>Neuro-Oncology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25, suppl. 4, pp. iv1–iv99, 2023.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[2]	</a:t>
            </a:r>
            <a:r>
              <a:rPr sz="780" i="0">
                <a:solidFill>
                  <a:srgbClr val="1E2430"/>
                </a:solidFill>
                <a:latin typeface="Calibri"/>
              </a:rPr>
              <a:t>S. Bakas et al., “Advancing The Cancer Genome Atlas glioma MRI collections with expert segmentation labels and radiomic features,” </a:t>
            </a:r>
            <a:r>
              <a:rPr sz="780" i="1">
                <a:solidFill>
                  <a:srgbClr val="1E2430"/>
                </a:solidFill>
                <a:latin typeface="Calibri"/>
              </a:rPr>
              <a:t>Scientific Data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4, Art. no. 170117, 2017.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[3]	</a:t>
            </a:r>
            <a:r>
              <a:rPr sz="780" i="0">
                <a:solidFill>
                  <a:srgbClr val="1E2430"/>
                </a:solidFill>
                <a:latin typeface="Calibri"/>
              </a:rPr>
              <a:t>J. E. Villanueva-Meyer, M. C. Mabray, and S. Cha, “Current clinical brain tumor imaging,” </a:t>
            </a:r>
            <a:r>
              <a:rPr sz="780" i="1">
                <a:solidFill>
                  <a:srgbClr val="1E2430"/>
                </a:solidFill>
                <a:latin typeface="Calibri"/>
              </a:rPr>
              <a:t>Neurosurgery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81, no. 3, pp. 397–415, 2017.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[4]	</a:t>
            </a:r>
            <a:r>
              <a:rPr sz="780" i="0">
                <a:solidFill>
                  <a:srgbClr val="1E2430"/>
                </a:solidFill>
                <a:latin typeface="Calibri"/>
              </a:rPr>
              <a:t>D. N. Louis et al., “The 2021 WHO classification of tumors of the central nervous system: A summary,” </a:t>
            </a:r>
            <a:r>
              <a:rPr sz="780" i="1">
                <a:solidFill>
                  <a:srgbClr val="1E2430"/>
                </a:solidFill>
                <a:latin typeface="Calibri"/>
              </a:rPr>
              <a:t>Neuro-Oncology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23, no. 8, pp. 1231–1251, 2021.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[5]	</a:t>
            </a:r>
            <a:r>
              <a:rPr sz="780" i="0">
                <a:solidFill>
                  <a:srgbClr val="1E2430"/>
                </a:solidFill>
                <a:latin typeface="Calibri"/>
              </a:rPr>
              <a:t>S. Bauer, R. Wiest, L.-P. Nolte, and M. Reyes, “A survey of MRI-based medical image analysis for brain tumor studies,” </a:t>
            </a:r>
            <a:r>
              <a:rPr sz="780" i="1">
                <a:solidFill>
                  <a:srgbClr val="1E2430"/>
                </a:solidFill>
                <a:latin typeface="Calibri"/>
              </a:rPr>
              <a:t>Physics in Medicine and Biology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58, no. 13, pp. R97–R129, 2013.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[6]	</a:t>
            </a:r>
            <a:r>
              <a:rPr sz="780" i="0">
                <a:solidFill>
                  <a:srgbClr val="1E2430"/>
                </a:solidFill>
                <a:latin typeface="Calibri"/>
              </a:rPr>
              <a:t>A. L. Beam and I. S. Kohane, “Big data and machine learning in health care,” </a:t>
            </a:r>
            <a:r>
              <a:rPr sz="780" i="1">
                <a:solidFill>
                  <a:srgbClr val="1E2430"/>
                </a:solidFill>
                <a:latin typeface="Calibri"/>
              </a:rPr>
              <a:t>JAMA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319, no. 13, pp. 1317–1318, 2018.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[7]	</a:t>
            </a:r>
            <a:r>
              <a:rPr sz="780" i="0">
                <a:solidFill>
                  <a:srgbClr val="1E2430"/>
                </a:solidFill>
                <a:latin typeface="Calibri"/>
              </a:rPr>
              <a:t>J. De Fauw et al., “Clinically applicable deep learning for diagnosis and referral in retinal disease,” </a:t>
            </a:r>
            <a:r>
              <a:rPr sz="780" i="1">
                <a:solidFill>
                  <a:srgbClr val="1E2430"/>
                </a:solidFill>
                <a:latin typeface="Calibri"/>
              </a:rPr>
              <a:t>Nature Medicine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24, no. 9, pp. 1342–1350, 2018.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[8]	</a:t>
            </a:r>
            <a:r>
              <a:rPr sz="780" i="0">
                <a:solidFill>
                  <a:srgbClr val="1E2430"/>
                </a:solidFill>
                <a:latin typeface="Calibri"/>
              </a:rPr>
              <a:t>S. Kapoor and A. Narayanan, “Leakage and the reproducibility crisis in machine-learning-based science,” </a:t>
            </a:r>
            <a:r>
              <a:rPr sz="780" i="1">
                <a:solidFill>
                  <a:srgbClr val="1E2430"/>
                </a:solidFill>
                <a:latin typeface="Calibri"/>
              </a:rPr>
              <a:t>Patterns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4, no. 9, Art. no. 100804, 2023.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[9]	</a:t>
            </a:r>
            <a:r>
              <a:rPr sz="780" i="0">
                <a:solidFill>
                  <a:srgbClr val="1E2430"/>
                </a:solidFill>
                <a:latin typeface="Calibri"/>
              </a:rPr>
              <a:t>M. Roberts et al., “Common pitfalls and recommendations for using machine learning to detect and prognosticate for COVID-19 using chest radiographs and CT scans,” </a:t>
            </a:r>
            <a:r>
              <a:rPr sz="780" i="1">
                <a:solidFill>
                  <a:srgbClr val="1E2430"/>
                </a:solidFill>
                <a:latin typeface="Calibri"/>
              </a:rPr>
              <a:t>Nature Machine Intelligence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3, no. 3, pp. 199–217, 2021.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[10]	</a:t>
            </a:r>
            <a:r>
              <a:rPr sz="780" i="0">
                <a:solidFill>
                  <a:srgbClr val="1E2430"/>
                </a:solidFill>
                <a:latin typeface="Calibri"/>
              </a:rPr>
              <a:t>E. I. Zacharaki et al., “Classification of brain tumor type and grade using MRI texture and shape in a machine learning scheme,” </a:t>
            </a:r>
            <a:r>
              <a:rPr sz="780" i="1">
                <a:solidFill>
                  <a:srgbClr val="1E2430"/>
                </a:solidFill>
                <a:latin typeface="Calibri"/>
              </a:rPr>
              <a:t>Magnetic Resonance in Medicine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62, no. 6, pp. 1609–1618, 2009.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[11]	</a:t>
            </a:r>
            <a:r>
              <a:rPr sz="780" i="0">
                <a:solidFill>
                  <a:srgbClr val="1E2430"/>
                </a:solidFill>
                <a:latin typeface="Calibri"/>
              </a:rPr>
              <a:t>N. Gordillo, E. Montseny, and P. Sobrevilla, “State of the art survey on MRI brain tumor segmentation,” </a:t>
            </a:r>
            <a:r>
              <a:rPr sz="780" i="1">
                <a:solidFill>
                  <a:srgbClr val="1E2430"/>
                </a:solidFill>
                <a:latin typeface="Calibri"/>
              </a:rPr>
              <a:t>Magnetic Resonance Imaging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31, no. 8, pp. 1426–1438, 2013.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[12]	</a:t>
            </a:r>
            <a:r>
              <a:rPr sz="780" i="0">
                <a:solidFill>
                  <a:srgbClr val="1E2430"/>
                </a:solidFill>
                <a:latin typeface="Calibri"/>
              </a:rPr>
              <a:t>G. Litjens et al., “A survey on deep learning in medical image analysis,” </a:t>
            </a:r>
            <a:r>
              <a:rPr sz="780" i="1">
                <a:solidFill>
                  <a:srgbClr val="1E2430"/>
                </a:solidFill>
                <a:latin typeface="Calibri"/>
              </a:rPr>
              <a:t>Medical Image Analysis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42, pp. 60–88, 2017.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[13]	</a:t>
            </a:r>
            <a:r>
              <a:rPr sz="780" i="0">
                <a:solidFill>
                  <a:srgbClr val="1E2430"/>
                </a:solidFill>
                <a:latin typeface="Calibri"/>
              </a:rPr>
              <a:t>J. Cheng et al., “Enhanced performance of brain tumor classification via tumor region augmentation and partition,” </a:t>
            </a:r>
            <a:r>
              <a:rPr sz="780" i="1">
                <a:solidFill>
                  <a:srgbClr val="1E2430"/>
                </a:solidFill>
                <a:latin typeface="Calibri"/>
              </a:rPr>
              <a:t>PLoS ONE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10, no. 10, Art. no. e0140381, 2015.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[14]	</a:t>
            </a:r>
            <a:r>
              <a:rPr sz="780" i="0">
                <a:solidFill>
                  <a:srgbClr val="1E2430"/>
                </a:solidFill>
                <a:latin typeface="Calibri"/>
              </a:rPr>
              <a:t>J. Seetha and S. S. Raja, “Brain tumor classification using convolutional neural networks,” </a:t>
            </a:r>
            <a:r>
              <a:rPr sz="780" i="1">
                <a:solidFill>
                  <a:srgbClr val="1E2430"/>
                </a:solidFill>
                <a:latin typeface="Calibri"/>
              </a:rPr>
              <a:t>Biomedical and Pharmacology Journal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11, no. 3, pp. 1457–1461, 2018.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[15]	</a:t>
            </a:r>
            <a:r>
              <a:rPr sz="780" i="0">
                <a:solidFill>
                  <a:srgbClr val="1E2430"/>
                </a:solidFill>
                <a:latin typeface="Calibri"/>
              </a:rPr>
              <a:t>M. Talo, U. B. Baloglu, Ö. Yıldırım, and U. R. Acharya, “Application of deep transfer learning for automated brain abnormality classification using MR images,” </a:t>
            </a:r>
            <a:r>
              <a:rPr sz="780" i="1">
                <a:solidFill>
                  <a:srgbClr val="1E2430"/>
                </a:solidFill>
                <a:latin typeface="Calibri"/>
              </a:rPr>
              <a:t>Cognitive Systems Research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54, pp. 176–188, 2019.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[16]	</a:t>
            </a:r>
            <a:r>
              <a:rPr sz="780" i="0">
                <a:solidFill>
                  <a:srgbClr val="1E2430"/>
                </a:solidFill>
                <a:latin typeface="Calibri"/>
              </a:rPr>
              <a:t>K. He, X. Zhang, S. Ren, and J. Sun, “Deep residual learning for image recognition,” in </a:t>
            </a:r>
            <a:r>
              <a:rPr sz="780" i="1">
                <a:solidFill>
                  <a:srgbClr val="1E2430"/>
                </a:solidFill>
                <a:latin typeface="Calibri"/>
              </a:rPr>
              <a:t>Proc. IEEE Conference on Computer Vision and Pattern Recognition (CVPR)</a:t>
            </a:r>
            <a:r>
              <a:rPr sz="780" i="0">
                <a:solidFill>
                  <a:srgbClr val="1E2430"/>
                </a:solidFill>
                <a:latin typeface="Calibri"/>
              </a:rPr>
              <a:t>, 2016, pp. 770–778.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[17]	</a:t>
            </a:r>
            <a:r>
              <a:rPr sz="780" i="0">
                <a:solidFill>
                  <a:srgbClr val="1E2430"/>
                </a:solidFill>
                <a:latin typeface="Calibri"/>
              </a:rPr>
              <a:t>A. Krizhevsky, I. Sutskever, and G. E. Hinton, “ImageNet classification with deep convolutional neural networks,” </a:t>
            </a:r>
            <a:r>
              <a:rPr sz="780" i="1">
                <a:solidFill>
                  <a:srgbClr val="1E2430"/>
                </a:solidFill>
                <a:latin typeface="Calibri"/>
              </a:rPr>
              <a:t>Communications of the ACM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60, no. 6, pp. 84–90, 2017.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[18]	</a:t>
            </a:r>
            <a:r>
              <a:rPr sz="780" i="0">
                <a:solidFill>
                  <a:srgbClr val="1E2430"/>
                </a:solidFill>
                <a:latin typeface="Calibri"/>
              </a:rPr>
              <a:t>S. Deepak and P. M. Ameer, “Brain tumor classification using deep CNN features via transfer learning,” </a:t>
            </a:r>
            <a:r>
              <a:rPr sz="780" i="1">
                <a:solidFill>
                  <a:srgbClr val="1E2430"/>
                </a:solidFill>
                <a:latin typeface="Calibri"/>
              </a:rPr>
              <a:t>Computers in Biology and Medicine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111, Art. no. 103345, 2019.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[19]	</a:t>
            </a:r>
            <a:r>
              <a:rPr sz="780" i="0">
                <a:solidFill>
                  <a:srgbClr val="1E2430"/>
                </a:solidFill>
                <a:latin typeface="Calibri"/>
              </a:rPr>
              <a:t>N. Ghassemi, A. Shoeibi, and M. Rouhani, “Deep neural network with generative adversarial networks pre-training for brain tumor classification based on MR images,” </a:t>
            </a:r>
            <a:r>
              <a:rPr sz="780" i="1">
                <a:solidFill>
                  <a:srgbClr val="1E2430"/>
                </a:solidFill>
                <a:latin typeface="Calibri"/>
              </a:rPr>
              <a:t>Biomedical Signal Processing and Control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57, Art. no. 101678, 2020.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[20]	</a:t>
            </a:r>
            <a:r>
              <a:rPr sz="780" i="0">
                <a:solidFill>
                  <a:srgbClr val="1E2430"/>
                </a:solidFill>
                <a:latin typeface="Calibri"/>
              </a:rPr>
              <a:t>A. Rehman, S. Naz, M. I. Razzak, F. Akram, and M. Imran, “A deep learning-based framework for automatic brain tumors classification using transfer learning,” </a:t>
            </a:r>
            <a:r>
              <a:rPr sz="780" i="1">
                <a:solidFill>
                  <a:srgbClr val="1E2430"/>
                </a:solidFill>
                <a:latin typeface="Calibri"/>
              </a:rPr>
              <a:t>Circuits, Systems, and Signal Processing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39, no. 2, pp. 757–775, 2020.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[21]	</a:t>
            </a:r>
            <a:r>
              <a:rPr sz="780" i="0">
                <a:solidFill>
                  <a:srgbClr val="1E2430"/>
                </a:solidFill>
                <a:latin typeface="Calibri"/>
              </a:rPr>
              <a:t>N. Noreen, S. Palaniappan, A. Qayyum, I. Ahmad, M. Imran, and M. Shoaib, “A deep learning model based on concatenation approach for the diagnosis of brain tumor,” </a:t>
            </a:r>
            <a:r>
              <a:rPr sz="780" i="1">
                <a:solidFill>
                  <a:srgbClr val="1E2430"/>
                </a:solidFill>
                <a:latin typeface="Calibri"/>
              </a:rPr>
              <a:t>IEEE Access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8, pp. 55135–55144, 2020.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[22]	</a:t>
            </a:r>
            <a:r>
              <a:rPr sz="780" i="0">
                <a:solidFill>
                  <a:srgbClr val="1E2430"/>
                </a:solidFill>
                <a:latin typeface="Calibri"/>
              </a:rPr>
              <a:t>K. Simonyan and A. Zisserman, “Very deep convolutional networks for large-scale image recognition,” in </a:t>
            </a:r>
            <a:r>
              <a:rPr sz="780" i="1">
                <a:solidFill>
                  <a:srgbClr val="1E2430"/>
                </a:solidFill>
                <a:latin typeface="Calibri"/>
              </a:rPr>
              <a:t>Proc. International Conference on Learning Representations (ICLR)</a:t>
            </a:r>
            <a:r>
              <a:rPr sz="780" i="0">
                <a:solidFill>
                  <a:srgbClr val="1E2430"/>
                </a:solidFill>
                <a:latin typeface="Calibri"/>
              </a:rPr>
              <a:t>, 2015.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08776" y="1143000"/>
            <a:ext cx="5431536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[23]	</a:t>
            </a:r>
            <a:r>
              <a:rPr sz="780" i="0">
                <a:solidFill>
                  <a:srgbClr val="1E2430"/>
                </a:solidFill>
                <a:latin typeface="Calibri"/>
              </a:rPr>
              <a:t>C. Szegedy, V. Vanhoucke, S. Ioffe, J. Shlens, and Z. Wojna, “Rethinking the inception architecture for computer vision,” in </a:t>
            </a:r>
            <a:r>
              <a:rPr sz="780" i="1">
                <a:solidFill>
                  <a:srgbClr val="1E2430"/>
                </a:solidFill>
                <a:latin typeface="Calibri"/>
              </a:rPr>
              <a:t>Proc. IEEE Conference on Computer Vision and Pattern Recognition (CVPR)</a:t>
            </a:r>
            <a:r>
              <a:rPr sz="780" i="0">
                <a:solidFill>
                  <a:srgbClr val="1E2430"/>
                </a:solidFill>
                <a:latin typeface="Calibri"/>
              </a:rPr>
              <a:t>, 2016, pp. 2818–2826.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[24]	</a:t>
            </a:r>
            <a:r>
              <a:rPr sz="780" i="0">
                <a:solidFill>
                  <a:srgbClr val="1E2430"/>
                </a:solidFill>
                <a:latin typeface="Calibri"/>
              </a:rPr>
              <a:t>G. Huang, Z. Liu, L. van der Maaten, and K. Q. Weinberger, “Densely connected convolutional networks,” in </a:t>
            </a:r>
            <a:r>
              <a:rPr sz="780" i="1">
                <a:solidFill>
                  <a:srgbClr val="1E2430"/>
                </a:solidFill>
                <a:latin typeface="Calibri"/>
              </a:rPr>
              <a:t>Proc. IEEE Conference on Computer Vision and Pattern Recognition (CVPR)</a:t>
            </a:r>
            <a:r>
              <a:rPr sz="780" i="0">
                <a:solidFill>
                  <a:srgbClr val="1E2430"/>
                </a:solidFill>
                <a:latin typeface="Calibri"/>
              </a:rPr>
              <a:t>, 2017, pp. 2261–2269.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[25]	</a:t>
            </a:r>
            <a:r>
              <a:rPr sz="780" i="0">
                <a:solidFill>
                  <a:srgbClr val="1E2430"/>
                </a:solidFill>
                <a:latin typeface="Calibri"/>
              </a:rPr>
              <a:t>M. A. Khan et al., “Multimodal brain tumor classification using deep learning and robust feature selection: A machine learning application for radiologists,” </a:t>
            </a:r>
            <a:r>
              <a:rPr sz="780" i="1">
                <a:solidFill>
                  <a:srgbClr val="1E2430"/>
                </a:solidFill>
                <a:latin typeface="Calibri"/>
              </a:rPr>
              <a:t>Diagnostics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10, no. 8, Art. no. 565, 2020.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[26]	</a:t>
            </a:r>
            <a:r>
              <a:rPr sz="780" i="0">
                <a:solidFill>
                  <a:srgbClr val="1E2430"/>
                </a:solidFill>
                <a:latin typeface="Calibri"/>
              </a:rPr>
              <a:t>S. Tummala, S. Kadry, S. A. C. Bukhari, and H. T. Rauf, “Classification of brain tumor from magnetic resonance imaging using vision transformers ensembling,” </a:t>
            </a:r>
            <a:r>
              <a:rPr sz="780" i="1">
                <a:solidFill>
                  <a:srgbClr val="1E2430"/>
                </a:solidFill>
                <a:latin typeface="Calibri"/>
              </a:rPr>
              <a:t>Current Oncology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29, no. 10, pp. 7498–7511, 2022.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[27]	</a:t>
            </a:r>
            <a:r>
              <a:rPr sz="780" i="0">
                <a:solidFill>
                  <a:srgbClr val="1E2430"/>
                </a:solidFill>
                <a:latin typeface="Calibri"/>
              </a:rPr>
              <a:t>A. A. Asiri et al., “Advancing brain tumor detection: Harnessing the Swin Transformer's power for accurate classification and performance analysis,” </a:t>
            </a:r>
            <a:r>
              <a:rPr sz="780" i="1">
                <a:solidFill>
                  <a:srgbClr val="1E2430"/>
                </a:solidFill>
                <a:latin typeface="Calibri"/>
              </a:rPr>
              <a:t>PeerJ Computer Science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10, Art. no. e1867, 2024.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[28]	</a:t>
            </a:r>
            <a:r>
              <a:rPr sz="780" i="0">
                <a:solidFill>
                  <a:srgbClr val="1E2430"/>
                </a:solidFill>
                <a:latin typeface="Calibri"/>
              </a:rPr>
              <a:t>A. Dosovitskiy et al., “An image is worth 16x16 words: Transformers for image recognition at scale,” in </a:t>
            </a:r>
            <a:r>
              <a:rPr sz="780" i="1">
                <a:solidFill>
                  <a:srgbClr val="1E2430"/>
                </a:solidFill>
                <a:latin typeface="Calibri"/>
              </a:rPr>
              <a:t>Proc. International Conference on Learning Representations (ICLR)</a:t>
            </a:r>
            <a:r>
              <a:rPr sz="780" i="0">
                <a:solidFill>
                  <a:srgbClr val="1E2430"/>
                </a:solidFill>
                <a:latin typeface="Calibri"/>
              </a:rPr>
              <a:t>, 2021.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[29]	</a:t>
            </a:r>
            <a:r>
              <a:rPr sz="780" i="0">
                <a:solidFill>
                  <a:srgbClr val="1E2430"/>
                </a:solidFill>
                <a:latin typeface="Calibri"/>
              </a:rPr>
              <a:t>Z. Liu et al., “Swin transformer: Hierarchical vision transformer using shifted windows,” in </a:t>
            </a:r>
            <a:r>
              <a:rPr sz="780" i="1">
                <a:solidFill>
                  <a:srgbClr val="1E2430"/>
                </a:solidFill>
                <a:latin typeface="Calibri"/>
              </a:rPr>
              <a:t>Proc. IEEE/CVF International Conference on Computer Vision (ICCV)</a:t>
            </a:r>
            <a:r>
              <a:rPr sz="780" i="0">
                <a:solidFill>
                  <a:srgbClr val="1E2430"/>
                </a:solidFill>
                <a:latin typeface="Calibri"/>
              </a:rPr>
              <a:t>, 2021, pp. 9992–10002.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[30]	</a:t>
            </a:r>
            <a:r>
              <a:rPr sz="780" i="0">
                <a:solidFill>
                  <a:srgbClr val="1E2430"/>
                </a:solidFill>
                <a:latin typeface="Calibri"/>
              </a:rPr>
              <a:t>O. Ronneberger, P. Fischer, and T. Brox, “U-Net: Convolutional networks for biomedical image segmentation,” in </a:t>
            </a:r>
            <a:r>
              <a:rPr sz="780" i="1">
                <a:solidFill>
                  <a:srgbClr val="1E2430"/>
                </a:solidFill>
                <a:latin typeface="Calibri"/>
              </a:rPr>
              <a:t>Medical Image Computing and Computer-Assisted Intervention (MICCAI 2015)</a:t>
            </a:r>
            <a:r>
              <a:rPr sz="780" i="0">
                <a:solidFill>
                  <a:srgbClr val="1E2430"/>
                </a:solidFill>
                <a:latin typeface="Calibri"/>
              </a:rPr>
              <a:t>, 2015, pp. 234–241.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[31]	</a:t>
            </a:r>
            <a:r>
              <a:rPr sz="780" i="0">
                <a:solidFill>
                  <a:srgbClr val="1E2430"/>
                </a:solidFill>
                <a:latin typeface="Calibri"/>
              </a:rPr>
              <a:t>Ö. Çiçek, A. Abdulkadir, S. S. Lienkamp, T. Brox, and O. Ronneberger, “3D U-Net: Learning dense volumetric segmentation from sparse annotation,” in </a:t>
            </a:r>
            <a:r>
              <a:rPr sz="780" i="1">
                <a:solidFill>
                  <a:srgbClr val="1E2430"/>
                </a:solidFill>
                <a:latin typeface="Calibri"/>
              </a:rPr>
              <a:t>Medical Image Computing and Computer-Assisted Intervention (MICCAI 2016)</a:t>
            </a:r>
            <a:r>
              <a:rPr sz="780" i="0">
                <a:solidFill>
                  <a:srgbClr val="1E2430"/>
                </a:solidFill>
                <a:latin typeface="Calibri"/>
              </a:rPr>
              <a:t>, 2016, pp. 424–432.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[32]	</a:t>
            </a:r>
            <a:r>
              <a:rPr sz="780" i="0">
                <a:solidFill>
                  <a:srgbClr val="1E2430"/>
                </a:solidFill>
                <a:latin typeface="Calibri"/>
              </a:rPr>
              <a:t>F. Milletari, N. Navab, and S.-A. Ahmadi, “V-Net: Fully convolutional neural networks for volumetric medical image segmentation,” in </a:t>
            </a:r>
            <a:r>
              <a:rPr sz="780" i="1">
                <a:solidFill>
                  <a:srgbClr val="1E2430"/>
                </a:solidFill>
                <a:latin typeface="Calibri"/>
              </a:rPr>
              <a:t>Proc. Fourth International Conference on 3D Vision (3DV)</a:t>
            </a:r>
            <a:r>
              <a:rPr sz="780" i="0">
                <a:solidFill>
                  <a:srgbClr val="1E2430"/>
                </a:solidFill>
                <a:latin typeface="Calibri"/>
              </a:rPr>
              <a:t>, 2016, pp. 565–571.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[33]	</a:t>
            </a:r>
            <a:r>
              <a:rPr sz="780" i="0">
                <a:solidFill>
                  <a:srgbClr val="1E2430"/>
                </a:solidFill>
                <a:latin typeface="Calibri"/>
              </a:rPr>
              <a:t>F. Isensee, P. F. Jaeger, S. A. A. Kohl, J. Petersen, and K. H. Maier-Hein, “nnU-Net: A self-configuring method for deep learning-based biomedical image segmentation,” </a:t>
            </a:r>
            <a:r>
              <a:rPr sz="780" i="1">
                <a:solidFill>
                  <a:srgbClr val="1E2430"/>
                </a:solidFill>
                <a:latin typeface="Calibri"/>
              </a:rPr>
              <a:t>Nature Methods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18, no. 2, pp. 203–211, 2021.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[34]	</a:t>
            </a:r>
            <a:r>
              <a:rPr sz="780" i="0">
                <a:solidFill>
                  <a:srgbClr val="1E2430"/>
                </a:solidFill>
                <a:latin typeface="Calibri"/>
              </a:rPr>
              <a:t>A. Hatamizadeh et al., “UNETR: Transformers for 3D medical image segmentation,” in </a:t>
            </a:r>
            <a:r>
              <a:rPr sz="780" i="1">
                <a:solidFill>
                  <a:srgbClr val="1E2430"/>
                </a:solidFill>
                <a:latin typeface="Calibri"/>
              </a:rPr>
              <a:t>Proc. IEEE/CVF Winter Conference on Applications of Computer Vision (WACV)</a:t>
            </a:r>
            <a:r>
              <a:rPr sz="780" i="0">
                <a:solidFill>
                  <a:srgbClr val="1E2430"/>
                </a:solidFill>
                <a:latin typeface="Calibri"/>
              </a:rPr>
              <a:t>, 2022, pp. 1748–1758.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[35]	</a:t>
            </a:r>
            <a:r>
              <a:rPr sz="780" i="0">
                <a:solidFill>
                  <a:srgbClr val="1E2430"/>
                </a:solidFill>
                <a:latin typeface="Calibri"/>
              </a:rPr>
              <a:t>A. Hatamizadeh, V. Nath, Y. Tang, D. Yang, H. R. Roth, and D. Xu, “Swin UNETR: Swin transformers for semantic segmentation of brain tumors in MRI images,” in </a:t>
            </a:r>
            <a:r>
              <a:rPr sz="780" i="1">
                <a:solidFill>
                  <a:srgbClr val="1E2430"/>
                </a:solidFill>
                <a:latin typeface="Calibri"/>
              </a:rPr>
              <a:t>Brainlesion: Glioma, Multiple Sclerosis, Stroke and Traumatic Brain Injuries (BrainLes 2021)</a:t>
            </a:r>
            <a:r>
              <a:rPr sz="780" i="0">
                <a:solidFill>
                  <a:srgbClr val="1E2430"/>
                </a:solidFill>
                <a:latin typeface="Calibri"/>
              </a:rPr>
              <a:t>, 2022, pp. 272–284.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[36]	</a:t>
            </a:r>
            <a:r>
              <a:rPr sz="780" i="0">
                <a:solidFill>
                  <a:srgbClr val="1E2430"/>
                </a:solidFill>
                <a:latin typeface="Calibri"/>
              </a:rPr>
              <a:t>W. Wang, C. Chen, M. Ding, H. Yu, S. Zha, and J. Li, “TransBTS: Multimodal brain tumor segmentation using transformer,” in </a:t>
            </a:r>
            <a:r>
              <a:rPr sz="780" i="1">
                <a:solidFill>
                  <a:srgbClr val="1E2430"/>
                </a:solidFill>
                <a:latin typeface="Calibri"/>
              </a:rPr>
              <a:t>Medical Image Computing and Computer Assisted Intervention (MICCAI 2021)</a:t>
            </a:r>
            <a:r>
              <a:rPr sz="780" i="0">
                <a:solidFill>
                  <a:srgbClr val="1E2430"/>
                </a:solidFill>
                <a:latin typeface="Calibri"/>
              </a:rPr>
              <a:t>, 2021, pp. 109–119.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[37]	</a:t>
            </a:r>
            <a:r>
              <a:rPr sz="780" i="0">
                <a:solidFill>
                  <a:srgbClr val="1E2430"/>
                </a:solidFill>
                <a:latin typeface="Calibri"/>
              </a:rPr>
              <a:t>J. Chen et al., “TransUNet: Rethinking the U-Net architecture design for medical image segmentation through the lens of transformers,” </a:t>
            </a:r>
            <a:r>
              <a:rPr sz="780" i="1">
                <a:solidFill>
                  <a:srgbClr val="1E2430"/>
                </a:solidFill>
                <a:latin typeface="Calibri"/>
              </a:rPr>
              <a:t>Medical Image Analysis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97, Art. no. 103280, 2024.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[38]	</a:t>
            </a:r>
            <a:r>
              <a:rPr sz="780" i="0">
                <a:solidFill>
                  <a:srgbClr val="1E2430"/>
                </a:solidFill>
                <a:latin typeface="Calibri"/>
              </a:rPr>
              <a:t>H. Touvron, M. Cord, M. Douze, F. Massa, A. Sablayrolles, and H. Jégou, “Training data-efficient image transformers and distillation through attention,” in </a:t>
            </a:r>
            <a:r>
              <a:rPr sz="780" i="1">
                <a:solidFill>
                  <a:srgbClr val="1E2430"/>
                </a:solidFill>
                <a:latin typeface="Calibri"/>
              </a:rPr>
              <a:t>Proc. 38th International Conference on Machine Learning (ICML)</a:t>
            </a:r>
            <a:r>
              <a:rPr sz="780" i="0">
                <a:solidFill>
                  <a:srgbClr val="1E2430"/>
                </a:solidFill>
                <a:latin typeface="Calibri"/>
              </a:rPr>
              <a:t>, 2021, pp. 10347–10357.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[39]	</a:t>
            </a:r>
            <a:r>
              <a:rPr sz="780" i="0">
                <a:solidFill>
                  <a:srgbClr val="1E2430"/>
                </a:solidFill>
                <a:latin typeface="Calibri"/>
              </a:rPr>
              <a:t>A. Fateh et al., “BRISC: Annotated dataset for brain tumor segmentation and classification,” </a:t>
            </a:r>
            <a:r>
              <a:rPr sz="780" i="1">
                <a:solidFill>
                  <a:srgbClr val="1E2430"/>
                </a:solidFill>
                <a:latin typeface="Calibri"/>
              </a:rPr>
              <a:t>Scientific Data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13, Art. no. 361, 2026.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[40]	</a:t>
            </a:r>
            <a:r>
              <a:rPr sz="780" i="0">
                <a:solidFill>
                  <a:srgbClr val="1E2430"/>
                </a:solidFill>
                <a:latin typeface="Calibri"/>
              </a:rPr>
              <a:t>S. Khan, M. Naseer, M. Hayat, S. W. Zamir, F. S. Khan, and M. Shah, “Transformers in vision: A survey,” </a:t>
            </a:r>
            <a:r>
              <a:rPr sz="780" i="1">
                <a:solidFill>
                  <a:srgbClr val="1E2430"/>
                </a:solidFill>
                <a:latin typeface="Calibri"/>
              </a:rPr>
              <a:t>ACM Computing Surveys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54, no. 10s, pp. 1–41, 2022.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[41]	</a:t>
            </a:r>
            <a:r>
              <a:rPr sz="780" i="0">
                <a:solidFill>
                  <a:srgbClr val="1E2430"/>
                </a:solidFill>
                <a:latin typeface="Calibri"/>
              </a:rPr>
              <a:t>F. Shamshad et al., “Transformers in medical imaging: A survey,” </a:t>
            </a:r>
            <a:r>
              <a:rPr sz="780" i="1">
                <a:solidFill>
                  <a:srgbClr val="1E2430"/>
                </a:solidFill>
                <a:latin typeface="Calibri"/>
              </a:rPr>
              <a:t>Medical Image Analysis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88, Art. no. 102802, 2023.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[42]	</a:t>
            </a:r>
            <a:r>
              <a:rPr sz="780" i="0">
                <a:solidFill>
                  <a:srgbClr val="1E2430"/>
                </a:solidFill>
                <a:latin typeface="Calibri"/>
              </a:rPr>
              <a:t>R. Geirhos et al., “Shortcut learning in deep neural networks,” </a:t>
            </a:r>
            <a:r>
              <a:rPr sz="780" i="1">
                <a:solidFill>
                  <a:srgbClr val="1E2430"/>
                </a:solidFill>
                <a:latin typeface="Calibri"/>
              </a:rPr>
              <a:t>Nature Machine Intelligence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2, no. 11, pp. 665–673, 2020.</a:t>
            </a:r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object 2">
            <a:extLst>
              <a:ext uri="{FF2B5EF4-FFF2-40B4-BE49-F238E27FC236}">
                <a16:creationId xmlns:a16="http://schemas.microsoft.com/office/drawing/2014/main" xmlns="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6400800" cy="621792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/>
          <a:p>
            <a:pPr algn="l"/>
            <a:r>
              <a:rPr sz="2800" b="1">
                <a:solidFill>
                  <a:srgbClr val="1E2430"/>
                </a:solidFill>
                <a:latin typeface="Times New Roman"/>
              </a:rPr>
              <a:t>Backbones, Training and Evaluation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000">
                <a:solidFill>
                  <a:srgbClr val="8A929C"/>
                </a:solidFill>
                <a:latin typeface="Calibri"/>
                <a:cs typeface="Calibri"/>
              </a:rPr>
              <a:t>28/10/26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z="1000">
                <a:solidFill>
                  <a:srgbClr val="8A929C"/>
                </a:solidFill>
                <a:latin typeface="Calibri"/>
                <a:cs typeface="Calibri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 sz="1000">
                <a:solidFill>
                  <a:srgbClr val="8A929C"/>
                </a:solidFill>
                <a:latin typeface="Calibri"/>
                <a:cs typeface="Calibri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68312" y="54864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472"/>
                </a:solidFill>
                <a:latin typeface="Calibri"/>
              </a:rPr>
              <a:t>Experiments and Results: Paper 1 (2D)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34440"/>
          <a:ext cx="6720840" cy="31089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97480"/>
                <a:gridCol w="914400"/>
                <a:gridCol w="822960"/>
                <a:gridCol w="685800"/>
                <a:gridCol w="868680"/>
                <a:gridCol w="73152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Backbone</a:t>
                      </a:r>
                    </a:p>
                  </a:txBody>
                  <a:tcPr marL="64008" marR="64008" marT="27432" marB="27432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marL="64008" marR="64008" marT="27432" marB="27432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Params (M)</a:t>
                      </a:r>
                    </a:p>
                  </a:txBody>
                  <a:tcPr marL="64008" marR="64008" marT="27432" marB="27432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GFLOPs</a:t>
                      </a:r>
                    </a:p>
                  </a:txBody>
                  <a:tcPr marL="64008" marR="64008" marT="27432" marB="27432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Latency (ms)</a:t>
                      </a:r>
                    </a:p>
                  </a:txBody>
                  <a:tcPr marL="64008" marR="64008" marT="27432" marB="27432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Images/s</a:t>
                      </a:r>
                    </a:p>
                  </a:txBody>
                  <a:tcPr marL="64008" marR="64008" marT="27432" marB="27432" anchor="ctr">
                    <a:solidFill>
                      <a:srgbClr val="1F3A6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ResNet50 [16]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CNN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23.51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8.17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9.57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777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VGG16 [22]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CNN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134.26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30.93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7.72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387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DenseNet121 [24]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CNN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6.95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5.67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23.58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657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EfficientNetB0 [58]</a:t>
                      </a:r>
                    </a:p>
                  </a:txBody>
                  <a:tcPr marL="64008" marR="64008" marT="27432" marB="27432" anchor="ctr">
                    <a:solidFill>
                      <a:srgbClr val="E6EB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CNN</a:t>
                      </a:r>
                    </a:p>
                  </a:txBody>
                  <a:tcPr marL="64008" marR="64008" marT="27432" marB="27432" anchor="ctr">
                    <a:solidFill>
                      <a:srgbClr val="E6EB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4.01</a:t>
                      </a:r>
                    </a:p>
                  </a:txBody>
                  <a:tcPr marL="64008" marR="64008" marT="27432" marB="27432" anchor="ctr">
                    <a:solidFill>
                      <a:srgbClr val="E6EB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0.77</a:t>
                      </a:r>
                    </a:p>
                  </a:txBody>
                  <a:tcPr marL="64008" marR="64008" marT="27432" marB="27432" anchor="ctr">
                    <a:solidFill>
                      <a:srgbClr val="E6EB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13.13</a:t>
                      </a:r>
                    </a:p>
                  </a:txBody>
                  <a:tcPr marL="64008" marR="64008" marT="27432" marB="27432" anchor="ctr">
                    <a:solidFill>
                      <a:srgbClr val="E6EB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1,393</a:t>
                      </a:r>
                    </a:p>
                  </a:txBody>
                  <a:tcPr marL="64008" marR="64008" marT="27432" marB="27432" anchor="ctr">
                    <a:solidFill>
                      <a:srgbClr val="E6EBF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MobileNetV3-Large [59, 60]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CNN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4.20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0.43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10.55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2,301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InceptionV3 [23]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CNN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21.79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11.42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17.63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512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ViT-B/16 [28, 61]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Transformer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85.80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22.54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10.95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272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Swin-Base [29]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Transformer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86.74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30.86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36.29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198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CoAtNet-0 [62]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Hybrid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26.67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8.42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16.53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513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572000"/>
            <a:ext cx="6720840" cy="11765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1E2430"/>
                </a:solidFill>
                <a:latin typeface="Calibri"/>
              </a:rPr>
              <a:t>CNNs stack learned convolutional filters [63, 64]; transformers relate all image patches through self-attention. All models are ImageNet-pretrained [65, 66] torchvision or timm models in PyTorch [67], with a one-output (detection) or three-output (subtype) head.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1E2430"/>
                </a:solidFill>
                <a:latin typeface="Calibri"/>
              </a:rPr>
              <a:t>Cost was measured on one Tesla T4 in half precision: latency at batch size 1, throughput at batch size 32. </a:t>
            </a:r>
            <a:r>
              <a:rPr sz="1100" b="1" i="0">
                <a:solidFill>
                  <a:srgbClr val="1E2430"/>
                </a:solidFill>
                <a:latin typeface="Calibri"/>
              </a:rPr>
              <a:t>It spans two orders of magnitude</a:t>
            </a:r>
            <a:r>
              <a:rPr sz="1100" b="0" i="0">
                <a:solidFill>
                  <a:srgbClr val="1E2430"/>
                </a:solidFill>
                <a:latin typeface="Calibri"/>
              </a:rPr>
              <a:t> (0.43 to 30.93 GFLOPs) while detection accuracy spans 2.34 points, and latency does not follow size: VGG16 (134 M parameters) takes 7.7 ms, DenseNet121 (6.95 M) 23.6 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234440"/>
            <a:ext cx="4142232" cy="205892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62671" y="1399032"/>
            <a:ext cx="3813048" cy="1729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F3A68"/>
                </a:solidFill>
                <a:latin typeface="Calibri"/>
              </a:rPr>
              <a:t>Identical training: 54 runs per task</a:t>
            </a:r>
          </a:p>
          <a:p>
            <a:pPr algn="l" marL="180594" indent="-180594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100" b="0" i="0">
                <a:solidFill>
                  <a:srgbClr val="1E2430"/>
                </a:solidFill>
                <a:latin typeface="Calibri"/>
              </a:rPr>
              <a:t>AdamW [68], learning rate 3×10⁻⁴, weight decay 0.01</a:t>
            </a:r>
          </a:p>
          <a:p>
            <a:pPr algn="l" marL="180594" indent="-180594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100" b="0" i="0">
                <a:solidFill>
                  <a:srgbClr val="1E2430"/>
                </a:solidFill>
                <a:latin typeface="Calibri"/>
              </a:rPr>
              <a:t>20 epochs; effective batch 64 by gradient accumulation, so every model takes the same optimiser steps</a:t>
            </a:r>
          </a:p>
          <a:p>
            <a:pPr algn="l" marL="180594" indent="-180594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100" b="0" i="0">
                <a:solidFill>
                  <a:srgbClr val="1E2430"/>
                </a:solidFill>
                <a:latin typeface="Calibri"/>
              </a:rPr>
              <a:t>One-epoch warm-up and cosine decay [69]; half precision [70]; gradient clipping at 1.0 [71]</a:t>
            </a:r>
          </a:p>
          <a:p>
            <a:pPr algn="l" marL="180594" indent="-180594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100" b="0" i="0">
                <a:solidFill>
                  <a:srgbClr val="1E2430"/>
                </a:solidFill>
                <a:latin typeface="Calibri"/>
              </a:rPr>
              <a:t>Flip, ±10° rotation, ±20% brightness and contrast; checkpoint at the lowest validation log-loss [72]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3521964"/>
            <a:ext cx="4142232" cy="222656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62671" y="3686556"/>
            <a:ext cx="3813048" cy="1897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F3A68"/>
                </a:solidFill>
                <a:latin typeface="Calibri"/>
              </a:rPr>
              <a:t>Evaluation protocol</a:t>
            </a:r>
          </a:p>
          <a:p>
            <a:pPr algn="l" marL="180594" indent="-180594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100" b="0" i="0">
                <a:solidFill>
                  <a:srgbClr val="1E2430"/>
                </a:solidFill>
                <a:latin typeface="Calibri"/>
              </a:rPr>
              <a:t>Temperature scaling [73] and Youden threshold [74] fitted on each validation fold</a:t>
            </a:r>
          </a:p>
          <a:p>
            <a:pPr algn="l" marL="180594" indent="-180594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100" b="0" i="0">
                <a:solidFill>
                  <a:srgbClr val="1E2430"/>
                </a:solidFill>
                <a:latin typeface="Calibri"/>
              </a:rPr>
              <a:t>Five fold models averaged into one fold-ensemble prediction per test image</a:t>
            </a:r>
          </a:p>
          <a:p>
            <a:pPr algn="l" marL="180594" indent="-180594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100" b="0" i="0">
                <a:solidFill>
                  <a:srgbClr val="1E2430"/>
                </a:solidFill>
                <a:latin typeface="Calibri"/>
              </a:rPr>
              <a:t>Accuracy, macro F1, AUC [75, 76], MCC [77, 78] and ECE with 15 bins [79]</a:t>
            </a:r>
          </a:p>
          <a:p>
            <a:pPr algn="l" marL="180594" indent="-180594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100" b="0" i="0">
                <a:solidFill>
                  <a:srgbClr val="1E2430"/>
                </a:solidFill>
                <a:latin typeface="Calibri"/>
              </a:rPr>
              <a:t>Bootstrap 95% CIs from 2,000 resamples [80]; exact McNemar tests [81], Holm-corrected over 36 pairs [82]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object 2">
            <a:extLst>
              <a:ext uri="{FF2B5EF4-FFF2-40B4-BE49-F238E27FC236}">
                <a16:creationId xmlns:a16="http://schemas.microsoft.com/office/drawing/2014/main" xmlns="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6400800" cy="621792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/>
          <a:p>
            <a:pPr algn="l"/>
            <a:r>
              <a:rPr sz="2800" b="1">
                <a:solidFill>
                  <a:srgbClr val="1E2430"/>
                </a:solidFill>
                <a:latin typeface="Times New Roman"/>
              </a:rPr>
              <a:t>Detection and Subtype Results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000">
                <a:solidFill>
                  <a:srgbClr val="8A929C"/>
                </a:solidFill>
                <a:latin typeface="Calibri"/>
                <a:cs typeface="Calibri"/>
              </a:rPr>
              <a:t>28/10/26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z="1000">
                <a:solidFill>
                  <a:srgbClr val="8A929C"/>
                </a:solidFill>
                <a:latin typeface="Calibri"/>
                <a:cs typeface="Calibri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 sz="1000">
                <a:solidFill>
                  <a:srgbClr val="8A929C"/>
                </a:solidFill>
                <a:latin typeface="Calibri"/>
                <a:cs typeface="Calibri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68312" y="54864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472"/>
                </a:solidFill>
                <a:latin typeface="Calibri"/>
              </a:rPr>
              <a:t>Experiments and Results: Paper 1 (2D)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234440"/>
          <a:ext cx="566928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4572000"/>
            <a:ext cx="128016" cy="128016"/>
          </a:xfrm>
          <a:prstGeom prst="rect">
            <a:avLst/>
          </a:prstGeom>
          <a:solidFill>
            <a:srgbClr val="1F3A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4526280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B6472"/>
                </a:solidFill>
                <a:latin typeface="Calibri"/>
              </a:rPr>
              <a:t>CNN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64463" y="4572000"/>
            <a:ext cx="128016" cy="128016"/>
          </a:xfrm>
          <a:prstGeom prst="rect">
            <a:avLst/>
          </a:prstGeom>
          <a:solidFill>
            <a:srgbClr val="B453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65630" y="4526280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B6472"/>
                </a:solidFill>
                <a:latin typeface="Calibri"/>
              </a:rPr>
              <a:t>Transformer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99690" y="4572000"/>
            <a:ext cx="128016" cy="128016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00859" y="4526280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B6472"/>
                </a:solidFill>
                <a:latin typeface="Calibri"/>
              </a:rPr>
              <a:t>Hybrid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92040"/>
            <a:ext cx="566928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80594" indent="-180594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100" b="0" i="0">
                <a:solidFill>
                  <a:srgbClr val="1E2430"/>
                </a:solidFill>
                <a:latin typeface="Calibri"/>
              </a:rPr>
              <a:t>CoAtNet-0 missed one tumour; EfficientNetB0 and ViT-B/16 detected all 107 tumours and raised one false alarm.</a:t>
            </a:r>
          </a:p>
          <a:p>
            <a:pPr algn="l" marL="180594" indent="-180594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100" b="0" i="0">
                <a:solidFill>
                  <a:srgbClr val="1E2430"/>
                </a:solidFill>
                <a:latin typeface="Calibri"/>
              </a:rPr>
              <a:t>Every AUC lies between 0.9974 and 0.9997; the fold-to-fold standard deviation of accuracy, 0.32 to 2.20 points, matches the gaps between backbones.</a:t>
            </a:r>
          </a:p>
          <a:p>
            <a:pPr algn="l" marL="180594" indent="-180594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100" b="0" i="0">
                <a:solidFill>
                  <a:srgbClr val="1E2430"/>
                </a:solidFill>
                <a:latin typeface="Calibri"/>
              </a:rPr>
              <a:t>On the test images furthest from development (Hamming 17 to 20), every model is correct.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1234440"/>
            <a:ext cx="1609344" cy="10515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1362456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1F3A68"/>
                </a:solidFill>
                <a:latin typeface="Calibri"/>
              </a:rPr>
              <a:t>99.42%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1856232"/>
            <a:ext cx="1280160" cy="265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best accuracy, 95% CI 98.25 to 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38744" y="1234440"/>
            <a:ext cx="1609344" cy="10515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3336" y="1362456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1F3A68"/>
                </a:solidFill>
                <a:latin typeface="Calibri"/>
              </a:rPr>
              <a:t>0 of 36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3336" y="1856232"/>
            <a:ext cx="1280160" cy="265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model pairs significant after Holm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30967" y="1234440"/>
            <a:ext cx="1609344" cy="105156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95559" y="1362456"/>
            <a:ext cx="128016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1F3A68"/>
                </a:solidFill>
                <a:latin typeface="Calibri"/>
              </a:rPr>
              <a:t>4.01 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95559" y="1856232"/>
            <a:ext cx="1280160" cy="2651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parameters in EfficientNetB0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446520" y="2514600"/>
          <a:ext cx="5193792" cy="126187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514600"/>
                <a:gridCol w="1188720"/>
                <a:gridCol w="731520"/>
                <a:gridCol w="758952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Subtype (45 test images)</a:t>
                      </a:r>
                    </a:p>
                  </a:txBody>
                  <a:tcPr marL="64008" marR="64008" marT="27432" marB="27432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Accuracy [95% CI]</a:t>
                      </a:r>
                    </a:p>
                  </a:txBody>
                  <a:tcPr marL="64008" marR="64008" marT="27432" marB="27432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Macro F1</a:t>
                      </a:r>
                    </a:p>
                  </a:txBody>
                  <a:tcPr marL="64008" marR="64008" marT="27432" marB="27432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MCC</a:t>
                      </a:r>
                    </a:p>
                  </a:txBody>
                  <a:tcPr marL="64008" marR="64008" marT="27432" marB="27432" anchor="ctr">
                    <a:solidFill>
                      <a:srgbClr val="1F3A68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ResNet50, DenseNet121, InceptionV3, ViT-B/16, Swin-Base, CoAtNet-0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100 [100, 100]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1.0000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VGG16, EfficientNetB0, MobileNetV3-Large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97.78 [93.33, 100]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87.56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0.9515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446520" y="3886200"/>
            <a:ext cx="5193792" cy="373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B6472"/>
                </a:solidFill>
                <a:latin typeface="Calibri"/>
              </a:rPr>
              <a:t>The single subtype error is a meningioma predicted as glioma; with one glioma among 45 test images, this test set cannot rank the models.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4488688"/>
            <a:ext cx="5193792" cy="1683512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1112" y="4653280"/>
            <a:ext cx="4864608" cy="13543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F3A68"/>
                </a:solidFill>
                <a:latin typeface="Calibri"/>
              </a:rPr>
              <a:t>Calibration</a:t>
            </a:r>
          </a:p>
          <a:p>
            <a:pPr algn="l" marL="180594" indent="-180594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100" b="0" i="0">
                <a:solidFill>
                  <a:srgbClr val="1E2430"/>
                </a:solidFill>
                <a:latin typeface="Calibri"/>
              </a:rPr>
              <a:t>ECE is 0.0146 to 0.0326 (detection) and 0.0044 to 0.0371 (subtype).</a:t>
            </a:r>
          </a:p>
          <a:p>
            <a:pPr algn="l" marL="180594" indent="-180594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100" b="0" i="0">
                <a:solidFill>
                  <a:srgbClr val="1E2430"/>
                </a:solidFill>
                <a:latin typeface="Calibri"/>
              </a:rPr>
              <a:t>Temperature scaling lowered ECE only for ResNet50 and ViT-B/16 (detection) and CoAtNet-0 (subtype).</a:t>
            </a:r>
          </a:p>
          <a:p>
            <a:pPr algn="l" marL="180594" indent="-180594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100" b="0" i="0">
                <a:solidFill>
                  <a:srgbClr val="1E2430"/>
                </a:solidFill>
                <a:latin typeface="Calibri"/>
              </a:rPr>
              <a:t>Near-separable validation folds push the fitted temperature to its lower bound, e⁻³ ≈ 0.0498, which sharpens the test probabilities.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object 2">
            <a:extLst>
              <a:ext uri="{FF2B5EF4-FFF2-40B4-BE49-F238E27FC236}">
                <a16:creationId xmlns:a16="http://schemas.microsoft.com/office/drawing/2014/main" xmlns="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6400800" cy="621792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/>
          <a:p>
            <a:pPr algn="l"/>
            <a:r>
              <a:rPr sz="2800" b="1">
                <a:solidFill>
                  <a:srgbClr val="1E2430"/>
                </a:solidFill>
                <a:latin typeface="Times New Roman"/>
              </a:rPr>
              <a:t>Interpretability and Shortcut Audit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000">
                <a:solidFill>
                  <a:srgbClr val="8A929C"/>
                </a:solidFill>
                <a:latin typeface="Calibri"/>
                <a:cs typeface="Calibri"/>
              </a:rPr>
              <a:t>28/10/26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z="1000">
                <a:solidFill>
                  <a:srgbClr val="8A929C"/>
                </a:solidFill>
                <a:latin typeface="Calibri"/>
                <a:cs typeface="Calibri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 sz="1000">
                <a:solidFill>
                  <a:srgbClr val="8A929C"/>
                </a:solidFill>
                <a:latin typeface="Calibri"/>
                <a:cs typeface="Calibri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68312" y="54864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472"/>
                </a:solidFill>
                <a:latin typeface="Calibri"/>
              </a:rPr>
              <a:t>Experiments and Results: Paper 1 (2D)</a:t>
            </a:r>
          </a:p>
        </p:txBody>
      </p:sp>
      <p:pic>
        <p:nvPicPr>
          <p:cNvPr id="8" name="Picture 7" descr="13_gradcam_efficientnetb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7498079" cy="202480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75319" y="1234440"/>
            <a:ext cx="3364992" cy="2024809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39911" y="1399032"/>
            <a:ext cx="3035808" cy="16956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F3A68"/>
                </a:solidFill>
                <a:latin typeface="Calibri"/>
              </a:rPr>
              <a:t>Where the models look</a:t>
            </a:r>
          </a:p>
          <a:p>
            <a:pPr algn="l" marL="180594" indent="-180594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100" b="0" i="0">
                <a:solidFill>
                  <a:srgbClr val="1E2430"/>
                </a:solidFill>
                <a:latin typeface="Calibri"/>
              </a:rPr>
              <a:t>Grad-CAM [83]: correct tumour predictions peak on the lesion; a missed temporal lesion peaks at the lower border</a:t>
            </a:r>
          </a:p>
          <a:p>
            <a:pPr algn="l" marL="180594" indent="-180594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100" b="0" i="0">
                <a:solidFill>
                  <a:srgbClr val="1E2430"/>
                </a:solidFill>
                <a:latin typeface="Calibri"/>
              </a:rPr>
              <a:t>ViT-B/16 attention rollout [84] puts 42.1% of its weight outside the head on tumour-negative images</a:t>
            </a:r>
          </a:p>
          <a:p>
            <a:pPr algn="l" marL="180594" indent="-180594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100" b="0" i="0">
                <a:solidFill>
                  <a:srgbClr val="1E2430"/>
                </a:solidFill>
                <a:latin typeface="Calibri"/>
              </a:rPr>
              <a:t>Occlusion sensitivity [85] outside the head: 0.7% to 19.4% (detection)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548640" y="3487849"/>
          <a:ext cx="7498079" cy="268435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Rectangle 11"/>
          <p:cNvSpPr/>
          <p:nvPr/>
        </p:nvSpPr>
        <p:spPr>
          <a:xfrm>
            <a:off x="8275319" y="3487849"/>
            <a:ext cx="3364992" cy="268435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911" y="3652441"/>
            <a:ext cx="3035808" cy="23551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F3A68"/>
                </a:solidFill>
                <a:latin typeface="Calibri"/>
              </a:rPr>
              <a:t>Masking and shortcut findings</a:t>
            </a:r>
          </a:p>
          <a:p>
            <a:pPr algn="l" marL="180594" indent="-180594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100" b="0" i="0">
                <a:solidFill>
                  <a:srgbClr val="1E2430"/>
                </a:solidFill>
                <a:latin typeface="Calibri"/>
              </a:rPr>
              <a:t>Head-only inputs (Otsu head mask [86]) keep 93.7% to 96.8% (detection) and 94.2% to 99.6% (subtype) accuracy</a:t>
            </a:r>
          </a:p>
          <a:p>
            <a:pPr algn="l" marL="180594" indent="-180594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100" b="0" i="0">
                <a:solidFill>
                  <a:srgbClr val="1E2430"/>
                </a:solidFill>
                <a:latin typeface="Calibri"/>
              </a:rPr>
              <a:t>Without the head: 44.4% to 53.3% (detection; InceptionV3 65.7%) and 11.6% to 33.8% (subtype)</a:t>
            </a:r>
          </a:p>
          <a:p>
            <a:pPr algn="l" marL="180594" indent="-180594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100" b="0" i="0">
                <a:solidFill>
                  <a:srgbClr val="1E2430"/>
                </a:solidFill>
                <a:latin typeface="Calibri"/>
              </a:rPr>
              <a:t>Retrained on background only, 7 of 9 detection and 9 of 9 subtype backbones beat the majority-class rate (binomial test, Holm) [42]; grey bars are not significant</a:t>
            </a:r>
          </a:p>
          <a:p>
            <a:pPr algn="l" marL="180594" indent="-180594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100" b="1" i="0">
                <a:solidFill>
                  <a:srgbClr val="1E2430"/>
                </a:solidFill>
                <a:latin typeface="Calibri"/>
              </a:rPr>
              <a:t>Borders and framing carry label information, so high accuracy on these collections does not prove that pathology was learned.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object 2">
            <a:extLst>
              <a:ext uri="{FF2B5EF4-FFF2-40B4-BE49-F238E27FC236}">
                <a16:creationId xmlns:a16="http://schemas.microsoft.com/office/drawing/2014/main" xmlns="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6400800" cy="621792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/>
          <a:p>
            <a:pPr algn="l"/>
            <a:r>
              <a:rPr sz="2800" b="1">
                <a:solidFill>
                  <a:srgbClr val="1E2430"/>
                </a:solidFill>
                <a:latin typeface="Times New Roman"/>
              </a:rPr>
              <a:t>BraTS 2020 Data and 3D Architectures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000">
                <a:solidFill>
                  <a:srgbClr val="8A929C"/>
                </a:solidFill>
                <a:latin typeface="Calibri"/>
                <a:cs typeface="Calibri"/>
              </a:rPr>
              <a:t>28/10/26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z="1000">
                <a:solidFill>
                  <a:srgbClr val="8A929C"/>
                </a:solidFill>
                <a:latin typeface="Calibri"/>
                <a:cs typeface="Calibri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 sz="1000">
                <a:solidFill>
                  <a:srgbClr val="8A929C"/>
                </a:solidFill>
                <a:latin typeface="Calibri"/>
                <a:cs typeface="Calibri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68312" y="54864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472"/>
                </a:solidFill>
                <a:latin typeface="Calibri"/>
              </a:rPr>
              <a:t>Experiments and Results: Paper 2 (3D)</a:t>
            </a:r>
          </a:p>
        </p:txBody>
      </p:sp>
      <p:pic>
        <p:nvPicPr>
          <p:cNvPr id="8" name="Picture 7" descr="02_modalities_and_mas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4343400" cy="22033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3666402"/>
            <a:ext cx="4343400" cy="25057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 marL="180594" indent="-180594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100" b="0" i="0">
                <a:solidFill>
                  <a:srgbClr val="1E2430"/>
                </a:solidFill>
                <a:latin typeface="Calibri"/>
              </a:rPr>
              <a:t>BraTS 2020 [2, 87, 88]: 369 cases (293 HGG, 76 LGG) with FLAIR, T1, T1CE and T2</a:t>
            </a:r>
          </a:p>
          <a:p>
            <a:pPr algn="l" marL="180594" indent="-180594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100" b="0" i="0">
                <a:solidFill>
                  <a:srgbClr val="1E2430"/>
                </a:solidFill>
                <a:latin typeface="Calibri"/>
              </a:rPr>
              <a:t>Labels 1, 2 and 4 give nested regions: WT (all labels), TC (1 and 4), ET (4)</a:t>
            </a:r>
          </a:p>
          <a:p>
            <a:pPr algn="l" marL="180594" indent="-180594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100" b="0" i="0">
                <a:solidFill>
                  <a:srgbClr val="1E2430"/>
                </a:solidFill>
                <a:latin typeface="Calibri"/>
              </a:rPr>
              <a:t>Median ET volume 0.82 cm³ in LGG vs 19.46 cm³ in HGG; 27 of 76 LGG cases have no ET</a:t>
            </a:r>
          </a:p>
          <a:p>
            <a:pPr algn="l" marL="180594" indent="-180594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100" b="0" i="0">
                <a:solidFill>
                  <a:srgbClr val="1E2430"/>
                </a:solidFill>
                <a:latin typeface="Calibri"/>
              </a:rPr>
              <a:t>Foreground z-score per sequence; 240×240×155 resampled to 128³ (trilinear; masks nearest); flips, intensity scale 0.9 to 1.1 and shift ±0.1</a:t>
            </a:r>
          </a:p>
          <a:p>
            <a:pPr algn="l" marL="180594" indent="-180594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100" b="0" i="0">
                <a:solidFill>
                  <a:srgbClr val="1E2430"/>
                </a:solidFill>
                <a:latin typeface="Calibri"/>
              </a:rPr>
              <a:t>Grade-stratified split with seed 42: 257 training, 56 validation, 56 test (44 HGG, 12 LGG)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120640" y="1234440"/>
          <a:ext cx="6519671" cy="268833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74519"/>
                <a:gridCol w="868680"/>
                <a:gridCol w="2331720"/>
                <a:gridCol w="713232"/>
                <a:gridCol w="73152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64008" marR="64008" marT="27432" marB="27432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64008" marR="64008" marT="27432" marB="27432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Design</a:t>
                      </a:r>
                    </a:p>
                  </a:txBody>
                  <a:tcPr marL="64008" marR="64008" marT="27432" marB="27432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Params (M)</a:t>
                      </a:r>
                    </a:p>
                  </a:txBody>
                  <a:tcPr marL="64008" marR="64008" marT="27432" marB="27432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GFLOPs</a:t>
                      </a:r>
                    </a:p>
                  </a:txBody>
                  <a:tcPr marL="64008" marR="64008" marT="27432" marB="27432" anchor="ctr">
                    <a:solidFill>
                      <a:srgbClr val="1F3A6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UNet [30, 31]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CNN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Four levels, 32 to 256 channels, LeakyReLU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5.60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907.0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nnU-Net-style [33]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CNN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Five stages, 32 to 320 channels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16.55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956.3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VNet [32]</a:t>
                      </a:r>
                    </a:p>
                  </a:txBody>
                  <a:tcPr marL="64008" marR="64008" marT="27432" marB="27432" anchor="ctr">
                    <a:solidFill>
                      <a:srgbClr val="E6EB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CNN</a:t>
                      </a:r>
                    </a:p>
                  </a:txBody>
                  <a:tcPr marL="64008" marR="64008" marT="27432" marB="27432" anchor="ctr">
                    <a:solidFill>
                      <a:srgbClr val="E6EB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Residual blocks, 16 to 128 channels, PReLU</a:t>
                      </a:r>
                    </a:p>
                  </a:txBody>
                  <a:tcPr marL="64008" marR="64008" marT="27432" marB="27432" anchor="ctr">
                    <a:solidFill>
                      <a:srgbClr val="E6EB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1.40</a:t>
                      </a:r>
                    </a:p>
                  </a:txBody>
                  <a:tcPr marL="64008" marR="64008" marT="27432" marB="27432" anchor="ctr">
                    <a:solidFill>
                      <a:srgbClr val="E6EB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149.9</a:t>
                      </a:r>
                    </a:p>
                  </a:txBody>
                  <a:tcPr marL="64008" marR="64008" marT="27432" marB="27432" anchor="ctr">
                    <a:solidFill>
                      <a:srgbClr val="E6EB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UNETR [34]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Transformer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ViT-Base on 16³ patches: 512 tokens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137.60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1,761.7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Swin UNETR [35]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Transformer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Swin encoder, 2³ patches, 7³ windows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10.52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797.1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TransBTS [36]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Hybrid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CNN encoder, 4 transformer layers on 8³ tokens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35.81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E2430"/>
                          </a:solidFill>
                          <a:latin typeface="Calibri"/>
                        </a:rPr>
                        <a:t>996.2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120640" y="4151376"/>
            <a:ext cx="6519672" cy="1863343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85231" y="4315968"/>
            <a:ext cx="6190488" cy="15341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F3A68"/>
                </a:solidFill>
                <a:latin typeface="Calibri"/>
              </a:rPr>
              <a:t>Identical budget: 50 epochs, effective batch 4, 3,250 optimiser steps</a:t>
            </a:r>
          </a:p>
          <a:p>
            <a:pPr algn="l" marL="180594" indent="-180594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100" b="0" i="0">
                <a:solidFill>
                  <a:srgbClr val="1E2430"/>
                </a:solidFill>
                <a:latin typeface="Calibri"/>
              </a:rPr>
              <a:t>Loss per region: soft Dice plus binary cross-entropy, with deep supervision in UNet, nnU-Net-style, VNet and TransBTS</a:t>
            </a:r>
          </a:p>
          <a:p>
            <a:pPr algn="l" marL="180594" indent="-180594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100" b="0" i="0">
                <a:solidFill>
                  <a:srgbClr val="1E2430"/>
                </a:solidFill>
                <a:latin typeface="Calibri"/>
              </a:rPr>
              <a:t>CNNs: SGD with Nesterov momentum 0.99, learning rate 0.01, polynomial decay (power 0.9)</a:t>
            </a:r>
          </a:p>
          <a:p>
            <a:pPr algn="l" marL="180594" indent="-180594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100" b="0" i="0">
                <a:solidFill>
                  <a:srgbClr val="1E2430"/>
                </a:solidFill>
                <a:latin typeface="Calibri"/>
              </a:rPr>
              <a:t>Transformer-based models: AdamW, learning rate 10⁻⁴, three-epoch warm-up, cosine decay</a:t>
            </a:r>
          </a:p>
          <a:p>
            <a:pPr algn="l" marL="180594" indent="-180594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100" b="0" i="0">
                <a:solidFill>
                  <a:srgbClr val="1E2430"/>
                </a:solidFill>
                <a:latin typeface="Calibri"/>
              </a:rPr>
              <a:t>Half precision, clipping at 1.0; gradient checkpointing for UNETR and Swin UNETR</a:t>
            </a:r>
          </a:p>
          <a:p>
            <a:pPr algn="l" marL="180594" indent="-180594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100" b="0" i="0">
                <a:solidFill>
                  <a:srgbClr val="1E2430"/>
                </a:solidFill>
                <a:latin typeface="Calibri"/>
              </a:rPr>
              <a:t>Checkpoint at the best validation mean Dice; 515 minutes of training on two Tesla T4 GPUs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object 2">
            <a:extLst>
              <a:ext uri="{FF2B5EF4-FFF2-40B4-BE49-F238E27FC236}">
                <a16:creationId xmlns:a16="http://schemas.microsoft.com/office/drawing/2014/main" xmlns="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6400800" cy="621792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/>
          <a:p>
            <a:pPr algn="l"/>
            <a:r>
              <a:rPr sz="2800" b="1">
                <a:solidFill>
                  <a:srgbClr val="1E2430"/>
                </a:solidFill>
                <a:latin typeface="Times New Roman"/>
              </a:rPr>
              <a:t>3D Segmentation Test Results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000">
                <a:solidFill>
                  <a:srgbClr val="8A929C"/>
                </a:solidFill>
                <a:latin typeface="Calibri"/>
                <a:cs typeface="Calibri"/>
              </a:rPr>
              <a:t>28/10/26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z="1000">
                <a:solidFill>
                  <a:srgbClr val="8A929C"/>
                </a:solidFill>
                <a:latin typeface="Calibri"/>
                <a:cs typeface="Calibri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 sz="1000">
                <a:solidFill>
                  <a:srgbClr val="8A929C"/>
                </a:solidFill>
                <a:latin typeface="Calibri"/>
                <a:cs typeface="Calibri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68312" y="54864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472"/>
                </a:solidFill>
                <a:latin typeface="Calibri"/>
              </a:rPr>
              <a:t>Experiments and Results: Paper 2 (3D)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234440"/>
          <a:ext cx="7452360" cy="211226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34440"/>
                <a:gridCol w="914400"/>
                <a:gridCol w="1783080"/>
                <a:gridCol w="603504"/>
                <a:gridCol w="603504"/>
                <a:gridCol w="603504"/>
                <a:gridCol w="978408"/>
                <a:gridCol w="731520"/>
              </a:tblGrid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64008" marR="64008" marT="27432" marB="27432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64008" marR="64008" marT="27432" marB="27432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Mean Dice [95% CI]</a:t>
                      </a:r>
                    </a:p>
                  </a:txBody>
                  <a:tcPr marL="64008" marR="64008" marT="27432" marB="27432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WT</a:t>
                      </a:r>
                    </a:p>
                  </a:txBody>
                  <a:tcPr marL="64008" marR="64008" marT="27432" marB="27432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TC</a:t>
                      </a:r>
                    </a:p>
                  </a:txBody>
                  <a:tcPr marL="64008" marR="64008" marT="27432" marB="27432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ET</a:t>
                      </a:r>
                    </a:p>
                  </a:txBody>
                  <a:tcPr marL="64008" marR="64008" marT="27432" marB="27432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HD95 TC (mm)</a:t>
                      </a:r>
                    </a:p>
                  </a:txBody>
                  <a:tcPr marL="64008" marR="64008" marT="27432" marB="27432" anchor="ctr">
                    <a:solidFill>
                      <a:srgbClr val="1F3A6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Calibri"/>
                        </a:rPr>
                        <a:t>ET sens.</a:t>
                      </a:r>
                    </a:p>
                  </a:txBody>
                  <a:tcPr marL="64008" marR="64008" marT="27432" marB="27432" anchor="ctr">
                    <a:solidFill>
                      <a:srgbClr val="1F3A68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E2430"/>
                          </a:solidFill>
                          <a:latin typeface="Calibri"/>
                        </a:rPr>
                        <a:t>UNet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1E2430"/>
                          </a:solidFill>
                          <a:latin typeface="Calibri"/>
                        </a:rPr>
                        <a:t>CNN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E2430"/>
                          </a:solidFill>
                          <a:latin typeface="Calibri"/>
                        </a:rPr>
                        <a:t>0.8199 [0.7826, 0.8533]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E2430"/>
                          </a:solidFill>
                          <a:latin typeface="Calibri"/>
                        </a:rPr>
                        <a:t>0.9012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E2430"/>
                          </a:solidFill>
                          <a:latin typeface="Calibri"/>
                        </a:rPr>
                        <a:t>0.8300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E2430"/>
                          </a:solidFill>
                          <a:latin typeface="Calibri"/>
                        </a:rPr>
                        <a:t>0.7286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E2430"/>
                          </a:solidFill>
                          <a:latin typeface="Calibri"/>
                        </a:rPr>
                        <a:t>3.24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1E2430"/>
                          </a:solidFill>
                          <a:latin typeface="Calibri"/>
                        </a:rPr>
                        <a:t>0.8486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nnU-Net-style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CNN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0.8192 [0.7837, 0.8511]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0.9002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0.8309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0.7264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3.46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0.8538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VNet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CNN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0.7965 [0.7497, 0.8340]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0.8865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0.7972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0.7058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4.18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0.8278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Swin UNETR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Transformer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0.7462 [0.7134, 0.7772]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0.8714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0.7495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0.6176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6.70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0.9407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TransBTS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Hybrid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0.7291 [0.6876, 0.7661]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0.8743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0.7488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0.5642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6.58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0.9475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UNETR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Transformer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0.7056 [0.6700, 0.7384]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0.8758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0.6692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0.5720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11.29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E2430"/>
                          </a:solidFill>
                          <a:latin typeface="Calibri"/>
                        </a:rPr>
                        <a:t>0.9520</a:t>
                      </a:r>
                    </a:p>
                  </a:txBody>
                  <a:tcPr marL="64008" marR="64008" marT="27432" marB="27432" anchor="ctr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419856"/>
            <a:ext cx="7452360" cy="2214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 i="0">
                <a:solidFill>
                  <a:srgbClr val="5B6472"/>
                </a:solidFill>
                <a:latin typeface="Calibri"/>
              </a:rPr>
              <a:t>56 test cases at native resolution with eight-flip TTA and validation-tuned ET filtering; HD95 is the median over cases.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234440"/>
            <a:ext cx="3410712" cy="2218944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1399032"/>
            <a:ext cx="3081528" cy="1889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F3A68"/>
                </a:solidFill>
                <a:latin typeface="Calibri"/>
              </a:rPr>
              <a:t>What decides the ranking</a:t>
            </a:r>
          </a:p>
          <a:p>
            <a:pPr algn="l" marL="182880" indent="-182880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200" b="0" i="0">
                <a:solidFill>
                  <a:srgbClr val="1E2430"/>
                </a:solidFill>
                <a:latin typeface="Calibri"/>
              </a:rPr>
              <a:t>WT is easy for every model (Dice 0.8714 to 0.9012); TC and ET separate them</a:t>
            </a:r>
          </a:p>
          <a:p>
            <a:pPr algn="l" marL="182880" indent="-182880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200" b="0" i="0">
                <a:solidFill>
                  <a:srgbClr val="1E2430"/>
                </a:solidFill>
                <a:latin typeface="Calibri"/>
              </a:rPr>
              <a:t>Transformer-based models are more sensitive but over-segment; specificity exceeds 0.997 for all</a:t>
            </a:r>
          </a:p>
          <a:p>
            <a:pPr algn="l" marL="182880" indent="-182880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200" b="0" i="0">
                <a:solidFill>
                  <a:srgbClr val="1E2430"/>
                </a:solidFill>
                <a:latin typeface="Calibri"/>
              </a:rPr>
              <a:t>All 15 Wilcoxon pairs are significant after Holm; UNet and nnU-Net-style differ by a median 0.0023 (p = 0.042)</a:t>
            </a:r>
          </a:p>
        </p:txBody>
      </p:sp>
      <p:pic>
        <p:nvPicPr>
          <p:cNvPr id="12" name="Picture 11" descr="08_qualitativ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03904"/>
            <a:ext cx="7452360" cy="235672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229600" y="3803904"/>
            <a:ext cx="3410712" cy="2356729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3968496"/>
            <a:ext cx="3081528" cy="20275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F3A68"/>
                </a:solidFill>
                <a:latin typeface="Calibri"/>
              </a:rPr>
              <a:t>Qualitative comparison</a:t>
            </a:r>
          </a:p>
          <a:p>
            <a:pPr algn="l" marL="182880" indent="-182880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200" b="0" i="0">
                <a:solidFill>
                  <a:srgbClr val="1E2430"/>
                </a:solidFill>
                <a:latin typeface="Calibri"/>
              </a:rPr>
              <a:t>Top: median HGG case; every model recovers the tumour (mean Dice 0.790 to 0.869)</a:t>
            </a:r>
          </a:p>
          <a:p>
            <a:pPr algn="l" marL="182880" indent="-182880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200" b="0" i="0">
                <a:solidFill>
                  <a:srgbClr val="1E2430"/>
                </a:solidFill>
                <a:latin typeface="Calibri"/>
              </a:rPr>
              <a:t>Bottom: hardest LGG case, whose reference has no enhancing tumour; the transformer-based models add ET and fall to mean Dice 0.329 to 0.347</a:t>
            </a:r>
          </a:p>
          <a:p>
            <a:pPr algn="l" marL="182880" indent="-182880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200" b="0" i="0">
                <a:solidFill>
                  <a:srgbClr val="1E2430"/>
                </a:solidFill>
                <a:latin typeface="Calibri"/>
              </a:rPr>
              <a:t>Overlay: WT green, TC yellow, ET red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object 2">
            <a:extLst>
              <a:ext uri="{FF2B5EF4-FFF2-40B4-BE49-F238E27FC236}">
                <a16:creationId xmlns:a16="http://schemas.microsoft.com/office/drawing/2014/main" xmlns="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6400800" cy="621792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/>
          <a:p>
            <a:pPr algn="l"/>
            <a:r>
              <a:rPr sz="2800" b="1">
                <a:solidFill>
                  <a:srgbClr val="1E2430"/>
                </a:solidFill>
                <a:latin typeface="Times New Roman"/>
              </a:rPr>
              <a:t>Tumour Grade, Ensembles and Efficiency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000">
                <a:solidFill>
                  <a:srgbClr val="8A929C"/>
                </a:solidFill>
                <a:latin typeface="Calibri"/>
                <a:cs typeface="Calibri"/>
              </a:rPr>
              <a:t>28/10/26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z="1000">
                <a:solidFill>
                  <a:srgbClr val="8A929C"/>
                </a:solidFill>
                <a:latin typeface="Calibri"/>
                <a:cs typeface="Calibri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 sz="1000">
                <a:solidFill>
                  <a:srgbClr val="8A929C"/>
                </a:solidFill>
                <a:latin typeface="Calibri"/>
                <a:cs typeface="Calibri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68312" y="54864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5B6472"/>
                </a:solidFill>
                <a:latin typeface="Calibri"/>
              </a:rPr>
              <a:t>Experiments and Results: Paper 2 (3D)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234440"/>
          <a:ext cx="5394960" cy="316585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172200" y="1234440"/>
          <a:ext cx="5468112" cy="316585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4628896"/>
            <a:ext cx="3544824" cy="1543303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4793488"/>
            <a:ext cx="3215640" cy="12141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F3A68"/>
                </a:solidFill>
                <a:latin typeface="Calibri"/>
              </a:rPr>
              <a:t>Tumour grade</a:t>
            </a:r>
          </a:p>
          <a:p>
            <a:pPr algn="l" marL="180594" indent="-180594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100" b="0" i="0">
                <a:solidFill>
                  <a:srgbClr val="1E2430"/>
                </a:solidFill>
                <a:latin typeface="Calibri"/>
              </a:rPr>
              <a:t>LGG mean Dice 0.5616 to 0.6624 vs HGG 0.7434 to 0.8632; WT Dice is slightly higher on LGG</a:t>
            </a:r>
          </a:p>
          <a:p>
            <a:pPr algn="l" marL="180594" indent="-180594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100" b="0" i="0">
                <a:solidFill>
                  <a:srgbClr val="1E2430"/>
                </a:solidFill>
                <a:latin typeface="Calibri"/>
              </a:rPr>
              <a:t>One false-positive ET voxel on a case without ET gives that case an ET Dice of 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2064" y="4628896"/>
            <a:ext cx="3544824" cy="1543303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6656" y="4793488"/>
            <a:ext cx="3215640" cy="12141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F3A68"/>
                </a:solidFill>
                <a:latin typeface="Calibri"/>
              </a:rPr>
              <a:t>Ensembles and uncertainty</a:t>
            </a:r>
          </a:p>
          <a:p>
            <a:pPr algn="l" marL="180594" indent="-180594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100" b="0" i="0">
                <a:solidFill>
                  <a:srgbClr val="1E2430"/>
                </a:solidFill>
                <a:latin typeface="Calibri"/>
              </a:rPr>
              <a:t>CNN ensemble 0.8178 and six-model ensemble 0.7991: neither beats UNet alone</a:t>
            </a:r>
          </a:p>
          <a:p>
            <a:pPr algn="l" marL="180594" indent="-180594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100" b="0" i="0">
                <a:solidFill>
                  <a:srgbClr val="1E2430"/>
                </a:solidFill>
                <a:latin typeface="Calibri"/>
              </a:rPr>
              <a:t>TTA uncertainty vs Dice: Spearman −0.30 to −0.40 (p ≤ 0.023) for CNNs; not significant for the transformer-based models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5488" y="4628896"/>
            <a:ext cx="3544824" cy="1543303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0080" y="4793488"/>
            <a:ext cx="3215640" cy="12141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1F3A68"/>
                </a:solidFill>
                <a:latin typeface="Calibri"/>
              </a:rPr>
              <a:t>VNet: the efficiency choice</a:t>
            </a:r>
          </a:p>
          <a:p>
            <a:pPr algn="l" marL="180594" indent="-180594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100" b="0" i="0">
                <a:solidFill>
                  <a:srgbClr val="1E2430"/>
                </a:solidFill>
                <a:latin typeface="Calibri"/>
              </a:rPr>
              <a:t>97% of the UNet Dice with 1.40 M parameters, 149.9 GFLOPs and 0.53 training hours</a:t>
            </a:r>
          </a:p>
          <a:p>
            <a:pPr algn="l" marL="180594" indent="-180594">
              <a:lnSpc>
                <a:spcPct val="100000"/>
              </a:lnSpc>
              <a:spcAft>
                <a:spcPts val="400"/>
              </a:spcAft>
              <a:buClr>
                <a:srgbClr val="1F3A68"/>
              </a:buClr>
              <a:buFont typeface="Arial"/>
              <a:buChar char="•"/>
            </a:pPr>
            <a:r>
              <a:rPr sz="1100" b="0" i="0">
                <a:solidFill>
                  <a:srgbClr val="1E2430"/>
                </a:solidFill>
                <a:latin typeface="Calibri"/>
              </a:rPr>
              <a:t>0.0375 s per volume (UNet 0.1076 s) and 0.98 GB at inference; best Dice per parameter (0.5694) and per training hour (1.4939)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object 2">
            <a:extLst>
              <a:ext uri="{FF2B5EF4-FFF2-40B4-BE49-F238E27FC236}">
                <a16:creationId xmlns:a16="http://schemas.microsoft.com/office/drawing/2014/main" xmlns="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640" y="384048"/>
            <a:ext cx="11091672" cy="621792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/>
          <a:p>
            <a:pPr algn="l"/>
            <a:r>
              <a:rPr sz="2800" b="1">
                <a:solidFill>
                  <a:srgbClr val="1E2430"/>
                </a:solidFill>
                <a:latin typeface="Times New Roman"/>
              </a:rPr>
              <a:t>References (2/2)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sz="1000">
                <a:solidFill>
                  <a:srgbClr val="8A929C"/>
                </a:solidFill>
                <a:latin typeface="Calibri"/>
                <a:cs typeface="Calibri"/>
              </a:rPr>
              <a:t>28/10/26</a:t>
            </a:r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z="1000">
                <a:solidFill>
                  <a:srgbClr val="8A929C"/>
                </a:solidFill>
                <a:latin typeface="Calibri"/>
                <a:cs typeface="Calibri"/>
              </a:rPr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 sz="1000">
                <a:solidFill>
                  <a:srgbClr val="8A929C"/>
                </a:solidFill>
                <a:latin typeface="Calibri"/>
                <a:cs typeface="Calibri"/>
              </a:rPr>
              <a:t>14</a:t>
            </a:fld>
            <a:endParaRPr lang="en-IN"/>
          </a:p>
        </p:txBody>
      </p:sp>
      <p:sp>
        <p:nvSpPr>
          <p:cNvPr id="8" name="TextBox 7"/>
          <p:cNvSpPr txBox="1"/>
          <p:nvPr/>
        </p:nvSpPr>
        <p:spPr>
          <a:xfrm>
            <a:off x="548640" y="1143000"/>
            <a:ext cx="5431536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[43]	</a:t>
            </a:r>
            <a:r>
              <a:rPr sz="780" i="0">
                <a:solidFill>
                  <a:srgbClr val="1E2430"/>
                </a:solidFill>
                <a:latin typeface="Calibri"/>
              </a:rPr>
              <a:t>J. R. Zech, M. A. Badgeley, M. Liu, A. B. Costa, J. J. Titano, and E. K. Oermann, “Variable generalization performance of a deep learning model to detect pneumonia in chest radiographs: A cross-sectional study,” </a:t>
            </a:r>
            <a:r>
              <a:rPr sz="780" i="1">
                <a:solidFill>
                  <a:srgbClr val="1E2430"/>
                </a:solidFill>
                <a:latin typeface="Calibri"/>
              </a:rPr>
              <a:t>PLOS Medicine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15, no. 11, Art. no. e1002683, 2018.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[44]	</a:t>
            </a:r>
            <a:r>
              <a:rPr sz="780" i="0">
                <a:solidFill>
                  <a:srgbClr val="1E2430"/>
                </a:solidFill>
                <a:latin typeface="Calibri"/>
              </a:rPr>
              <a:t>A. J. DeGrave, J. D. Janizek, and S.-I. Lee, “AI for radiographic COVID-19 detection selects shortcuts over signal,” </a:t>
            </a:r>
            <a:r>
              <a:rPr sz="780" i="1">
                <a:solidFill>
                  <a:srgbClr val="1E2430"/>
                </a:solidFill>
                <a:latin typeface="Calibri"/>
              </a:rPr>
              <a:t>Nature Machine Intelligence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3, no. 7, pp. 610–619, 2021.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[45]	</a:t>
            </a:r>
            <a:r>
              <a:rPr sz="780" i="0">
                <a:solidFill>
                  <a:srgbClr val="1E2430"/>
                </a:solidFill>
                <a:latin typeface="Calibri"/>
              </a:rPr>
              <a:t>J. M. J. Valanarasu, P. Oza, I. Hacihaliloglu, and V. M. Patel, “Medical transformer: Gated axial-attention for medical image segmentation,” in </a:t>
            </a:r>
            <a:r>
              <a:rPr sz="780" i="1">
                <a:solidFill>
                  <a:srgbClr val="1E2430"/>
                </a:solidFill>
                <a:latin typeface="Calibri"/>
              </a:rPr>
              <a:t>Medical Image Computing and Computer Assisted Intervention (MICCAI 2021)</a:t>
            </a:r>
            <a:r>
              <a:rPr sz="780" i="0">
                <a:solidFill>
                  <a:srgbClr val="1E2430"/>
                </a:solidFill>
                <a:latin typeface="Calibri"/>
              </a:rPr>
              <a:t>, 2021, pp. 36–46.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[46]	</a:t>
            </a:r>
            <a:r>
              <a:rPr sz="780" i="0">
                <a:solidFill>
                  <a:srgbClr val="1E2430"/>
                </a:solidFill>
                <a:latin typeface="Calibri"/>
              </a:rPr>
              <a:t>H. Cao et al., “Swin-Unet: Unet-like pure transformer for medical image segmentation,” in </a:t>
            </a:r>
            <a:r>
              <a:rPr sz="780" i="1">
                <a:solidFill>
                  <a:srgbClr val="1E2430"/>
                </a:solidFill>
                <a:latin typeface="Calibri"/>
              </a:rPr>
              <a:t>Computer Vision – ECCV 2022 Workshops</a:t>
            </a:r>
            <a:r>
              <a:rPr sz="780" i="0">
                <a:solidFill>
                  <a:srgbClr val="1E2430"/>
                </a:solidFill>
                <a:latin typeface="Calibri"/>
              </a:rPr>
              <a:t>, 2023, pp. 205–218.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[47]	</a:t>
            </a:r>
            <a:r>
              <a:rPr sz="780" i="0">
                <a:solidFill>
                  <a:srgbClr val="1E2430"/>
                </a:solidFill>
                <a:latin typeface="Calibri"/>
              </a:rPr>
              <a:t>S. Suzuki and K. Abe, “Topological structural analysis of digitized binary images by border following,” </a:t>
            </a:r>
            <a:r>
              <a:rPr sz="780" i="1">
                <a:solidFill>
                  <a:srgbClr val="1E2430"/>
                </a:solidFill>
                <a:latin typeface="Calibri"/>
              </a:rPr>
              <a:t>Computer Vision, Graphics, and Image Processing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30, no. 1, pp. 32–46, 1985.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[48]	</a:t>
            </a:r>
            <a:r>
              <a:rPr sz="780" i="0">
                <a:solidFill>
                  <a:srgbClr val="1E2430"/>
                </a:solidFill>
                <a:latin typeface="Calibri"/>
              </a:rPr>
              <a:t>V. Monga and B. L. Evans, “Perceptual image hashing via feature points: Performance evaluation and tradeoffs,” </a:t>
            </a:r>
            <a:r>
              <a:rPr sz="780" i="1">
                <a:solidFill>
                  <a:srgbClr val="1E2430"/>
                </a:solidFill>
                <a:latin typeface="Calibri"/>
              </a:rPr>
              <a:t>IEEE Transactions on Image Processing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15, no. 11, pp. 3452–3465, 2006.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[49]	</a:t>
            </a:r>
            <a:r>
              <a:rPr sz="780" i="0">
                <a:solidFill>
                  <a:srgbClr val="1E2430"/>
                </a:solidFill>
                <a:latin typeface="Calibri"/>
              </a:rPr>
              <a:t>R. W. Hamming, “Error detecting and error correcting codes,” </a:t>
            </a:r>
            <a:r>
              <a:rPr sz="780" i="1">
                <a:solidFill>
                  <a:srgbClr val="1E2430"/>
                </a:solidFill>
                <a:latin typeface="Calibri"/>
              </a:rPr>
              <a:t>Bell System Technical Journal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29, no. 2, pp. 147–160, 1950.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[50]	</a:t>
            </a:r>
            <a:r>
              <a:rPr sz="780" i="0">
                <a:solidFill>
                  <a:srgbClr val="1E2430"/>
                </a:solidFill>
                <a:latin typeface="Calibri"/>
              </a:rPr>
              <a:t>B. Zitová and J. Flusser, “Image registration methods: A survey,” </a:t>
            </a:r>
            <a:r>
              <a:rPr sz="780" i="1">
                <a:solidFill>
                  <a:srgbClr val="1E2430"/>
                </a:solidFill>
                <a:latin typeface="Calibri"/>
              </a:rPr>
              <a:t>Image and Vision Computing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21, no. 11, pp. 977–1000, 2003.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[51]	</a:t>
            </a:r>
            <a:r>
              <a:rPr sz="780" i="0">
                <a:solidFill>
                  <a:srgbClr val="1E2430"/>
                </a:solidFill>
                <a:latin typeface="Calibri"/>
              </a:rPr>
              <a:t>F. Pedregosa et al., “Scikit-learn: Machine learning in Python,” </a:t>
            </a:r>
            <a:r>
              <a:rPr sz="780" i="1">
                <a:solidFill>
                  <a:srgbClr val="1E2430"/>
                </a:solidFill>
                <a:latin typeface="Calibri"/>
              </a:rPr>
              <a:t>Journal of Machine Learning Research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12, no. 85, pp. 2825–2830, 2011.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[52]	</a:t>
            </a:r>
            <a:r>
              <a:rPr sz="780" i="0">
                <a:solidFill>
                  <a:srgbClr val="1E2430"/>
                </a:solidFill>
                <a:latin typeface="Calibri"/>
              </a:rPr>
              <a:t>M. Stone, “Cross-validatory choice and assessment of statistical predictions,” </a:t>
            </a:r>
            <a:r>
              <a:rPr sz="780" i="1">
                <a:solidFill>
                  <a:srgbClr val="1E2430"/>
                </a:solidFill>
                <a:latin typeface="Calibri"/>
              </a:rPr>
              <a:t>Journal of the Royal Statistical Society: Series B (Methodological)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36, no. 2, pp. 111–133, 1974.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[53]	</a:t>
            </a:r>
            <a:r>
              <a:rPr sz="780" i="0">
                <a:solidFill>
                  <a:srgbClr val="1E2430"/>
                </a:solidFill>
                <a:latin typeface="Calibri"/>
              </a:rPr>
              <a:t>A. Hamada, “Br35H :: Brain tumor detection 2020,” IEEE DataPort, 2025.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[54]	</a:t>
            </a:r>
            <a:r>
              <a:rPr sz="780" i="0">
                <a:solidFill>
                  <a:srgbClr val="1E2430"/>
                </a:solidFill>
                <a:latin typeface="Calibri"/>
              </a:rPr>
              <a:t>N. Chakrabarty, “Brain MRI images for brain tumor detection,” Kaggle dataset, version 1, 2019.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[55]	</a:t>
            </a:r>
            <a:r>
              <a:rPr sz="780" i="0">
                <a:solidFill>
                  <a:srgbClr val="1E2430"/>
                </a:solidFill>
                <a:latin typeface="Calibri"/>
              </a:rPr>
              <a:t>S. Bhuvaji, A. Kadam, P. Bhumkar, S. Dedge, and S. Kanchan, “Brain tumor classification (MRI),” Kaggle dataset, 2020.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[56]	</a:t>
            </a:r>
            <a:r>
              <a:rPr sz="780" i="0">
                <a:solidFill>
                  <a:srgbClr val="1E2430"/>
                </a:solidFill>
                <a:latin typeface="Calibri"/>
              </a:rPr>
              <a:t>J. Cheng, “Brain tumor dataset,” figshare, version 5, 2017.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[57]	</a:t>
            </a:r>
            <a:r>
              <a:rPr sz="780" i="0">
                <a:solidFill>
                  <a:srgbClr val="1E2430"/>
                </a:solidFill>
                <a:latin typeface="Calibri"/>
              </a:rPr>
              <a:t>MoundirB, “Jun Cheng brain tumor MRI dataset JPG,” Kaggle dataset, version 1, 2025.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[58]	</a:t>
            </a:r>
            <a:r>
              <a:rPr sz="780" i="0">
                <a:solidFill>
                  <a:srgbClr val="1E2430"/>
                </a:solidFill>
                <a:latin typeface="Calibri"/>
              </a:rPr>
              <a:t>M. Tan and Q. Le, “EfficientNet: Rethinking model scaling for convolutional neural networks,” in </a:t>
            </a:r>
            <a:r>
              <a:rPr sz="780" i="1">
                <a:solidFill>
                  <a:srgbClr val="1E2430"/>
                </a:solidFill>
                <a:latin typeface="Calibri"/>
              </a:rPr>
              <a:t>Proc. 36th International Conference on Machine Learning (ICML)</a:t>
            </a:r>
            <a:r>
              <a:rPr sz="780" i="0">
                <a:solidFill>
                  <a:srgbClr val="1E2430"/>
                </a:solidFill>
                <a:latin typeface="Calibri"/>
              </a:rPr>
              <a:t>, 2019, pp. 6105–6114.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[59]	</a:t>
            </a:r>
            <a:r>
              <a:rPr sz="780" i="0">
                <a:solidFill>
                  <a:srgbClr val="1E2430"/>
                </a:solidFill>
                <a:latin typeface="Calibri"/>
              </a:rPr>
              <a:t>A. Howard et al., “Searching for MobileNetV3,” in </a:t>
            </a:r>
            <a:r>
              <a:rPr sz="780" i="1">
                <a:solidFill>
                  <a:srgbClr val="1E2430"/>
                </a:solidFill>
                <a:latin typeface="Calibri"/>
              </a:rPr>
              <a:t>Proc. IEEE/CVF International Conference on Computer Vision (ICCV)</a:t>
            </a:r>
            <a:r>
              <a:rPr sz="780" i="0">
                <a:solidFill>
                  <a:srgbClr val="1E2430"/>
                </a:solidFill>
                <a:latin typeface="Calibri"/>
              </a:rPr>
              <a:t>, 2019, pp. 1314–1324.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[60]	</a:t>
            </a:r>
            <a:r>
              <a:rPr sz="780" i="0">
                <a:solidFill>
                  <a:srgbClr val="1E2430"/>
                </a:solidFill>
                <a:latin typeface="Calibri"/>
              </a:rPr>
              <a:t>M. Sandler, A. Howard, M. Zhu, A. Zhmoginov, and L.-C. Chen, “MobileNetV2: Inverted residuals and linear bottlenecks,” in </a:t>
            </a:r>
            <a:r>
              <a:rPr sz="780" i="1">
                <a:solidFill>
                  <a:srgbClr val="1E2430"/>
                </a:solidFill>
                <a:latin typeface="Calibri"/>
              </a:rPr>
              <a:t>Proc. IEEE/CVF Conference on Computer Vision and Pattern Recognition (CVPR)</a:t>
            </a:r>
            <a:r>
              <a:rPr sz="780" i="0">
                <a:solidFill>
                  <a:srgbClr val="1E2430"/>
                </a:solidFill>
                <a:latin typeface="Calibri"/>
              </a:rPr>
              <a:t>, 2018, pp. 4510–4520.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[61]	</a:t>
            </a:r>
            <a:r>
              <a:rPr sz="780" i="0">
                <a:solidFill>
                  <a:srgbClr val="1E2430"/>
                </a:solidFill>
                <a:latin typeface="Calibri"/>
              </a:rPr>
              <a:t>A. Vaswani et al., “Attention is all you need,” in </a:t>
            </a:r>
            <a:r>
              <a:rPr sz="780" i="1">
                <a:solidFill>
                  <a:srgbClr val="1E2430"/>
                </a:solidFill>
                <a:latin typeface="Calibri"/>
              </a:rPr>
              <a:t>Advances in Neural Information Processing Systems (NeurIPS) 30</a:t>
            </a:r>
            <a:r>
              <a:rPr sz="780" i="0">
                <a:solidFill>
                  <a:srgbClr val="1E2430"/>
                </a:solidFill>
                <a:latin typeface="Calibri"/>
              </a:rPr>
              <a:t>, 2017.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[62]	</a:t>
            </a:r>
            <a:r>
              <a:rPr sz="780" i="0">
                <a:solidFill>
                  <a:srgbClr val="1E2430"/>
                </a:solidFill>
                <a:latin typeface="Calibri"/>
              </a:rPr>
              <a:t>Z. Dai, H. Liu, Q. V. Le, and M. Tan, “CoAtNet: Marrying convolution and attention for all data sizes,” in </a:t>
            </a:r>
            <a:r>
              <a:rPr sz="780" i="1">
                <a:solidFill>
                  <a:srgbClr val="1E2430"/>
                </a:solidFill>
                <a:latin typeface="Calibri"/>
              </a:rPr>
              <a:t>Advances in Neural Information Processing Systems (NeurIPS)</a:t>
            </a:r>
            <a:r>
              <a:rPr sz="780" i="0">
                <a:solidFill>
                  <a:srgbClr val="1E2430"/>
                </a:solidFill>
                <a:latin typeface="Calibri"/>
              </a:rPr>
              <a:t>, 2021, pp. 3965–3977.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[63]	</a:t>
            </a:r>
            <a:r>
              <a:rPr sz="780" i="0">
                <a:solidFill>
                  <a:srgbClr val="1E2430"/>
                </a:solidFill>
                <a:latin typeface="Calibri"/>
              </a:rPr>
              <a:t>Y. LeCun, L. Bottou, Y. Bengio, and P. Haffner, “Gradient-based learning applied to document recognition,” </a:t>
            </a:r>
            <a:r>
              <a:rPr sz="780" i="1">
                <a:solidFill>
                  <a:srgbClr val="1E2430"/>
                </a:solidFill>
                <a:latin typeface="Calibri"/>
              </a:rPr>
              <a:t>Proceedings of the IEEE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86, no. 11, pp. 2278–2324, 1998.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[64]	</a:t>
            </a:r>
            <a:r>
              <a:rPr sz="780" i="0">
                <a:solidFill>
                  <a:srgbClr val="1E2430"/>
                </a:solidFill>
                <a:latin typeface="Calibri"/>
              </a:rPr>
              <a:t>Y. LeCun, Y. Bengio, and G. Hinton, “Deep learning,” </a:t>
            </a:r>
            <a:r>
              <a:rPr sz="780" i="1">
                <a:solidFill>
                  <a:srgbClr val="1E2430"/>
                </a:solidFill>
                <a:latin typeface="Calibri"/>
              </a:rPr>
              <a:t>Nature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521, no. 7553, pp. 436–444, 2015.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[65]	</a:t>
            </a:r>
            <a:r>
              <a:rPr sz="780" i="0">
                <a:solidFill>
                  <a:srgbClr val="1E2430"/>
                </a:solidFill>
                <a:latin typeface="Calibri"/>
              </a:rPr>
              <a:t>J. Deng, W. Dong, R. Socher, L.-J. Li, K. Li, and L. Fei-Fei, “ImageNet: A large-scale hierarchical image database,” in </a:t>
            </a:r>
            <a:r>
              <a:rPr sz="780" i="1">
                <a:solidFill>
                  <a:srgbClr val="1E2430"/>
                </a:solidFill>
                <a:latin typeface="Calibri"/>
              </a:rPr>
              <a:t>Proc. IEEE Conference on Computer Vision and Pattern Recognition (CVPR)</a:t>
            </a:r>
            <a:r>
              <a:rPr sz="780" i="0">
                <a:solidFill>
                  <a:srgbClr val="1E2430"/>
                </a:solidFill>
                <a:latin typeface="Calibri"/>
              </a:rPr>
              <a:t>, 2009, pp. 248–255.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[66]	</a:t>
            </a:r>
            <a:r>
              <a:rPr sz="780" i="0">
                <a:solidFill>
                  <a:srgbClr val="1E2430"/>
                </a:solidFill>
                <a:latin typeface="Calibri"/>
              </a:rPr>
              <a:t>O. Russakovsky et al., “ImageNet large scale visual recognition challenge,” </a:t>
            </a:r>
            <a:r>
              <a:rPr sz="780" i="1">
                <a:solidFill>
                  <a:srgbClr val="1E2430"/>
                </a:solidFill>
                <a:latin typeface="Calibri"/>
              </a:rPr>
              <a:t>International Journal of Computer Vision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115, no. 3, pp. 211–252, 2015.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08776" y="1143000"/>
            <a:ext cx="5431536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[67]	</a:t>
            </a:r>
            <a:r>
              <a:rPr sz="780" i="0">
                <a:solidFill>
                  <a:srgbClr val="1E2430"/>
                </a:solidFill>
                <a:latin typeface="Calibri"/>
              </a:rPr>
              <a:t>A. Paszke et al., “PyTorch: An imperative style, high-performance deep learning library,” in </a:t>
            </a:r>
            <a:r>
              <a:rPr sz="780" i="1">
                <a:solidFill>
                  <a:srgbClr val="1E2430"/>
                </a:solidFill>
                <a:latin typeface="Calibri"/>
              </a:rPr>
              <a:t>Advances in Neural Information Processing Systems (NeurIPS) 32</a:t>
            </a:r>
            <a:r>
              <a:rPr sz="780" i="0">
                <a:solidFill>
                  <a:srgbClr val="1E2430"/>
                </a:solidFill>
                <a:latin typeface="Calibri"/>
              </a:rPr>
              <a:t>, 2019.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[68]	</a:t>
            </a:r>
            <a:r>
              <a:rPr sz="780" i="0">
                <a:solidFill>
                  <a:srgbClr val="1E2430"/>
                </a:solidFill>
                <a:latin typeface="Calibri"/>
              </a:rPr>
              <a:t>I. Loshchilov and F. Hutter, “Decoupled weight decay regularization,” in </a:t>
            </a:r>
            <a:r>
              <a:rPr sz="780" i="1">
                <a:solidFill>
                  <a:srgbClr val="1E2430"/>
                </a:solidFill>
                <a:latin typeface="Calibri"/>
              </a:rPr>
              <a:t>Proc. International Conference on Learning Representations (ICLR)</a:t>
            </a:r>
            <a:r>
              <a:rPr sz="780" i="0">
                <a:solidFill>
                  <a:srgbClr val="1E2430"/>
                </a:solidFill>
                <a:latin typeface="Calibri"/>
              </a:rPr>
              <a:t>, 2019.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[69]	</a:t>
            </a:r>
            <a:r>
              <a:rPr sz="780" i="0">
                <a:solidFill>
                  <a:srgbClr val="1E2430"/>
                </a:solidFill>
                <a:latin typeface="Calibri"/>
              </a:rPr>
              <a:t>I. Loshchilov and F. Hutter, “SGDR: Stochastic gradient descent with warm restarts,” in </a:t>
            </a:r>
            <a:r>
              <a:rPr sz="780" i="1">
                <a:solidFill>
                  <a:srgbClr val="1E2430"/>
                </a:solidFill>
                <a:latin typeface="Calibri"/>
              </a:rPr>
              <a:t>Proc. International Conference on Learning Representations (ICLR)</a:t>
            </a:r>
            <a:r>
              <a:rPr sz="780" i="0">
                <a:solidFill>
                  <a:srgbClr val="1E2430"/>
                </a:solidFill>
                <a:latin typeface="Calibri"/>
              </a:rPr>
              <a:t>, 2017.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[70]	</a:t>
            </a:r>
            <a:r>
              <a:rPr sz="780" i="0">
                <a:solidFill>
                  <a:srgbClr val="1E2430"/>
                </a:solidFill>
                <a:latin typeface="Calibri"/>
              </a:rPr>
              <a:t>P. Micikevicius et al., “Mixed precision training,” in </a:t>
            </a:r>
            <a:r>
              <a:rPr sz="780" i="1">
                <a:solidFill>
                  <a:srgbClr val="1E2430"/>
                </a:solidFill>
                <a:latin typeface="Calibri"/>
              </a:rPr>
              <a:t>Proc. International Conference on Learning Representations (ICLR)</a:t>
            </a:r>
            <a:r>
              <a:rPr sz="780" i="0">
                <a:solidFill>
                  <a:srgbClr val="1E2430"/>
                </a:solidFill>
                <a:latin typeface="Calibri"/>
              </a:rPr>
              <a:t>, 2018.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[71]	</a:t>
            </a:r>
            <a:r>
              <a:rPr sz="780" i="0">
                <a:solidFill>
                  <a:srgbClr val="1E2430"/>
                </a:solidFill>
                <a:latin typeface="Calibri"/>
              </a:rPr>
              <a:t>R. Pascanu, T. Mikolov, and Y. Bengio, “On the difficulty of training recurrent neural networks,” in </a:t>
            </a:r>
            <a:r>
              <a:rPr sz="780" i="1">
                <a:solidFill>
                  <a:srgbClr val="1E2430"/>
                </a:solidFill>
                <a:latin typeface="Calibri"/>
              </a:rPr>
              <a:t>Proc. 30th International Conference on Machine Learning (ICML)</a:t>
            </a:r>
            <a:r>
              <a:rPr sz="780" i="0">
                <a:solidFill>
                  <a:srgbClr val="1E2430"/>
                </a:solidFill>
                <a:latin typeface="Calibri"/>
              </a:rPr>
              <a:t>, 2013, pp. 1310–1318.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[72]	</a:t>
            </a:r>
            <a:r>
              <a:rPr sz="780" i="0">
                <a:solidFill>
                  <a:srgbClr val="1E2430"/>
                </a:solidFill>
                <a:latin typeface="Calibri"/>
              </a:rPr>
              <a:t>T. Gneiting and A. E. Raftery, “Strictly proper scoring rules, prediction, and estimation,” </a:t>
            </a:r>
            <a:r>
              <a:rPr sz="780" i="1">
                <a:solidFill>
                  <a:srgbClr val="1E2430"/>
                </a:solidFill>
                <a:latin typeface="Calibri"/>
              </a:rPr>
              <a:t>Journal of the American Statistical Association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102, no. 477, pp. 359–378, 2007.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[73]	</a:t>
            </a:r>
            <a:r>
              <a:rPr sz="780" i="0">
                <a:solidFill>
                  <a:srgbClr val="1E2430"/>
                </a:solidFill>
                <a:latin typeface="Calibri"/>
              </a:rPr>
              <a:t>C. Guo, G. Pleiss, Y. Sun, and K. Q. Weinberger, “On calibration of modern neural networks,” in </a:t>
            </a:r>
            <a:r>
              <a:rPr sz="780" i="1">
                <a:solidFill>
                  <a:srgbClr val="1E2430"/>
                </a:solidFill>
                <a:latin typeface="Calibri"/>
              </a:rPr>
              <a:t>Proc. 34th International Conference on Machine Learning (ICML)</a:t>
            </a:r>
            <a:r>
              <a:rPr sz="780" i="0">
                <a:solidFill>
                  <a:srgbClr val="1E2430"/>
                </a:solidFill>
                <a:latin typeface="Calibri"/>
              </a:rPr>
              <a:t>, 2017, pp. 1321–1330.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[74]	</a:t>
            </a:r>
            <a:r>
              <a:rPr sz="780" i="0">
                <a:solidFill>
                  <a:srgbClr val="1E2430"/>
                </a:solidFill>
                <a:latin typeface="Calibri"/>
              </a:rPr>
              <a:t>W. J. Youden, “Index for rating diagnostic tests,” </a:t>
            </a:r>
            <a:r>
              <a:rPr sz="780" i="1">
                <a:solidFill>
                  <a:srgbClr val="1E2430"/>
                </a:solidFill>
                <a:latin typeface="Calibri"/>
              </a:rPr>
              <a:t>Cancer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3, no. 1, pp. 32–35, 1950.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[75]	</a:t>
            </a:r>
            <a:r>
              <a:rPr sz="780" i="0">
                <a:solidFill>
                  <a:srgbClr val="1E2430"/>
                </a:solidFill>
                <a:latin typeface="Calibri"/>
              </a:rPr>
              <a:t>J. A. Hanley and B. J. McNeil, “The meaning and use of the area under a receiver operating characteristic (ROC) curve,” </a:t>
            </a:r>
            <a:r>
              <a:rPr sz="780" i="1">
                <a:solidFill>
                  <a:srgbClr val="1E2430"/>
                </a:solidFill>
                <a:latin typeface="Calibri"/>
              </a:rPr>
              <a:t>Radiology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143, no. 1, pp. 29–36, 1982.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[76]	</a:t>
            </a:r>
            <a:r>
              <a:rPr sz="780" i="0">
                <a:solidFill>
                  <a:srgbClr val="1E2430"/>
                </a:solidFill>
                <a:latin typeface="Calibri"/>
              </a:rPr>
              <a:t>T. Fawcett, “An introduction to ROC analysis,” </a:t>
            </a:r>
            <a:r>
              <a:rPr sz="780" i="1">
                <a:solidFill>
                  <a:srgbClr val="1E2430"/>
                </a:solidFill>
                <a:latin typeface="Calibri"/>
              </a:rPr>
              <a:t>Pattern Recognition Letters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27, no. 8, pp. 861–874, 2006.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[77]	</a:t>
            </a:r>
            <a:r>
              <a:rPr sz="780" i="0">
                <a:solidFill>
                  <a:srgbClr val="1E2430"/>
                </a:solidFill>
                <a:latin typeface="Calibri"/>
              </a:rPr>
              <a:t>B. W. Matthews, “Comparison of the predicted and observed secondary structure of T4 phage lysozyme,” </a:t>
            </a:r>
            <a:r>
              <a:rPr sz="780" i="1">
                <a:solidFill>
                  <a:srgbClr val="1E2430"/>
                </a:solidFill>
                <a:latin typeface="Calibri"/>
              </a:rPr>
              <a:t>Biochimica et Biophysica Acta (BBA) – Protein Structure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405, no. 2, pp. 442–451, 1975.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[78]	</a:t>
            </a:r>
            <a:r>
              <a:rPr sz="780" i="0">
                <a:solidFill>
                  <a:srgbClr val="1E2430"/>
                </a:solidFill>
                <a:latin typeface="Calibri"/>
              </a:rPr>
              <a:t>D. Chicco and G. Jurman, “The advantages of the Matthews correlation coefficient (MCC) over F1 score and accuracy in binary classification evaluation,” </a:t>
            </a:r>
            <a:r>
              <a:rPr sz="780" i="1">
                <a:solidFill>
                  <a:srgbClr val="1E2430"/>
                </a:solidFill>
                <a:latin typeface="Calibri"/>
              </a:rPr>
              <a:t>BMC Genomics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21, Art. no. 6, 2020.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[79]	</a:t>
            </a:r>
            <a:r>
              <a:rPr sz="780" i="0">
                <a:solidFill>
                  <a:srgbClr val="1E2430"/>
                </a:solidFill>
                <a:latin typeface="Calibri"/>
              </a:rPr>
              <a:t>M. Pakdaman Naeini, G. Cooper, and M. Hauskrecht, “Obtaining well calibrated probabilities using Bayesian binning,” in </a:t>
            </a:r>
            <a:r>
              <a:rPr sz="780" i="1">
                <a:solidFill>
                  <a:srgbClr val="1E2430"/>
                </a:solidFill>
                <a:latin typeface="Calibri"/>
              </a:rPr>
              <a:t>Proc. AAAI Conference on Artificial Intelligence 29(1)</a:t>
            </a:r>
            <a:r>
              <a:rPr sz="780" i="0">
                <a:solidFill>
                  <a:srgbClr val="1E2430"/>
                </a:solidFill>
                <a:latin typeface="Calibri"/>
              </a:rPr>
              <a:t>, 2015.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[80]	</a:t>
            </a:r>
            <a:r>
              <a:rPr sz="780" i="0">
                <a:solidFill>
                  <a:srgbClr val="1E2430"/>
                </a:solidFill>
                <a:latin typeface="Calibri"/>
              </a:rPr>
              <a:t>B. Efron, “Bootstrap methods: Another look at the jackknife,” </a:t>
            </a:r>
            <a:r>
              <a:rPr sz="780" i="1">
                <a:solidFill>
                  <a:srgbClr val="1E2430"/>
                </a:solidFill>
                <a:latin typeface="Calibri"/>
              </a:rPr>
              <a:t>The Annals of Statistics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7, no. 1, pp. 1–26, 1979.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[81]	</a:t>
            </a:r>
            <a:r>
              <a:rPr sz="780" i="0">
                <a:solidFill>
                  <a:srgbClr val="1E2430"/>
                </a:solidFill>
                <a:latin typeface="Calibri"/>
              </a:rPr>
              <a:t>Q. McNemar, “Note on the sampling error of the difference between correlated proportions or percentages,” </a:t>
            </a:r>
            <a:r>
              <a:rPr sz="780" i="1">
                <a:solidFill>
                  <a:srgbClr val="1E2430"/>
                </a:solidFill>
                <a:latin typeface="Calibri"/>
              </a:rPr>
              <a:t>Psychometrika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12, no. 2, pp. 153–157, 1947.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[82]	</a:t>
            </a:r>
            <a:r>
              <a:rPr sz="780" i="0">
                <a:solidFill>
                  <a:srgbClr val="1E2430"/>
                </a:solidFill>
                <a:latin typeface="Calibri"/>
              </a:rPr>
              <a:t>S. Holm, “A simple sequentially rejective multiple test procedure,” </a:t>
            </a:r>
            <a:r>
              <a:rPr sz="780" i="1">
                <a:solidFill>
                  <a:srgbClr val="1E2430"/>
                </a:solidFill>
                <a:latin typeface="Calibri"/>
              </a:rPr>
              <a:t>Scandinavian Journal of Statistics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6, no. 2, pp. 65–70, 1979.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[83]	</a:t>
            </a:r>
            <a:r>
              <a:rPr sz="780" i="0">
                <a:solidFill>
                  <a:srgbClr val="1E2430"/>
                </a:solidFill>
                <a:latin typeface="Calibri"/>
              </a:rPr>
              <a:t>R. R. Selvaraju, M. Cogswell, A. Das, R. Vedantam, D. Parikh, and D. Batra, “Grad-CAM: Visual explanations from deep networks via gradient-based localization,” in </a:t>
            </a:r>
            <a:r>
              <a:rPr sz="780" i="1">
                <a:solidFill>
                  <a:srgbClr val="1E2430"/>
                </a:solidFill>
                <a:latin typeface="Calibri"/>
              </a:rPr>
              <a:t>Proc. IEEE International Conference on Computer Vision (ICCV)</a:t>
            </a:r>
            <a:r>
              <a:rPr sz="780" i="0">
                <a:solidFill>
                  <a:srgbClr val="1E2430"/>
                </a:solidFill>
                <a:latin typeface="Calibri"/>
              </a:rPr>
              <a:t>, 2017, pp. 618–626.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[84]	</a:t>
            </a:r>
            <a:r>
              <a:rPr sz="780" i="0">
                <a:solidFill>
                  <a:srgbClr val="1E2430"/>
                </a:solidFill>
                <a:latin typeface="Calibri"/>
              </a:rPr>
              <a:t>S. Abnar and W. Zuidema, “Quantifying attention flow in transformers,” in </a:t>
            </a:r>
            <a:r>
              <a:rPr sz="780" i="1">
                <a:solidFill>
                  <a:srgbClr val="1E2430"/>
                </a:solidFill>
                <a:latin typeface="Calibri"/>
              </a:rPr>
              <a:t>Proc. 58th Annual Meeting of the Association for Computational Linguistics (ACL)</a:t>
            </a:r>
            <a:r>
              <a:rPr sz="780" i="0">
                <a:solidFill>
                  <a:srgbClr val="1E2430"/>
                </a:solidFill>
                <a:latin typeface="Calibri"/>
              </a:rPr>
              <a:t>, 2020, pp. 4190–4197.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[85]	</a:t>
            </a:r>
            <a:r>
              <a:rPr sz="780" i="0">
                <a:solidFill>
                  <a:srgbClr val="1E2430"/>
                </a:solidFill>
                <a:latin typeface="Calibri"/>
              </a:rPr>
              <a:t>M. D. Zeiler and R. Fergus, “Visualizing and understanding convolutional networks,” in </a:t>
            </a:r>
            <a:r>
              <a:rPr sz="780" i="1">
                <a:solidFill>
                  <a:srgbClr val="1E2430"/>
                </a:solidFill>
                <a:latin typeface="Calibri"/>
              </a:rPr>
              <a:t>Computer Vision – ECCV 2014</a:t>
            </a:r>
            <a:r>
              <a:rPr sz="780" i="0">
                <a:solidFill>
                  <a:srgbClr val="1E2430"/>
                </a:solidFill>
                <a:latin typeface="Calibri"/>
              </a:rPr>
              <a:t>, 2014, pp. 818–833.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[86]	</a:t>
            </a:r>
            <a:r>
              <a:rPr sz="780" i="0">
                <a:solidFill>
                  <a:srgbClr val="1E2430"/>
                </a:solidFill>
                <a:latin typeface="Calibri"/>
              </a:rPr>
              <a:t>N. Otsu, “A threshold selection method from gray-level histograms,” </a:t>
            </a:r>
            <a:r>
              <a:rPr sz="780" i="1">
                <a:solidFill>
                  <a:srgbClr val="1E2430"/>
                </a:solidFill>
                <a:latin typeface="Calibri"/>
              </a:rPr>
              <a:t>IEEE Transactions on Systems, Man, and Cybernetics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9, no. 1, pp. 62–66, 1979.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[87]	</a:t>
            </a:r>
            <a:r>
              <a:rPr sz="780" i="0">
                <a:solidFill>
                  <a:srgbClr val="1E2430"/>
                </a:solidFill>
                <a:latin typeface="Calibri"/>
              </a:rPr>
              <a:t>B. H. Menze et al., “The multimodal brain tumor image segmentation benchmark (BRATS),” </a:t>
            </a:r>
            <a:r>
              <a:rPr sz="780" i="1">
                <a:solidFill>
                  <a:srgbClr val="1E2430"/>
                </a:solidFill>
                <a:latin typeface="Calibri"/>
              </a:rPr>
              <a:t>IEEE Transactions on Medical Imaging</a:t>
            </a:r>
            <a:r>
              <a:rPr sz="780" i="0">
                <a:solidFill>
                  <a:srgbClr val="1E2430"/>
                </a:solidFill>
                <a:latin typeface="Calibri"/>
              </a:rPr>
              <a:t>, vol. 34, no. 10, pp. 1993–2024, 2015.</a:t>
            </a:r>
          </a:p>
          <a:p>
            <a:pPr marL="274320" indent="-274320">
              <a:spcAft>
                <a:spcPts val="100"/>
              </a:spcAft>
            </a:pPr>
            <a:r>
              <a:rPr sz="780" i="0">
                <a:solidFill>
                  <a:srgbClr val="1E2430"/>
                </a:solidFill>
                <a:latin typeface="Calibri"/>
              </a:rPr>
              <a:t>[88]	</a:t>
            </a:r>
            <a:r>
              <a:rPr sz="780" i="0">
                <a:solidFill>
                  <a:srgbClr val="1E2430"/>
                </a:solidFill>
                <a:latin typeface="Calibri"/>
              </a:rPr>
              <a:t>S. Bakas et al., “Identifying the best machine learning algorithms for brain tumor segmentation, progression assessment, and overall survival prediction in the BRATS challenge,” arXiv:1811.02629, 2018.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376</Words>
  <Application>Microsoft Macintosh PowerPoint</Application>
  <PresentationFormat>Custom</PresentationFormat>
  <Paragraphs>98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&lt;&lt;Programme B.Tech/ M.Tech Course Code – Course Title&gt;&gt; &lt;&lt;Project Title&gt;&gt;</vt:lpstr>
      <vt:lpstr>Approval Mail From Guide</vt:lpstr>
      <vt:lpstr>Aim</vt:lpstr>
      <vt:lpstr>Abstract</vt:lpstr>
      <vt:lpstr>Literature Review</vt:lpstr>
      <vt:lpstr>Research Gap</vt:lpstr>
      <vt:lpstr>Objectives</vt:lpstr>
      <vt:lpstr>Framework/Architecture/Block Diagram</vt:lpstr>
      <vt:lpstr>Functional Requirements</vt:lpstr>
      <vt:lpstr>Modules</vt:lpstr>
      <vt:lpstr>Experiments and Results</vt:lpstr>
      <vt:lpstr>Conclusion and Future Work</vt:lpstr>
      <vt:lpstr>Outcome Achieved</vt:lpstr>
      <vt:lpstr>References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&lt;&lt;Programme B.Tech/ M.Tech Course Code – Course Title&gt;&gt; &lt;&lt;Project Title&gt;&gt;</dc:title>
  <dc:creator>Parthasarathy G</dc:creator>
  <cp:lastModifiedBy>Prakash Mohan</cp:lastModifiedBy>
  <cp:revision>12</cp:revision>
  <dcterms:created xsi:type="dcterms:W3CDTF">2026-07-14T06:00:41Z</dcterms:created>
  <dcterms:modified xsi:type="dcterms:W3CDTF">2026-10-05T06:25:49Z</dcterms:modified>
</cp:coreProperties>
</file>