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63" r:id="rId3"/>
    <p:sldId id="257" r:id="rId4"/>
    <p:sldId id="258" r:id="rId5"/>
    <p:sldId id="277" r:id="rId6"/>
    <p:sldId id="259" r:id="rId7"/>
    <p:sldId id="276" r:id="rId8"/>
    <p:sldId id="260" r:id="rId9"/>
    <p:sldId id="283" r:id="rId10"/>
    <p:sldId id="261" r:id="rId11"/>
    <p:sldId id="275" r:id="rId12"/>
    <p:sldId id="264" r:id="rId13"/>
    <p:sldId id="282" r:id="rId14"/>
    <p:sldId id="274" r:id="rId15"/>
    <p:sldId id="265" r:id="rId16"/>
    <p:sldId id="273" r:id="rId17"/>
    <p:sldId id="266" r:id="rId18"/>
    <p:sldId id="272" r:id="rId19"/>
    <p:sldId id="281" r:id="rId20"/>
    <p:sldId id="267" r:id="rId21"/>
    <p:sldId id="284" r:id="rId22"/>
    <p:sldId id="280" r:id="rId23"/>
    <p:sldId id="271" r:id="rId24"/>
    <p:sldId id="279" r:id="rId25"/>
    <p:sldId id="270" r:id="rId26"/>
    <p:sldId id="285" r:id="rId27"/>
    <p:sldId id="278" r:id="rId28"/>
    <p:sldId id="268" r:id="rId29"/>
    <p:sldId id="286" r:id="rId30"/>
    <p:sldId id="262" r:id="rId31"/>
    <p:sldId id="287" r:id="rId32"/>
    <p:sldId id="269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745" y="-267132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18427" y="1515612"/>
            <a:ext cx="89245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| BCSE497J - Project-I</a:t>
            </a:r>
            <a:br>
              <a:rPr lang="en-IN" sz="2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500" b="1" dirty="0" err="1"/>
              <a:t>NeuroScan</a:t>
            </a:r>
            <a:r>
              <a:rPr sz="2500" b="1" dirty="0"/>
              <a:t> AI: AI-Powered Brain </a:t>
            </a:r>
            <a:r>
              <a:rPr sz="2500" b="1" dirty="0" err="1"/>
              <a:t>Tumour</a:t>
            </a:r>
            <a:r>
              <a:rPr sz="2500" b="1" dirty="0"/>
              <a:t> Detection, Classification and Segmentation Platform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684030" y="3646784"/>
            <a:ext cx="11193338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500" b="1" dirty="0">
                <a:solidFill>
                  <a:srgbClr val="000000"/>
                </a:solidFill>
              </a:rPr>
              <a:t>Team members:</a:t>
            </a:r>
            <a:endParaRPr sz="2500" dirty="0">
              <a:latin typeface="Times New Roman"/>
              <a:cs typeface="Times New Roman"/>
            </a:endParaRPr>
          </a:p>
          <a:p>
            <a:r>
              <a:rPr sz="2500" b="0" dirty="0">
                <a:solidFill>
                  <a:srgbClr val="000000"/>
                </a:solidFill>
              </a:rPr>
              <a:t>Parth Mital		(23BCE0842)	parth.mital2023@vitstudent.ac.in</a:t>
            </a:r>
          </a:p>
          <a:p>
            <a:r>
              <a:rPr sz="2500" b="0" dirty="0">
                <a:solidFill>
                  <a:srgbClr val="000000"/>
                </a:solidFill>
              </a:rPr>
              <a:t>Ved Lawand		(23BDS0141)	ved.lawand2023@vitstudent.ac.in</a:t>
            </a:r>
          </a:p>
          <a:p>
            <a:endParaRPr sz="2500" b="0" dirty="0">
              <a:solidFill>
                <a:srgbClr val="000000"/>
              </a:solidFill>
            </a:endParaRPr>
          </a:p>
          <a:p>
            <a:r>
              <a:rPr sz="2500" b="1" dirty="0">
                <a:solidFill>
                  <a:srgbClr val="000000"/>
                </a:solidFill>
              </a:rPr>
              <a:t>Faculty guide:</a:t>
            </a:r>
            <a:endParaRPr lang="en-US" sz="2500" b="1" dirty="0">
              <a:solidFill>
                <a:srgbClr val="000000"/>
              </a:solidFill>
            </a:endParaRPr>
          </a:p>
          <a:p>
            <a:endParaRPr sz="2500" b="1" dirty="0">
              <a:solidFill>
                <a:srgbClr val="000000"/>
              </a:solidFill>
            </a:endParaRPr>
          </a:p>
          <a:p>
            <a:r>
              <a:rPr sz="2500" b="0" dirty="0">
                <a:solidFill>
                  <a:srgbClr val="000000"/>
                </a:solidFill>
              </a:rPr>
              <a:t>Dr. </a:t>
            </a:r>
            <a:r>
              <a:rPr sz="2500" b="0" dirty="0" err="1">
                <a:solidFill>
                  <a:srgbClr val="000000"/>
                </a:solidFill>
              </a:rPr>
              <a:t>Biji</a:t>
            </a:r>
            <a:r>
              <a:rPr sz="2500" b="0" dirty="0">
                <a:solidFill>
                  <a:srgbClr val="000000"/>
                </a:solidFill>
              </a:rPr>
              <a:t> C. L.		biji.cl@vit.ac.in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endParaRPr sz="1500" b="0" dirty="0">
              <a:solidFill>
                <a:srgbClr val="0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To design, evaluate, and deploy an automated, full-stack medical artificial intelligence platform that assists clinicians and radiologists in </a:t>
            </a:r>
            <a:r>
              <a:rPr sz="2500" b="0" dirty="0" err="1">
                <a:solidFill>
                  <a:srgbClr val="000000"/>
                </a:solidFill>
              </a:rPr>
              <a:t>analysing</a:t>
            </a:r>
            <a:r>
              <a:rPr sz="2500" b="0" dirty="0">
                <a:solidFill>
                  <a:srgbClr val="000000"/>
                </a:solidFill>
              </a:rPr>
              <a:t> multi-sequence brain MRI scans through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 detection, histological subtype classification, and 3D volumetric segmentation.</a:t>
            </a:r>
          </a:p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To establish an authoritative, controlled comparative benchmark of modern convolutional neural networks, efficient CNN architectures, and vision transformers under </a:t>
            </a:r>
            <a:r>
              <a:rPr sz="2500" b="0" dirty="0" err="1">
                <a:solidFill>
                  <a:srgbClr val="000000"/>
                </a:solidFill>
              </a:rPr>
              <a:t>standardised</a:t>
            </a:r>
            <a:r>
              <a:rPr sz="2500" b="0" dirty="0">
                <a:solidFill>
                  <a:srgbClr val="000000"/>
                </a:solidFill>
              </a:rPr>
              <a:t> preprocessing, data splitting, and training protocols.</a:t>
            </a:r>
          </a:p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To implement an end-to-end clinical workflow combining high-performance lightweight deep learning models (EfficientNetB0 and </a:t>
            </a: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) with a secure </a:t>
            </a:r>
            <a:r>
              <a:rPr sz="2500" b="0" dirty="0" err="1">
                <a:solidFill>
                  <a:srgbClr val="000000"/>
                </a:solidFill>
              </a:rPr>
              <a:t>FastAPI</a:t>
            </a:r>
            <a:r>
              <a:rPr sz="2500" b="0" dirty="0">
                <a:solidFill>
                  <a:srgbClr val="000000"/>
                </a:solidFill>
              </a:rPr>
              <a:t> inference service, </a:t>
            </a:r>
            <a:r>
              <a:rPr sz="2500" b="0" dirty="0" err="1">
                <a:solidFill>
                  <a:srgbClr val="000000"/>
                </a:solidFill>
              </a:rPr>
              <a:t>SQLModel</a:t>
            </a:r>
            <a:r>
              <a:rPr sz="2500" b="0" dirty="0">
                <a:solidFill>
                  <a:srgbClr val="000000"/>
                </a:solidFill>
              </a:rPr>
              <a:t> database, and an interactive React TypeScript interface featuring 3D VTK.js </a:t>
            </a:r>
            <a:r>
              <a:rPr sz="2500" b="0" dirty="0" err="1">
                <a:solidFill>
                  <a:srgbClr val="000000"/>
                </a:solidFill>
              </a:rPr>
              <a:t>visualisation</a:t>
            </a:r>
            <a:r>
              <a:rPr sz="2500" b="0" dirty="0">
                <a:solidFill>
                  <a:srgbClr val="000000"/>
                </a:solidFill>
              </a:rPr>
              <a:t>, quantitative volumetric analysis, and automated diagnostic report export.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87274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883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Manual analysis of multi-sequence brain magnetic resonance imaging (MRI) is laborious, specialist-dependent, and prone to inter-observer variability, especially in resource-constrained healthcare environments with severe shortages of neuroradiologists.</a:t>
            </a:r>
          </a:p>
          <a:p>
            <a:pPr>
              <a:spcAft>
                <a:spcPts val="1400"/>
              </a:spcAft>
            </a:pPr>
            <a:r>
              <a:rPr sz="2500" b="0" dirty="0" err="1">
                <a:solidFill>
                  <a:srgbClr val="000000"/>
                </a:solidFill>
              </a:rPr>
              <a:t>NeuroScan</a:t>
            </a:r>
            <a:r>
              <a:rPr sz="2500" b="0" dirty="0">
                <a:solidFill>
                  <a:srgbClr val="000000"/>
                </a:solidFill>
              </a:rPr>
              <a:t> AI resolves these diagnostic bottlenecks by uniting rigorous multi-architecture deep learning research with a production-grade clinical software system.</a:t>
            </a:r>
          </a:p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In 2D MRI analysis across nine deep learning architectures, perceptual hash based deduplication eliminated 19.3% duplicate images from combined public datasets before splitting. CoaTNet-0 and EfficientNetB0 achieved 99.59% binary detection accuracy, while InceptionV3 and Swin Base attained 98.58% multiclass classification accuracy across glioma, meningioma, and pituitary </a:t>
            </a:r>
            <a:r>
              <a:rPr sz="2500" b="0" dirty="0" err="1">
                <a:solidFill>
                  <a:srgbClr val="000000"/>
                </a:solidFill>
              </a:rPr>
              <a:t>tumours</a:t>
            </a:r>
            <a:r>
              <a:rPr sz="2500" b="0" dirty="0">
                <a:solidFill>
                  <a:srgbClr val="000000"/>
                </a:solidFill>
              </a:rPr>
              <a:t>. EfficientNetB0 delivered optimal computational efficiency, reaching 97.59% multiclass accuracy with only 5.3 million parameters.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8281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198"/>
            <a:ext cx="10515600" cy="4351338"/>
          </a:xfrm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In 3D volumetric segmentation across six models on the </a:t>
            </a:r>
            <a:r>
              <a:rPr sz="2500" b="0" dirty="0" err="1">
                <a:solidFill>
                  <a:srgbClr val="000000"/>
                </a:solidFill>
              </a:rPr>
              <a:t>BraTS</a:t>
            </a:r>
            <a:r>
              <a:rPr sz="2500" b="0" dirty="0">
                <a:solidFill>
                  <a:srgbClr val="000000"/>
                </a:solidFill>
              </a:rPr>
              <a:t> 2020 dataset (368 usable cases), standard </a:t>
            </a:r>
            <a:r>
              <a:rPr sz="2500" b="0" dirty="0" err="1">
                <a:solidFill>
                  <a:srgbClr val="000000"/>
                </a:solidFill>
              </a:rPr>
              <a:t>UNet</a:t>
            </a:r>
            <a:r>
              <a:rPr sz="2500" b="0" dirty="0">
                <a:solidFill>
                  <a:srgbClr val="000000"/>
                </a:solidFill>
              </a:rPr>
              <a:t> attained the top verified mean Dice score of 0.7999, followed by </a:t>
            </a:r>
            <a:r>
              <a:rPr sz="2500" b="0" dirty="0" err="1">
                <a:solidFill>
                  <a:srgbClr val="000000"/>
                </a:solidFill>
              </a:rPr>
              <a:t>nnU</a:t>
            </a:r>
            <a:r>
              <a:rPr sz="2500" b="0" dirty="0">
                <a:solidFill>
                  <a:srgbClr val="000000"/>
                </a:solidFill>
              </a:rPr>
              <a:t>-Net at 0.7945, and </a:t>
            </a: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 at 0.7655 with an ultra-compact 1.4 million parameters.</a:t>
            </a:r>
          </a:p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Transformer architectures underperformed CNN baselines under standard training budgets due to the absence of spatial inductive bias on limited medical datasets.</a:t>
            </a:r>
          </a:p>
          <a:p>
            <a:pPr>
              <a:spcAft>
                <a:spcPts val="1400"/>
              </a:spcAft>
            </a:pPr>
            <a:r>
              <a:rPr sz="2500" b="0" dirty="0">
                <a:solidFill>
                  <a:srgbClr val="000000"/>
                </a:solidFill>
              </a:rPr>
              <a:t>The platform embeds these verified models into an interactive web application providing sub-30-second inference, 3D VTK.js multi-planar rendering, volumetric lesion tracking, and automated PDF clinical reporting.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92689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10702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08-09-2026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95033"/>
              </p:ext>
            </p:extLst>
          </p:nvPr>
        </p:nvGraphicFramePr>
        <p:xfrm>
          <a:off x="448056" y="957161"/>
          <a:ext cx="11247120" cy="568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400" b="1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Pros /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400" dirty="0"/>
                        <a:t>Zacharaki et al. (2009)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Classify brain </a:t>
                      </a:r>
                      <a:r>
                        <a:rPr sz="1400" dirty="0" err="1"/>
                        <a:t>tumour</a:t>
                      </a:r>
                      <a:r>
                        <a:rPr sz="1400" dirty="0"/>
                        <a:t> type and grade from MRI scans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Texture and shape features classified using Support Vector Machines (SVM)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Established feasibility of ML in tumour grading. Con: Manual feature extraction; small dataset (80 images).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Achieved ~85% accuracy; showed the need for automatic feature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400"/>
                        <a:t>Cheng et al. (2015)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Improve tumour classification across three subtypes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Tumour region augmentation and spatial partition with SVM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Multi-region partition improved local feature capture. Con: Handcrafted features remained a bottleneck.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Achieved 90.00% accuracy on 3,064 MRI images across glioma, meningioma and pituitary cases.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400"/>
                        <a:t>Szegedy et al. (2016) 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Improve image classification via multi-scale convolutions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InceptionV3 with parallel convolutional paths (1x1, 3x3, 5x5 kernels)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Captures multi-scale features with moderate footprint. Con: Higher memory overhead than compact networks.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Set standards for multi-scale extraction; 97.50%-99.39% accuracy in later brain tumour studies.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400" dirty="0"/>
                        <a:t>Tan and Le (2019) [18]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Build parameter-efficient accurate CNNs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EfficientNet compound scaling of depth, width and resolution via 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Exceptional accuracy-to-parameter ratio (5.3M params). Con: Requires resolution-specific tuning.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State-of-the-art efficiency; compound scaling outperforms simple depth scaling.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400"/>
                        <a:t>Dosovitskiy et al. (2021) [28]; Liu et al. (2021) [29]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Apply vision transformers to visual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ViT-B/16 patch self-attention; Swin Transformer hierarchical shifted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Models global context and long-range dependencies. Con: No convolutional inductive bias; needs massive pretraining.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Swin Base reached 98.58% multiclass accuracy; </a:t>
                      </a:r>
                      <a:r>
                        <a:rPr sz="1400" dirty="0" err="1"/>
                        <a:t>ViT</a:t>
                      </a:r>
                      <a:r>
                        <a:rPr sz="1400" dirty="0"/>
                        <a:t>-B/16 underperformed (89.52%) on modest medical cohorts.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136525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08-09-2026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01175"/>
              </p:ext>
            </p:extLst>
          </p:nvPr>
        </p:nvGraphicFramePr>
        <p:xfrm>
          <a:off x="448056" y="942422"/>
          <a:ext cx="11247120" cy="497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r>
                        <a:rPr lang="en-IN" sz="1400" b="1" dirty="0"/>
                        <a:t>Paper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Pros /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sz="1400" dirty="0" err="1"/>
                        <a:t>Ronneberger</a:t>
                      </a:r>
                      <a:r>
                        <a:rPr sz="1400" dirty="0"/>
                        <a:t> et al. (2015) [1]; Cicek et al. (2016)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Biomedical segmentation with limited training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UNet and 3D UNet symmetric encoder-decoder networks with skip connections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Skip connections recover boundary detail; 3D convolutions capture volumetric continuity. Con: High memory demand in 3D.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3D UNet achieved the top verified mean Dice of 0.7999 on BraTS 2020, the gold standard for volumetric segmentation.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sz="1400"/>
                        <a:t>Milletari et al. (2016)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Optimise</a:t>
                      </a:r>
                      <a:r>
                        <a:rPr sz="1400" dirty="0"/>
                        <a:t> volumetric segmentation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VNet with 3D residual blocks, PReLU activations and Dice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Ultra-compact (1.4M params) and fastest training. Con: Slight drop on highly fragmented small lesions.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0.7655 mean Dice with 4x fewer parameters and 2x faster training than UNet; ideal for edge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sz="1400"/>
                        <a:t>Isensee et al. (2021) 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Automate segmentation pipeline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nnU-Net self-configuring pipeline adapting to dataset fingerprint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Robust automated preprocessing, patch selection and deep supervision. Con: Substantial training overhead (55.1 min).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0.7945 mean Dice on BraTS 2020, confirming the efficacy of structured convolutional pipelines.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sz="1400" dirty="0" err="1"/>
                        <a:t>Hatamizadeh</a:t>
                      </a:r>
                      <a:r>
                        <a:rPr sz="1400" dirty="0"/>
                        <a:t> et al. (2022) [14]; Wang et al. (2021) [9]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Exploit transformers for 3D volumetric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UNETR (ViT encoder + CNN decoder); TransBTS (CNN encoder + transformer bottleneck)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Pro: Direct modelling of long-range 3D dependencies. Con: Massive parameters (137.6M for UNETR); slow convergence.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UNETR (0.6234) and </a:t>
                      </a:r>
                      <a:r>
                        <a:rPr sz="1400" dirty="0" err="1"/>
                        <a:t>TransBTS</a:t>
                      </a:r>
                      <a:r>
                        <a:rPr sz="1400" dirty="0"/>
                        <a:t> (0.5109 mean Dice) underperformed CNN baselines on the 10-epoch benchmark.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182482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2500" b="1" dirty="0">
                <a:solidFill>
                  <a:srgbClr val="000000"/>
                </a:solidFill>
              </a:rPr>
              <a:t>Lack of Controlled Cross-Architecture Benchmarks: </a:t>
            </a:r>
            <a:r>
              <a:rPr sz="2500" b="0" dirty="0">
                <a:solidFill>
                  <a:srgbClr val="000000"/>
                </a:solidFill>
              </a:rPr>
              <a:t>Existing literature evaluates models in isolation across divergent datasets, splits, and training parameters, preventing rigorous inter-study comparisons between CNNs and vision transformers.</a:t>
            </a:r>
          </a:p>
          <a:p>
            <a:pPr>
              <a:spcAft>
                <a:spcPts val="1000"/>
              </a:spcAft>
            </a:pPr>
            <a:r>
              <a:rPr sz="2500" b="1" dirty="0">
                <a:solidFill>
                  <a:srgbClr val="000000"/>
                </a:solidFill>
              </a:rPr>
              <a:t>Dataset Duplicate Leakage: </a:t>
            </a:r>
            <a:r>
              <a:rPr sz="2500" b="0" dirty="0">
                <a:solidFill>
                  <a:srgbClr val="000000"/>
                </a:solidFill>
              </a:rPr>
              <a:t>Merged public brain MRI datasets contain widespread duplicate and near-duplicate images that leak across training, validation, and test splits, producing artificially inflated performance metrics.</a:t>
            </a:r>
          </a:p>
          <a:p>
            <a:pPr>
              <a:spcAft>
                <a:spcPts val="1000"/>
              </a:spcAft>
            </a:pPr>
            <a:r>
              <a:rPr sz="2500" b="1" dirty="0">
                <a:solidFill>
                  <a:srgbClr val="000000"/>
                </a:solidFill>
              </a:rPr>
              <a:t>Unverified Vision Transformer Claims in 3D Medical Segmentation: </a:t>
            </a:r>
            <a:r>
              <a:rPr sz="2500" b="0" dirty="0">
                <a:solidFill>
                  <a:srgbClr val="000000"/>
                </a:solidFill>
              </a:rPr>
              <a:t>Transformers are frequently asserted to surpass CNNs, yet their data-hungry nature, computational overhead, and convergence failures under realistic training budgets remain insufficiently quantified.</a:t>
            </a:r>
            <a:endParaRPr lang="en-IN" sz="2500" b="0" dirty="0">
              <a:solidFill>
                <a:srgbClr val="000000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104341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88D1-C836-3F12-33C8-B23C16DD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(Contd.)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5CBB7-A921-4CF0-AD1A-124BAE36D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Neglect of Computational and Parameter Efficiency: </a:t>
            </a:r>
            <a:r>
              <a:rPr lang="en-US" dirty="0">
                <a:solidFill>
                  <a:srgbClr val="000000"/>
                </a:solidFill>
              </a:rPr>
              <a:t>Literature routinely focuses on accuracy or Dice metrics alone while ignoring parameter count, GPU memory footprint, and training latency critical for clinical hardware deployment.</a:t>
            </a:r>
          </a:p>
          <a:p>
            <a:pPr>
              <a:spcAft>
                <a:spcPts val="1000"/>
              </a:spcAft>
            </a:pPr>
            <a:r>
              <a:rPr lang="en-IN" b="1" dirty="0">
                <a:solidFill>
                  <a:srgbClr val="000000"/>
                </a:solidFill>
              </a:rPr>
              <a:t>Disconnect Between Research Models and Clinical Workflow: </a:t>
            </a:r>
            <a:r>
              <a:rPr lang="en-IN" dirty="0">
                <a:solidFill>
                  <a:srgbClr val="000000"/>
                </a:solidFill>
              </a:rPr>
              <a:t>Standalone models lack integration into secure, interactive clinical workflows featuring multi-sequence </a:t>
            </a:r>
            <a:r>
              <a:rPr lang="en-IN" dirty="0" err="1">
                <a:solidFill>
                  <a:srgbClr val="000000"/>
                </a:solidFill>
              </a:rPr>
              <a:t>NIfTI</a:t>
            </a:r>
            <a:r>
              <a:rPr lang="en-IN" dirty="0">
                <a:solidFill>
                  <a:srgbClr val="000000"/>
                </a:solidFill>
              </a:rPr>
              <a:t> ingestion, 3D multi-planar visualisation, volumetric lesion tracking, and automated reporting.</a:t>
            </a:r>
          </a:p>
          <a:p>
            <a:pPr>
              <a:spcAft>
                <a:spcPts val="1000"/>
              </a:spcAft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D4AF2-D006-8B35-D869-5E08CF73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689F7-2175-624D-9046-15136767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C8AA-B12E-6FD3-01B1-5836599C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9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16" y="1051560"/>
            <a:ext cx="10515600" cy="4754880"/>
          </a:xfrm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2500" b="1" dirty="0" err="1">
                <a:solidFill>
                  <a:srgbClr val="000000"/>
                </a:solidFill>
              </a:rPr>
              <a:t>Standardised</a:t>
            </a:r>
            <a:r>
              <a:rPr sz="2500" b="1" dirty="0">
                <a:solidFill>
                  <a:srgbClr val="000000"/>
                </a:solidFill>
              </a:rPr>
              <a:t> 2D Benchmarking: </a:t>
            </a:r>
            <a:r>
              <a:rPr sz="2500" b="0" dirty="0">
                <a:solidFill>
                  <a:srgbClr val="000000"/>
                </a:solidFill>
              </a:rPr>
              <a:t>Implement and evaluate nine deep learning architectures (classical CNNs, efficient CNNs, and vision transformers) for binary detection and three-class subtype classification under identical hyperparameters.</a:t>
            </a:r>
          </a:p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Leakage-Free Dataset Curation: </a:t>
            </a:r>
            <a:r>
              <a:rPr sz="2500" b="0" dirty="0">
                <a:solidFill>
                  <a:srgbClr val="000000"/>
                </a:solidFill>
              </a:rPr>
              <a:t>Establish a perceptual hash deduplication pipeline (Hamming distance &lt;= 5) on merged public datasets, eliminating 19.3% duplicate images before stratified splitting.</a:t>
            </a:r>
          </a:p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Volumetric 3D Segmentation Benchmark: </a:t>
            </a:r>
            <a:r>
              <a:rPr sz="2500" b="0" dirty="0">
                <a:solidFill>
                  <a:srgbClr val="000000"/>
                </a:solidFill>
              </a:rPr>
              <a:t>Implement from scratch and benchmark six 3D architectures (</a:t>
            </a:r>
            <a:r>
              <a:rPr sz="2500" b="0" dirty="0" err="1">
                <a:solidFill>
                  <a:srgbClr val="000000"/>
                </a:solidFill>
              </a:rPr>
              <a:t>UNet</a:t>
            </a:r>
            <a:r>
              <a:rPr sz="2500" b="0" dirty="0">
                <a:solidFill>
                  <a:srgbClr val="000000"/>
                </a:solidFill>
              </a:rPr>
              <a:t>, </a:t>
            </a:r>
            <a:r>
              <a:rPr sz="2500" b="0" dirty="0" err="1">
                <a:solidFill>
                  <a:srgbClr val="000000"/>
                </a:solidFill>
              </a:rPr>
              <a:t>nnU</a:t>
            </a:r>
            <a:r>
              <a:rPr sz="2500" b="0" dirty="0">
                <a:solidFill>
                  <a:srgbClr val="000000"/>
                </a:solidFill>
              </a:rPr>
              <a:t>-Net, </a:t>
            </a: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, UNETR, Swin UNETR, </a:t>
            </a:r>
            <a:r>
              <a:rPr sz="2500" b="0" dirty="0" err="1">
                <a:solidFill>
                  <a:srgbClr val="000000"/>
                </a:solidFill>
              </a:rPr>
              <a:t>TransBTS</a:t>
            </a:r>
            <a:r>
              <a:rPr sz="2500" b="0" dirty="0">
                <a:solidFill>
                  <a:srgbClr val="000000"/>
                </a:solidFill>
              </a:rPr>
              <a:t>) on </a:t>
            </a:r>
            <a:r>
              <a:rPr sz="2500" b="0" dirty="0" err="1">
                <a:solidFill>
                  <a:srgbClr val="000000"/>
                </a:solidFill>
              </a:rPr>
              <a:t>BraTS</a:t>
            </a:r>
            <a:r>
              <a:rPr sz="2500" b="0" dirty="0">
                <a:solidFill>
                  <a:srgbClr val="000000"/>
                </a:solidFill>
              </a:rPr>
              <a:t> 2020 for WT, TC and ET delineation.</a:t>
            </a:r>
          </a:p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Architectural Trade-Off Analysis: </a:t>
            </a:r>
            <a:r>
              <a:rPr sz="2500" b="0" dirty="0">
                <a:solidFill>
                  <a:srgbClr val="000000"/>
                </a:solidFill>
              </a:rPr>
              <a:t>Quantify trade-offs between segmentation accuracy, parameter count, training latency and memory consumption to identify optimal models for edge and tertiary deployment.</a:t>
            </a:r>
            <a:endParaRPr lang="en-IN" sz="2500" b="0" dirty="0">
              <a:solidFill>
                <a:srgbClr val="000000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5216" y="154824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2942"/>
            <a:ext cx="10515600" cy="2834640"/>
          </a:xfrm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Identified Sustainable Development Goals:</a:t>
            </a:r>
          </a:p>
          <a:p>
            <a:pPr lvl="1"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SDG 3 (Good Health and Well-Being): </a:t>
            </a:r>
            <a:r>
              <a:rPr sz="2500" b="0" dirty="0">
                <a:solidFill>
                  <a:srgbClr val="000000"/>
                </a:solidFill>
              </a:rPr>
              <a:t>Target 3.4 - enhancing early diagnosis, screening accessibility, and precision management of non-communicable neurological diseases.</a:t>
            </a:r>
          </a:p>
          <a:p>
            <a:pPr lvl="1"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SDG 9 (Industry, Innovation and Infrastructure): </a:t>
            </a:r>
            <a:r>
              <a:rPr sz="2500" b="0" dirty="0">
                <a:solidFill>
                  <a:srgbClr val="000000"/>
                </a:solidFill>
              </a:rPr>
              <a:t>Fostering technological innovation in healthcare infrastructure through accessible, open-source AI medical tools.</a:t>
            </a:r>
          </a:p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Project Outcomes: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Two comprehensive research manuscripts prepared for submission to Engineering Applications of Artificial Intelligence (Elsevier, Scopus Indexed).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081" y="136525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42" y="1338161"/>
            <a:ext cx="872591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323041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Pipeline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58" y="1234440"/>
            <a:ext cx="724540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1400"/>
              </a:spcAft>
            </a:pPr>
            <a:r>
              <a:rPr sz="2500" b="1" dirty="0">
                <a:solidFill>
                  <a:srgbClr val="000000"/>
                </a:solidFill>
              </a:rPr>
              <a:t>Volumetric Analytics and Reconstruction Engine: </a:t>
            </a:r>
            <a:r>
              <a:rPr sz="2500" b="0" dirty="0">
                <a:solidFill>
                  <a:srgbClr val="000000"/>
                </a:solidFill>
              </a:rPr>
              <a:t>Computes metric lesion volumes (in mm³ and cm³), generates </a:t>
            </a:r>
            <a:r>
              <a:rPr sz="2500" b="0" dirty="0" err="1">
                <a:solidFill>
                  <a:srgbClr val="000000"/>
                </a:solidFill>
              </a:rPr>
              <a:t>colour</a:t>
            </a:r>
            <a:r>
              <a:rPr sz="2500" b="0" dirty="0">
                <a:solidFill>
                  <a:srgbClr val="000000"/>
                </a:solidFill>
              </a:rPr>
              <a:t>-coded 2D multi-planar slice overlays (Axial, Coronal, Sagittal), and prepares 3D surface meshes.</a:t>
            </a:r>
          </a:p>
          <a:p>
            <a:pPr>
              <a:spcAft>
                <a:spcPts val="1400"/>
              </a:spcAft>
            </a:pPr>
            <a:r>
              <a:rPr sz="2500" b="1" dirty="0">
                <a:solidFill>
                  <a:srgbClr val="000000"/>
                </a:solidFill>
              </a:rPr>
              <a:t>Presentation and Persistence Layer: </a:t>
            </a:r>
            <a:r>
              <a:rPr sz="2500" b="0" dirty="0">
                <a:solidFill>
                  <a:srgbClr val="000000"/>
                </a:solidFill>
              </a:rPr>
              <a:t>Renders interactive 3D </a:t>
            </a:r>
            <a:r>
              <a:rPr sz="2500" b="0" dirty="0" err="1">
                <a:solidFill>
                  <a:srgbClr val="000000"/>
                </a:solidFill>
              </a:rPr>
              <a:t>visualisations</a:t>
            </a:r>
            <a:r>
              <a:rPr sz="2500" b="0" dirty="0">
                <a:solidFill>
                  <a:srgbClr val="000000"/>
                </a:solidFill>
              </a:rPr>
              <a:t> via VTK.js, provides secure REST API endpoints via </a:t>
            </a:r>
            <a:r>
              <a:rPr sz="2500" b="0" dirty="0" err="1">
                <a:solidFill>
                  <a:srgbClr val="000000"/>
                </a:solidFill>
              </a:rPr>
              <a:t>FastAPI</a:t>
            </a:r>
            <a:r>
              <a:rPr sz="2500" b="0" dirty="0">
                <a:solidFill>
                  <a:srgbClr val="000000"/>
                </a:solidFill>
              </a:rPr>
              <a:t>, persists records in SQLite using </a:t>
            </a:r>
            <a:r>
              <a:rPr sz="2500" b="0" dirty="0" err="1">
                <a:solidFill>
                  <a:srgbClr val="000000"/>
                </a:solidFill>
              </a:rPr>
              <a:t>SQLModel</a:t>
            </a:r>
            <a:r>
              <a:rPr sz="2500" b="0" dirty="0">
                <a:solidFill>
                  <a:srgbClr val="000000"/>
                </a:solidFill>
              </a:rPr>
              <a:t> ORM, and exports structured PDF clinical summaries.</a:t>
            </a:r>
          </a:p>
          <a:p>
            <a:pPr>
              <a:spcAft>
                <a:spcPts val="1400"/>
              </a:spcAft>
            </a:pPr>
            <a:r>
              <a:rPr sz="2500" b="1" dirty="0">
                <a:solidFill>
                  <a:srgbClr val="000000"/>
                </a:solidFill>
              </a:rPr>
              <a:t>End-to-End Flow: </a:t>
            </a:r>
            <a:r>
              <a:rPr sz="2500" b="0" dirty="0">
                <a:solidFill>
                  <a:srgbClr val="000000"/>
                </a:solidFill>
              </a:rPr>
              <a:t>Upload → preprocessing → Stage 1 detection → Stage 2 classification → Stage 3 segmentation → volumetrics and slice generation → interactive review → PDF report export, completed in under 30 seconds on GPU infrastructure.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206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Multimodal MRI File Ingestion: </a:t>
            </a:r>
            <a:r>
              <a:rPr sz="2500" b="0" dirty="0">
                <a:solidFill>
                  <a:srgbClr val="000000"/>
                </a:solidFill>
              </a:rPr>
              <a:t>Accept and parse 2D MRI slices and 3D volumetric </a:t>
            </a:r>
            <a:r>
              <a:rPr sz="2500" b="0" dirty="0" err="1">
                <a:solidFill>
                  <a:srgbClr val="000000"/>
                </a:solidFill>
              </a:rPr>
              <a:t>NIfTI</a:t>
            </a:r>
            <a:r>
              <a:rPr sz="2500" b="0" dirty="0">
                <a:solidFill>
                  <a:srgbClr val="000000"/>
                </a:solidFill>
              </a:rPr>
              <a:t> files (.</a:t>
            </a:r>
            <a:r>
              <a:rPr sz="2500" b="0" dirty="0" err="1">
                <a:solidFill>
                  <a:srgbClr val="000000"/>
                </a:solidFill>
              </a:rPr>
              <a:t>nii</a:t>
            </a:r>
            <a:r>
              <a:rPr sz="2500" b="0" dirty="0">
                <a:solidFill>
                  <a:srgbClr val="000000"/>
                </a:solidFill>
              </a:rPr>
              <a:t>, .nii.gz) containing T1, T1CE, T2 and FLAIR sequences.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Automated Image Preprocessing: </a:t>
            </a:r>
            <a:r>
              <a:rPr sz="2500" b="0" dirty="0">
                <a:solidFill>
                  <a:srgbClr val="000000"/>
                </a:solidFill>
              </a:rPr>
              <a:t>Perform automatic non-zero foreground z-score </a:t>
            </a:r>
            <a:r>
              <a:rPr sz="2500" b="0" dirty="0" err="1">
                <a:solidFill>
                  <a:srgbClr val="000000"/>
                </a:solidFill>
              </a:rPr>
              <a:t>normalisation</a:t>
            </a:r>
            <a:r>
              <a:rPr sz="2500" b="0" dirty="0">
                <a:solidFill>
                  <a:srgbClr val="000000"/>
                </a:solidFill>
              </a:rPr>
              <a:t> and spatial resampling to standard network dimensions.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Binary </a:t>
            </a:r>
            <a:r>
              <a:rPr sz="2500" b="1" dirty="0" err="1">
                <a:solidFill>
                  <a:srgbClr val="000000"/>
                </a:solidFill>
              </a:rPr>
              <a:t>Tumour</a:t>
            </a:r>
            <a:r>
              <a:rPr sz="2500" b="1" dirty="0">
                <a:solidFill>
                  <a:srgbClr val="000000"/>
                </a:solidFill>
              </a:rPr>
              <a:t> Detection: </a:t>
            </a:r>
            <a:r>
              <a:rPr sz="2500" b="0" dirty="0">
                <a:solidFill>
                  <a:srgbClr val="000000"/>
                </a:solidFill>
              </a:rPr>
              <a:t>Classify uploaded scans as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-positive or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-negative with associated classification confidence scores.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Histological Subtype Classification: </a:t>
            </a:r>
            <a:r>
              <a:rPr sz="2500" b="0" dirty="0" err="1">
                <a:solidFill>
                  <a:srgbClr val="000000"/>
                </a:solidFill>
              </a:rPr>
              <a:t>Categorise</a:t>
            </a:r>
            <a:r>
              <a:rPr sz="2500" b="0" dirty="0">
                <a:solidFill>
                  <a:srgbClr val="000000"/>
                </a:solidFill>
              </a:rPr>
              <a:t>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-positive scans into Glioma, Meningioma or Pituitary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 classes with calibrated class probabilities.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Multi-Region 3D Volumetric Segmentation: </a:t>
            </a:r>
            <a:r>
              <a:rPr sz="2500" b="0" dirty="0">
                <a:solidFill>
                  <a:srgbClr val="000000"/>
                </a:solidFill>
              </a:rPr>
              <a:t>Segment 3D MRI volumes into Whole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 (WT),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 Core (TC) and Enhancing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 (ET) sub-regions.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416" y="136525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818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Quantitative Lesion Volumetry: </a:t>
            </a:r>
            <a:r>
              <a:rPr sz="2500" b="0" dirty="0">
                <a:solidFill>
                  <a:srgbClr val="000000"/>
                </a:solidFill>
              </a:rPr>
              <a:t>Calculate and display absolute physical </a:t>
            </a:r>
            <a:r>
              <a:rPr sz="2500" b="0" dirty="0" err="1">
                <a:solidFill>
                  <a:srgbClr val="000000"/>
                </a:solidFill>
              </a:rPr>
              <a:t>tumour</a:t>
            </a:r>
            <a:r>
              <a:rPr sz="2500" b="0" dirty="0">
                <a:solidFill>
                  <a:srgbClr val="000000"/>
                </a:solidFill>
              </a:rPr>
              <a:t> volumes in cubic </a:t>
            </a:r>
            <a:r>
              <a:rPr sz="2500" b="0" dirty="0" err="1">
                <a:solidFill>
                  <a:srgbClr val="000000"/>
                </a:solidFill>
              </a:rPr>
              <a:t>millimetres</a:t>
            </a:r>
            <a:r>
              <a:rPr sz="2500" b="0" dirty="0">
                <a:solidFill>
                  <a:srgbClr val="000000"/>
                </a:solidFill>
              </a:rPr>
              <a:t> (mm³) and cubic </a:t>
            </a:r>
            <a:r>
              <a:rPr sz="2500" b="0" dirty="0" err="1">
                <a:solidFill>
                  <a:srgbClr val="000000"/>
                </a:solidFill>
              </a:rPr>
              <a:t>centimetres</a:t>
            </a:r>
            <a:r>
              <a:rPr sz="2500" b="0" dirty="0">
                <a:solidFill>
                  <a:srgbClr val="000000"/>
                </a:solidFill>
              </a:rPr>
              <a:t> (cm³) for each segmented sub-region.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Interactive Multi-Planar </a:t>
            </a:r>
            <a:r>
              <a:rPr sz="2500" b="1" dirty="0" err="1">
                <a:solidFill>
                  <a:srgbClr val="000000"/>
                </a:solidFill>
              </a:rPr>
              <a:t>Visualisation</a:t>
            </a:r>
            <a:r>
              <a:rPr sz="2500" b="1" dirty="0">
                <a:solidFill>
                  <a:srgbClr val="000000"/>
                </a:solidFill>
              </a:rPr>
              <a:t>: </a:t>
            </a:r>
            <a:r>
              <a:rPr sz="2500" b="0" dirty="0">
                <a:solidFill>
                  <a:srgbClr val="000000"/>
                </a:solidFill>
              </a:rPr>
              <a:t>Render 2D multi-planar reconstruction views (Axial, Coronal, Sagittal) with adjustable slice sliders and </a:t>
            </a:r>
            <a:r>
              <a:rPr sz="2500" b="0" dirty="0" err="1">
                <a:solidFill>
                  <a:srgbClr val="000000"/>
                </a:solidFill>
              </a:rPr>
              <a:t>colour</a:t>
            </a:r>
            <a:r>
              <a:rPr sz="2500" b="0" dirty="0">
                <a:solidFill>
                  <a:srgbClr val="000000"/>
                </a:solidFill>
              </a:rPr>
              <a:t>-coded segmentation overlays.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Automated Diagnostic Reporting: </a:t>
            </a:r>
            <a:r>
              <a:rPr sz="2500" b="0" dirty="0">
                <a:solidFill>
                  <a:srgbClr val="000000"/>
                </a:solidFill>
              </a:rPr>
              <a:t>Generate and export downloadable PDF clinical reports </a:t>
            </a:r>
            <a:r>
              <a:rPr sz="2500" b="0" dirty="0" err="1">
                <a:solidFill>
                  <a:srgbClr val="000000"/>
                </a:solidFill>
              </a:rPr>
              <a:t>summarising</a:t>
            </a:r>
            <a:r>
              <a:rPr sz="2500" b="0" dirty="0">
                <a:solidFill>
                  <a:srgbClr val="000000"/>
                </a:solidFill>
              </a:rPr>
              <a:t> patient metadata, classification findings, volumetric measurements and key slice overlays.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Secure Authentication and Scan Library: </a:t>
            </a:r>
            <a:r>
              <a:rPr sz="2500" b="0" dirty="0">
                <a:solidFill>
                  <a:srgbClr val="000000"/>
                </a:solidFill>
              </a:rPr>
              <a:t>Provide JWT-based user authentication, </a:t>
            </a:r>
            <a:r>
              <a:rPr sz="2500" b="0" dirty="0" err="1">
                <a:solidFill>
                  <a:srgbClr val="000000"/>
                </a:solidFill>
              </a:rPr>
              <a:t>bcrypt</a:t>
            </a:r>
            <a:r>
              <a:rPr sz="2500" b="0" dirty="0">
                <a:solidFill>
                  <a:srgbClr val="000000"/>
                </a:solidFill>
              </a:rPr>
              <a:t> password hashing and user-isolated scan management.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584" y="392689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009548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Module 1 - Preprocessing and Deduplication Pipeline: </a:t>
            </a:r>
            <a:r>
              <a:rPr sz="2500" b="0" dirty="0">
                <a:solidFill>
                  <a:srgbClr val="000000"/>
                </a:solidFill>
              </a:rPr>
              <a:t>Manages intensity </a:t>
            </a:r>
            <a:r>
              <a:rPr sz="2500" b="0" dirty="0" err="1">
                <a:solidFill>
                  <a:srgbClr val="000000"/>
                </a:solidFill>
              </a:rPr>
              <a:t>normalisation</a:t>
            </a:r>
            <a:r>
              <a:rPr sz="2500" b="0" dirty="0">
                <a:solidFill>
                  <a:srgbClr val="000000"/>
                </a:solidFill>
              </a:rPr>
              <a:t>, spatial resampling, training augmentations (rotations, flips, </a:t>
            </a:r>
            <a:r>
              <a:rPr sz="2500" b="0" dirty="0" err="1">
                <a:solidFill>
                  <a:srgbClr val="000000"/>
                </a:solidFill>
              </a:rPr>
              <a:t>colour</a:t>
            </a:r>
            <a:r>
              <a:rPr sz="2500" b="0" dirty="0">
                <a:solidFill>
                  <a:srgbClr val="000000"/>
                </a:solidFill>
              </a:rPr>
              <a:t> jitter), and perceptual hash deduplication (</a:t>
            </a:r>
            <a:r>
              <a:rPr sz="2500" b="0" dirty="0" err="1">
                <a:solidFill>
                  <a:srgbClr val="000000"/>
                </a:solidFill>
              </a:rPr>
              <a:t>pHash</a:t>
            </a:r>
            <a:r>
              <a:rPr sz="2500" b="0" dirty="0">
                <a:solidFill>
                  <a:srgbClr val="000000"/>
                </a:solidFill>
              </a:rPr>
              <a:t>, Hamming distance &lt;= 5) to prevent data leakage.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Module 2 - Binary </a:t>
            </a:r>
            <a:r>
              <a:rPr sz="2500" b="1" dirty="0" err="1">
                <a:solidFill>
                  <a:srgbClr val="000000"/>
                </a:solidFill>
              </a:rPr>
              <a:t>Tumour</a:t>
            </a:r>
            <a:r>
              <a:rPr sz="2500" b="1" dirty="0">
                <a:solidFill>
                  <a:srgbClr val="000000"/>
                </a:solidFill>
              </a:rPr>
              <a:t> Detection Engine: </a:t>
            </a:r>
            <a:r>
              <a:rPr sz="2500" b="0" dirty="0">
                <a:solidFill>
                  <a:srgbClr val="000000"/>
                </a:solidFill>
              </a:rPr>
              <a:t>Encapsulates </a:t>
            </a:r>
            <a:r>
              <a:rPr sz="2500" b="0" dirty="0" err="1">
                <a:solidFill>
                  <a:srgbClr val="000000"/>
                </a:solidFill>
              </a:rPr>
              <a:t>PyTorch</a:t>
            </a:r>
            <a:r>
              <a:rPr sz="2500" b="0" dirty="0">
                <a:solidFill>
                  <a:srgbClr val="000000"/>
                </a:solidFill>
              </a:rPr>
              <a:t> inference using EfficientNetB0 (5.3M parameters) and InceptionV3 (23.9M parameters) for initial abnormal scan triage.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Module 3 - Multiclass Subtype Classification Engine: </a:t>
            </a:r>
            <a:r>
              <a:rPr sz="2500" b="0" dirty="0">
                <a:solidFill>
                  <a:srgbClr val="000000"/>
                </a:solidFill>
              </a:rPr>
              <a:t>Implements deep classifiers (EfficientNetB0, InceptionV3, Swin Base) </a:t>
            </a:r>
            <a:r>
              <a:rPr sz="2500" b="0" dirty="0" err="1">
                <a:solidFill>
                  <a:srgbClr val="000000"/>
                </a:solidFill>
              </a:rPr>
              <a:t>categorising</a:t>
            </a:r>
            <a:r>
              <a:rPr sz="2500" b="0" dirty="0">
                <a:solidFill>
                  <a:srgbClr val="000000"/>
                </a:solidFill>
              </a:rPr>
              <a:t> confirmed </a:t>
            </a:r>
            <a:r>
              <a:rPr sz="2500" b="0" dirty="0" err="1">
                <a:solidFill>
                  <a:srgbClr val="000000"/>
                </a:solidFill>
              </a:rPr>
              <a:t>tumours</a:t>
            </a:r>
            <a:r>
              <a:rPr sz="2500" b="0" dirty="0">
                <a:solidFill>
                  <a:srgbClr val="000000"/>
                </a:solidFill>
              </a:rPr>
              <a:t> into glioma, meningioma and pituitary types.</a:t>
            </a:r>
          </a:p>
          <a:p>
            <a:pPr>
              <a:spcAft>
                <a:spcPts val="1200"/>
              </a:spcAft>
            </a:pPr>
            <a:r>
              <a:rPr sz="2500" b="1" dirty="0">
                <a:solidFill>
                  <a:srgbClr val="000000"/>
                </a:solidFill>
              </a:rPr>
              <a:t>Module 4 - 3D Volumetric Segmentation Engine: </a:t>
            </a:r>
            <a:r>
              <a:rPr sz="2500" b="0" dirty="0">
                <a:solidFill>
                  <a:srgbClr val="000000"/>
                </a:solidFill>
              </a:rPr>
              <a:t>Houses 3D convolutional architectures (</a:t>
            </a: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, </a:t>
            </a:r>
            <a:r>
              <a:rPr sz="2500" b="0" dirty="0" err="1">
                <a:solidFill>
                  <a:srgbClr val="000000"/>
                </a:solidFill>
              </a:rPr>
              <a:t>UNet</a:t>
            </a:r>
            <a:r>
              <a:rPr sz="2500" b="0" dirty="0">
                <a:solidFill>
                  <a:srgbClr val="000000"/>
                </a:solidFill>
              </a:rPr>
              <a:t>, </a:t>
            </a:r>
            <a:r>
              <a:rPr sz="2500" b="0" dirty="0" err="1">
                <a:solidFill>
                  <a:srgbClr val="000000"/>
                </a:solidFill>
              </a:rPr>
              <a:t>nnU</a:t>
            </a:r>
            <a:r>
              <a:rPr sz="2500" b="0" dirty="0">
                <a:solidFill>
                  <a:srgbClr val="000000"/>
                </a:solidFill>
              </a:rPr>
              <a:t>-Net) operating on 4-channel stacked volumes to produce voxel-wise multi-label segmentation masks.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218921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1400"/>
              </a:spcAft>
            </a:pPr>
            <a:r>
              <a:rPr sz="2500" b="1" dirty="0">
                <a:solidFill>
                  <a:srgbClr val="000000"/>
                </a:solidFill>
              </a:rPr>
              <a:t>Module 5 - Clinical Analytics and Volumetrics Module: </a:t>
            </a:r>
            <a:r>
              <a:rPr sz="2500" b="0" dirty="0">
                <a:solidFill>
                  <a:srgbClr val="000000"/>
                </a:solidFill>
              </a:rPr>
              <a:t>Computes physical sub-region volumes via voxel summation and spacing metadata, extracts 2D cross-sectional slices across all anatomical axes, and applies alpha-blended </a:t>
            </a:r>
            <a:r>
              <a:rPr sz="2500" b="0" dirty="0" err="1">
                <a:solidFill>
                  <a:srgbClr val="000000"/>
                </a:solidFill>
              </a:rPr>
              <a:t>colour</a:t>
            </a:r>
            <a:r>
              <a:rPr sz="2500" b="0" dirty="0">
                <a:solidFill>
                  <a:srgbClr val="000000"/>
                </a:solidFill>
              </a:rPr>
              <a:t> overlays.</a:t>
            </a:r>
          </a:p>
          <a:p>
            <a:pPr>
              <a:spcAft>
                <a:spcPts val="1400"/>
              </a:spcAft>
            </a:pPr>
            <a:r>
              <a:rPr sz="2500" b="1" dirty="0">
                <a:solidFill>
                  <a:srgbClr val="000000"/>
                </a:solidFill>
              </a:rPr>
              <a:t>Module 6 - Backend REST API and Persistence Service: </a:t>
            </a:r>
            <a:r>
              <a:rPr sz="2500" b="0" dirty="0">
                <a:solidFill>
                  <a:srgbClr val="000000"/>
                </a:solidFill>
              </a:rPr>
              <a:t>Built with </a:t>
            </a:r>
            <a:r>
              <a:rPr sz="2500" b="0" dirty="0" err="1">
                <a:solidFill>
                  <a:srgbClr val="000000"/>
                </a:solidFill>
              </a:rPr>
              <a:t>FastAPI</a:t>
            </a:r>
            <a:r>
              <a:rPr sz="2500" b="0" dirty="0">
                <a:solidFill>
                  <a:srgbClr val="000000"/>
                </a:solidFill>
              </a:rPr>
              <a:t> and </a:t>
            </a:r>
            <a:r>
              <a:rPr sz="2500" b="0" dirty="0" err="1">
                <a:solidFill>
                  <a:srgbClr val="000000"/>
                </a:solidFill>
              </a:rPr>
              <a:t>SQLModel</a:t>
            </a:r>
            <a:r>
              <a:rPr sz="2500" b="0" dirty="0">
                <a:solidFill>
                  <a:srgbClr val="000000"/>
                </a:solidFill>
              </a:rPr>
              <a:t> ORM over SQLite; manages asynchronous inference pipelines, JWT authentication and file storage.</a:t>
            </a:r>
          </a:p>
          <a:p>
            <a:pPr>
              <a:spcAft>
                <a:spcPts val="1400"/>
              </a:spcAft>
            </a:pPr>
            <a:r>
              <a:rPr sz="2500" b="1" dirty="0">
                <a:solidFill>
                  <a:srgbClr val="000000"/>
                </a:solidFill>
              </a:rPr>
              <a:t>Module 7 - Frontend Clinical Dashboard and </a:t>
            </a:r>
            <a:r>
              <a:rPr sz="2500" b="1" dirty="0" err="1">
                <a:solidFill>
                  <a:srgbClr val="000000"/>
                </a:solidFill>
              </a:rPr>
              <a:t>Visualiser</a:t>
            </a:r>
            <a:r>
              <a:rPr sz="2500" b="1" dirty="0">
                <a:solidFill>
                  <a:srgbClr val="000000"/>
                </a:solidFill>
              </a:rPr>
              <a:t>: </a:t>
            </a:r>
            <a:r>
              <a:rPr sz="2500" b="0" dirty="0">
                <a:solidFill>
                  <a:srgbClr val="000000"/>
                </a:solidFill>
              </a:rPr>
              <a:t>Developed using React 18, TypeScript, Tailwind CSS, </a:t>
            </a:r>
            <a:r>
              <a:rPr sz="2500" b="0" dirty="0" err="1">
                <a:solidFill>
                  <a:srgbClr val="000000"/>
                </a:solidFill>
              </a:rPr>
              <a:t>shadcn</a:t>
            </a:r>
            <a:r>
              <a:rPr sz="2500" b="0" dirty="0">
                <a:solidFill>
                  <a:srgbClr val="000000"/>
                </a:solidFill>
              </a:rPr>
              <a:t>/</a:t>
            </a:r>
            <a:r>
              <a:rPr sz="2500" b="0" dirty="0" err="1">
                <a:solidFill>
                  <a:srgbClr val="000000"/>
                </a:solidFill>
              </a:rPr>
              <a:t>ui</a:t>
            </a:r>
            <a:r>
              <a:rPr sz="2500" b="0" dirty="0">
                <a:solidFill>
                  <a:srgbClr val="000000"/>
                </a:solidFill>
              </a:rPr>
              <a:t> and VTK.js for interactive 3D volume rendering and responsive medical workflow navigation.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392689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21564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Preprocessing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lassification_sample_mri_by_tumour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1745"/>
            <a:ext cx="3657600" cy="2394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2976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Sample MRI scans by tumour type</a:t>
            </a:r>
          </a:p>
        </p:txBody>
      </p:sp>
      <p:pic>
        <p:nvPicPr>
          <p:cNvPr id="9" name="Picture 8" descr="classification_class_distribution_after_dedup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78745"/>
            <a:ext cx="3657600" cy="24203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51960" y="42976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Class distribution after pHash deduplication</a:t>
            </a:r>
          </a:p>
        </p:txBody>
      </p:sp>
      <p:pic>
        <p:nvPicPr>
          <p:cNvPr id="11" name="Picture 10" descr="classification_dataset_size_comparison_dedu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548141"/>
            <a:ext cx="3657600" cy="2481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2440" y="42976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Dataset size before and after deduplication (19.3% removed)</a:t>
            </a:r>
          </a:p>
        </p:txBody>
      </p:sp>
      <p:pic>
        <p:nvPicPr>
          <p:cNvPr id="13" name="Picture 12" descr="detection_mri_image_augmentation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875" y="4709160"/>
            <a:ext cx="2678569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610819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Training-time augmentation samples</a:t>
            </a:r>
          </a:p>
        </p:txBody>
      </p:sp>
      <p:pic>
        <p:nvPicPr>
          <p:cNvPr id="15" name="Picture 14" descr="classification_dataset_split_distrib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055" y="4709160"/>
            <a:ext cx="1821729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610819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Stratified 70/15/15 train-validation-test split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029212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500" b="1" dirty="0">
                <a:solidFill>
                  <a:srgbClr val="000000"/>
                </a:solidFill>
              </a:rPr>
              <a:t>2D Binary </a:t>
            </a:r>
            <a:r>
              <a:rPr sz="2500" b="1" dirty="0" err="1">
                <a:solidFill>
                  <a:srgbClr val="000000"/>
                </a:solidFill>
              </a:rPr>
              <a:t>Tumour</a:t>
            </a:r>
            <a:r>
              <a:rPr sz="2500" b="1" dirty="0">
                <a:solidFill>
                  <a:srgbClr val="000000"/>
                </a:solidFill>
              </a:rPr>
              <a:t> Detection (3,253 images; 488 test samples)</a:t>
            </a:r>
          </a:p>
          <a:p>
            <a:pPr lvl="1">
              <a:spcAft>
                <a:spcPts val="400"/>
              </a:spcAft>
            </a:pPr>
            <a:r>
              <a:rPr sz="2500" b="0" dirty="0">
                <a:solidFill>
                  <a:srgbClr val="000000"/>
                </a:solidFill>
              </a:rPr>
              <a:t>CoaTNet-0: Accuracy 99.59%, AUC 1.0000, Best Val AUC 0.9999 (Epoch 7), ~10M parameters</a:t>
            </a:r>
          </a:p>
          <a:p>
            <a:pPr lvl="1">
              <a:spcAft>
                <a:spcPts val="400"/>
              </a:spcAft>
            </a:pPr>
            <a:r>
              <a:rPr sz="2500" b="0" dirty="0">
                <a:solidFill>
                  <a:srgbClr val="000000"/>
                </a:solidFill>
              </a:rPr>
              <a:t>EfficientNetB0: Accuracy 99.59%, AUC 0.9999, Best Val AUC 0.9999 (Epoch 4), 5.3M parameters (optimal efficiency)</a:t>
            </a:r>
          </a:p>
          <a:p>
            <a:pPr lvl="1">
              <a:spcAft>
                <a:spcPts val="400"/>
              </a:spcAft>
            </a:pPr>
            <a:r>
              <a:rPr sz="2500" b="0" dirty="0">
                <a:solidFill>
                  <a:srgbClr val="000000"/>
                </a:solidFill>
              </a:rPr>
              <a:t>InceptionV3: Accuracy 99.39%, AUC 1.0000, Best Val AUC 0.9999 (Epoch 2), 23.9M parameters</a:t>
            </a:r>
          </a:p>
          <a:p>
            <a:pPr lvl="1">
              <a:spcAft>
                <a:spcPts val="400"/>
              </a:spcAft>
            </a:pPr>
            <a:r>
              <a:rPr sz="2500" b="0" dirty="0">
                <a:solidFill>
                  <a:srgbClr val="000000"/>
                </a:solidFill>
              </a:rPr>
              <a:t>ResNet50: Accuracy 99.39%, AUC 0.9999, Best Val AUC 0.9999 (Epoch 6), 25.6M parameters</a:t>
            </a:r>
          </a:p>
          <a:p>
            <a:pPr lvl="1">
              <a:spcAft>
                <a:spcPts val="400"/>
              </a:spcAft>
            </a:pPr>
            <a:r>
              <a:rPr sz="2500" b="0" dirty="0">
                <a:solidFill>
                  <a:srgbClr val="000000"/>
                </a:solidFill>
              </a:rPr>
              <a:t>DenseNet121: Accuracy 97.95%, AUC 0.9999, Best Val AUC 1.0000 (Epoch 1), 8.0M parameters</a:t>
            </a:r>
            <a:endParaRPr lang="en-IN" sz="2500" b="0" dirty="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r>
              <a:rPr lang="en-IN" sz="2500" b="0" dirty="0">
                <a:solidFill>
                  <a:srgbClr val="000000"/>
                </a:solidFill>
              </a:rPr>
              <a:t>Swin Base: Accuracy 98.16%, AUC 0.9990, Best Val AUC 0.9988 (Epoch 6), 88M parameters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913" y="218921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B92B5-6018-5828-FCFA-0253F9FB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(Contd.)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2281-1FD7-5D57-7F07-ED7E537A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400"/>
              </a:spcAft>
            </a:pPr>
            <a:r>
              <a:rPr lang="en-IN" sz="2500" dirty="0" err="1">
                <a:solidFill>
                  <a:srgbClr val="000000"/>
                </a:solidFill>
              </a:rPr>
              <a:t>ViT</a:t>
            </a:r>
            <a:r>
              <a:rPr lang="en-IN" sz="2500" dirty="0">
                <a:solidFill>
                  <a:srgbClr val="000000"/>
                </a:solidFill>
              </a:rPr>
              <a:t>-B/16: Accuracy 95.08%, AUC 0.9861, Best Val AUC 0.9897 (Epoch 10), 86M parameters</a:t>
            </a:r>
          </a:p>
          <a:p>
            <a:pPr lvl="1">
              <a:spcAft>
                <a:spcPts val="400"/>
              </a:spcAft>
            </a:pPr>
            <a:r>
              <a:rPr lang="en-IN" sz="2500" dirty="0">
                <a:solidFill>
                  <a:srgbClr val="000000"/>
                </a:solidFill>
              </a:rPr>
              <a:t>MobileNetV3: Accuracy 91.39%, AUC 0.9982, Best Val AUC 0.9993 (Epoch 10), 5.4M parameters</a:t>
            </a:r>
          </a:p>
          <a:p>
            <a:pPr lvl="1">
              <a:spcAft>
                <a:spcPts val="400"/>
              </a:spcAft>
            </a:pPr>
            <a:r>
              <a:rPr lang="en-IN" sz="2500" dirty="0">
                <a:solidFill>
                  <a:srgbClr val="000000"/>
                </a:solidFill>
              </a:rPr>
              <a:t>VGG16: Accuracy 83.20%, AUC 0.9247, Best Val AUC 0.9343 (Epoch 10), 138M parameters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59540-1E08-27E7-22C7-9D4D18268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06B69-9A64-5F21-77B1-A93F2411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2EFBD-DD64-9661-0A6B-262BF1AD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374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83" y="33379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— Detection Curves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etection_model_training_metric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22" y="1325880"/>
            <a:ext cx="7845874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52044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Training and validation metric curves across the nine detection architectures</a:t>
            </a:r>
          </a:p>
        </p:txBody>
      </p:sp>
      <p:pic>
        <p:nvPicPr>
          <p:cNvPr id="9" name="Picture 8" descr="detection_confusion_matrix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91836"/>
            <a:ext cx="4937760" cy="18461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59893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Confusion matrix and ROC curve (EfficientNetB0)</a:t>
            </a:r>
          </a:p>
        </p:txBody>
      </p:sp>
      <p:pic>
        <p:nvPicPr>
          <p:cNvPr id="11" name="Picture 10" descr="detection_model_prediction_examp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246723"/>
            <a:ext cx="4937760" cy="1336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9893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Example predictions on held-out test scans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09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2D Multiclass Subtype Classification (4,705 deduplicated images; 706 test samples)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InceptionV3: Accuracy 98.58%, Loss 0.0389, AUC 0.9995, 27.2M parameters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Swin Base: Accuracy 98.58%, Loss 0.0377, AUC 0.9993, 86.7M parameters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EfficientNetB0: Accuracy 97.59%, Loss 0.0582, AUC 0.9987, 5.3M parameters (highest accuracy/parameter ratio: 0.188%/M)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CoaTNet-0: Accuracy 97.59%, Loss 0.0638, AUC 0.9990, ~10M parameters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ResNet50: Accuracy 96.60%, Loss 0.0740, AUC 0.9990, 25.6M parameters</a:t>
            </a:r>
          </a:p>
          <a:p>
            <a:pPr lvl="1">
              <a:spcAft>
                <a:spcPts val="800"/>
              </a:spcAft>
            </a:pPr>
            <a:r>
              <a:rPr sz="2500" b="0" dirty="0" err="1">
                <a:solidFill>
                  <a:srgbClr val="000000"/>
                </a:solidFill>
              </a:rPr>
              <a:t>ViT</a:t>
            </a:r>
            <a:r>
              <a:rPr sz="2500" b="0" dirty="0">
                <a:solidFill>
                  <a:srgbClr val="000000"/>
                </a:solidFill>
              </a:rPr>
              <a:t>-B/16: Accuracy 89.52%, Loss 0.2737, AUC 0.9736, 86.4M parameters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074" y="28774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291985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— Classification Curves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lassification_training_vs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32880"/>
            <a:ext cx="3703320" cy="2026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611880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Training vs validation accuracy</a:t>
            </a:r>
          </a:p>
        </p:txBody>
      </p:sp>
      <p:pic>
        <p:nvPicPr>
          <p:cNvPr id="9" name="Picture 8" descr="classification_training_vs_validation_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424294"/>
            <a:ext cx="3703320" cy="20434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51960" y="3611880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Training vs validation loss</a:t>
            </a:r>
          </a:p>
        </p:txBody>
      </p:sp>
      <p:pic>
        <p:nvPicPr>
          <p:cNvPr id="11" name="Picture 10" descr="classification_training_vs_validation_au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429865"/>
            <a:ext cx="3703320" cy="2032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2440" y="3611880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Training vs validation AUC</a:t>
            </a:r>
          </a:p>
        </p:txBody>
      </p:sp>
      <p:pic>
        <p:nvPicPr>
          <p:cNvPr id="13" name="Picture 12" descr="classification_multiclass_roc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136" y="3977639"/>
            <a:ext cx="2553286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03120" y="6035040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Multiclass ROC curves (AUC &gt; 0.998)</a:t>
            </a:r>
          </a:p>
        </p:txBody>
      </p:sp>
      <p:pic>
        <p:nvPicPr>
          <p:cNvPr id="15" name="Picture 14" descr="classification_tumour_classification_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16" y="3977639"/>
            <a:ext cx="2208086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6035040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Confusion matrix — Glioma, Meningioma, Pituitary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2500" b="1" dirty="0">
                <a:solidFill>
                  <a:srgbClr val="000000"/>
                </a:solidFill>
              </a:rPr>
              <a:t>3D Volumetric Segmentation on </a:t>
            </a:r>
            <a:r>
              <a:rPr sz="2500" b="1" dirty="0" err="1">
                <a:solidFill>
                  <a:srgbClr val="000000"/>
                </a:solidFill>
              </a:rPr>
              <a:t>BraTS</a:t>
            </a:r>
            <a:r>
              <a:rPr sz="2500" b="1" dirty="0">
                <a:solidFill>
                  <a:srgbClr val="000000"/>
                </a:solidFill>
              </a:rPr>
              <a:t> 2020 (368 cases; 56 test cases)</a:t>
            </a:r>
          </a:p>
          <a:p>
            <a:pPr lvl="1">
              <a:spcAft>
                <a:spcPts val="800"/>
              </a:spcAft>
            </a:pPr>
            <a:r>
              <a:rPr sz="2500" b="0" dirty="0" err="1">
                <a:solidFill>
                  <a:srgbClr val="000000"/>
                </a:solidFill>
              </a:rPr>
              <a:t>UNet</a:t>
            </a:r>
            <a:r>
              <a:rPr sz="2500" b="0" dirty="0">
                <a:solidFill>
                  <a:srgbClr val="000000"/>
                </a:solidFill>
              </a:rPr>
              <a:t>: WT 0.8647, TC 0.7844, ET 0.7505, Mean Dice 0.7999, Loss 0.4109, 5.6M parameters, 32.4 min (highest verified accuracy)</a:t>
            </a:r>
          </a:p>
          <a:p>
            <a:pPr lvl="1">
              <a:spcAft>
                <a:spcPts val="800"/>
              </a:spcAft>
            </a:pPr>
            <a:r>
              <a:rPr sz="2500" b="0" dirty="0" err="1">
                <a:solidFill>
                  <a:srgbClr val="000000"/>
                </a:solidFill>
              </a:rPr>
              <a:t>nnU</a:t>
            </a:r>
            <a:r>
              <a:rPr sz="2500" b="0" dirty="0">
                <a:solidFill>
                  <a:srgbClr val="000000"/>
                </a:solidFill>
              </a:rPr>
              <a:t>-Net: WT 0.8569, TC 0.7813, ET 0.7452, Mean Dice 0.7945, Loss 0.4553, 16.5M parameters, 55.1 min</a:t>
            </a:r>
          </a:p>
          <a:p>
            <a:pPr lvl="1">
              <a:spcAft>
                <a:spcPts val="800"/>
              </a:spcAft>
            </a:pP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: WT 0.8541, TC 0.7108, ET 0.7316, Mean Dice 0.7655, Loss 0.4880, 1.4M parameters, 16.9 min (best parameter and time efficiency)</a:t>
            </a:r>
          </a:p>
          <a:p>
            <a:pPr lvl="1">
              <a:spcAft>
                <a:spcPts val="800"/>
              </a:spcAft>
            </a:pPr>
            <a:r>
              <a:rPr sz="2500" b="0" dirty="0">
                <a:solidFill>
                  <a:srgbClr val="000000"/>
                </a:solidFill>
              </a:rPr>
              <a:t>UNETR: WT 0.7128, TC 0.6261, ET 0.5314, Mean Dice 0.6234, Loss 1.3411, 137.6M parameters, 117.2 min</a:t>
            </a:r>
          </a:p>
          <a:p>
            <a:pPr lvl="1">
              <a:spcAft>
                <a:spcPts val="800"/>
              </a:spcAft>
            </a:pPr>
            <a:r>
              <a:rPr sz="2500" b="0" dirty="0" err="1">
                <a:solidFill>
                  <a:srgbClr val="000000"/>
                </a:solidFill>
              </a:rPr>
              <a:t>TransBTS</a:t>
            </a:r>
            <a:r>
              <a:rPr sz="2500" b="0" dirty="0">
                <a:solidFill>
                  <a:srgbClr val="000000"/>
                </a:solidFill>
              </a:rPr>
              <a:t>: WT 0.6383, TC 0.4618, ET 0.4325, Mean Dice 0.5109, Loss 2.1940, 35.8M parameters, 70.1 min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409" y="392689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53B9-EF63-6124-A779-CFCCE1F0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(Contd.)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C0F0E-003E-8C29-3DFC-CF48DFA46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</a:rPr>
              <a:t>Statistical Significance: </a:t>
            </a:r>
            <a:r>
              <a:rPr lang="en-IN" dirty="0" err="1">
                <a:solidFill>
                  <a:srgbClr val="000000"/>
                </a:solidFill>
              </a:rPr>
              <a:t>UNet</a:t>
            </a:r>
            <a:r>
              <a:rPr lang="en-IN" dirty="0">
                <a:solidFill>
                  <a:srgbClr val="000000"/>
                </a:solidFill>
              </a:rPr>
              <a:t> vs </a:t>
            </a:r>
            <a:r>
              <a:rPr lang="en-IN" dirty="0" err="1">
                <a:solidFill>
                  <a:srgbClr val="000000"/>
                </a:solidFill>
              </a:rPr>
              <a:t>nnU</a:t>
            </a:r>
            <a:r>
              <a:rPr lang="en-IN" dirty="0">
                <a:solidFill>
                  <a:srgbClr val="000000"/>
                </a:solidFill>
              </a:rPr>
              <a:t>-Net difference 0.0054 (p &gt; 0.05, not significant); </a:t>
            </a:r>
            <a:r>
              <a:rPr lang="en-IN" dirty="0" err="1">
                <a:solidFill>
                  <a:srgbClr val="000000"/>
                </a:solidFill>
              </a:rPr>
              <a:t>UNet</a:t>
            </a:r>
            <a:r>
              <a:rPr lang="en-IN" dirty="0">
                <a:solidFill>
                  <a:srgbClr val="000000"/>
                </a:solidFill>
              </a:rPr>
              <a:t> vs </a:t>
            </a:r>
            <a:r>
              <a:rPr lang="en-IN" dirty="0" err="1">
                <a:solidFill>
                  <a:srgbClr val="000000"/>
                </a:solidFill>
              </a:rPr>
              <a:t>VNet</a:t>
            </a:r>
            <a:r>
              <a:rPr lang="en-IN" dirty="0">
                <a:solidFill>
                  <a:srgbClr val="000000"/>
                </a:solidFill>
              </a:rPr>
              <a:t> difference 0.0344 (p &lt; 0.05, significant); the CNN group significantly outperformed transformers (p &lt; 0.001).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32160-1F27-5D3C-90CB-D95145CD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B3AE5-D418-8CEF-15BE-C4822382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E4FB4-E851-818E-CE29-A009998D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54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433404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— Segmentation Outputs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egmentation_mri_modalities_segmentation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09" y="1325880"/>
            <a:ext cx="453618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70332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Multimodal input sequences (T1, T1CE, T2, FLAIR) and reference masks</a:t>
            </a:r>
          </a:p>
        </p:txBody>
      </p:sp>
      <p:pic>
        <p:nvPicPr>
          <p:cNvPr id="9" name="Picture 8" descr="segmentation_ground_truth_vs_predicted_tumour_se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22" y="1325880"/>
            <a:ext cx="3701194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70332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Ground truth versus predicted tumour segmentation</a:t>
            </a:r>
          </a:p>
        </p:txBody>
      </p:sp>
      <p:pic>
        <p:nvPicPr>
          <p:cNvPr id="11" name="Picture 10" descr="segmentation_training_loss_dice_score_progre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592" y="4069080"/>
            <a:ext cx="5182334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7440" y="6035040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</a:rPr>
              <a:t>Training loss and Dice score progression across the 3D architectures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838"/>
            <a:ext cx="10515600" cy="4351338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2500" b="1" dirty="0">
                <a:solidFill>
                  <a:srgbClr val="000000"/>
                </a:solidFill>
              </a:rPr>
              <a:t>Architectural Superiority of CNNs on Medical Datasets: </a:t>
            </a:r>
            <a:r>
              <a:rPr sz="2500" b="0" dirty="0">
                <a:solidFill>
                  <a:srgbClr val="000000"/>
                </a:solidFill>
              </a:rPr>
              <a:t>Rigorous benchmarking confirms that convolutional architectures with strong spatial inductive biases (</a:t>
            </a:r>
            <a:r>
              <a:rPr sz="2500" b="0" dirty="0" err="1">
                <a:solidFill>
                  <a:srgbClr val="000000"/>
                </a:solidFill>
              </a:rPr>
              <a:t>UNet</a:t>
            </a:r>
            <a:r>
              <a:rPr sz="2500" b="0" dirty="0">
                <a:solidFill>
                  <a:srgbClr val="000000"/>
                </a:solidFill>
              </a:rPr>
              <a:t>, </a:t>
            </a:r>
            <a:r>
              <a:rPr sz="2500" b="0" dirty="0" err="1">
                <a:solidFill>
                  <a:srgbClr val="000000"/>
                </a:solidFill>
              </a:rPr>
              <a:t>nnU</a:t>
            </a:r>
            <a:r>
              <a:rPr sz="2500" b="0" dirty="0">
                <a:solidFill>
                  <a:srgbClr val="000000"/>
                </a:solidFill>
              </a:rPr>
              <a:t>-Net, </a:t>
            </a: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, EfficientNetB0) consistently outperform vision transformers on limited medical imaging cohorts.</a:t>
            </a:r>
          </a:p>
          <a:p>
            <a:pPr>
              <a:spcAft>
                <a:spcPts val="1000"/>
              </a:spcAft>
            </a:pPr>
            <a:r>
              <a:rPr sz="2500" b="1" dirty="0">
                <a:solidFill>
                  <a:srgbClr val="000000"/>
                </a:solidFill>
              </a:rPr>
              <a:t>Model Efficiency and Practical Deployment: </a:t>
            </a:r>
            <a:r>
              <a:rPr sz="2500" b="0" dirty="0">
                <a:solidFill>
                  <a:srgbClr val="000000"/>
                </a:solidFill>
              </a:rPr>
              <a:t>EfficientNetB0 (5.3M parameters, 99.59% detection accuracy) and </a:t>
            </a:r>
            <a:r>
              <a:rPr sz="2500" b="0" dirty="0" err="1">
                <a:solidFill>
                  <a:srgbClr val="000000"/>
                </a:solidFill>
              </a:rPr>
              <a:t>VNet</a:t>
            </a:r>
            <a:r>
              <a:rPr sz="2500" b="0" dirty="0">
                <a:solidFill>
                  <a:srgbClr val="000000"/>
                </a:solidFill>
              </a:rPr>
              <a:t> (1.4M parameters, 0.7655 mean Dice) deliver optimal accuracy-to-parameter ratios, enabling fast, low-cost inference on resource-constrained hospital hardware.</a:t>
            </a:r>
          </a:p>
          <a:p>
            <a:pPr>
              <a:spcAft>
                <a:spcPts val="1000"/>
              </a:spcAft>
            </a:pPr>
            <a:r>
              <a:rPr sz="2500" b="1" dirty="0">
                <a:solidFill>
                  <a:srgbClr val="000000"/>
                </a:solidFill>
              </a:rPr>
              <a:t>Importance of Rigorous Dataset Hygiene: </a:t>
            </a:r>
            <a:r>
              <a:rPr sz="2500" b="0" dirty="0">
                <a:solidFill>
                  <a:srgbClr val="000000"/>
                </a:solidFill>
              </a:rPr>
              <a:t>Perceptual hash deduplication eliminated 19.3% duplicate images, establishing that duplicate filtering is critical to prevent inflated accuracy metrics caused by data leakage.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392689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4C50-AA32-1082-43D9-1DD9925D9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13B92-3208-FD46-E134-DCEF029F8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IN" sz="2500" b="1" dirty="0">
                <a:solidFill>
                  <a:srgbClr val="000000"/>
                </a:solidFill>
              </a:rPr>
              <a:t>Hierarchical Workflow Efficacy: </a:t>
            </a:r>
            <a:r>
              <a:rPr lang="en-IN" sz="2500" dirty="0">
                <a:solidFill>
                  <a:srgbClr val="000000"/>
                </a:solidFill>
              </a:rPr>
              <a:t>The multi-stage pipeline (detection → subtype classification → 3D volumetric segmentation) matches clinical neuroradiology decision pathways while avoiding misclassification of healthy scans.</a:t>
            </a:r>
          </a:p>
          <a:p>
            <a:pPr>
              <a:spcAft>
                <a:spcPts val="1000"/>
              </a:spcAft>
            </a:pPr>
            <a:r>
              <a:rPr lang="en-IN" sz="2500" b="1" dirty="0">
                <a:solidFill>
                  <a:srgbClr val="000000"/>
                </a:solidFill>
              </a:rPr>
              <a:t>Clinical Assistive Utility: </a:t>
            </a:r>
            <a:r>
              <a:rPr lang="en-IN" sz="2500" dirty="0" err="1">
                <a:solidFill>
                  <a:srgbClr val="000000"/>
                </a:solidFill>
              </a:rPr>
              <a:t>NeuroScan</a:t>
            </a:r>
            <a:r>
              <a:rPr lang="en-IN" sz="2500" dirty="0">
                <a:solidFill>
                  <a:srgbClr val="000000"/>
                </a:solidFill>
              </a:rPr>
              <a:t> AI translates research-grade deep learning into a production-ready medical platform giving healthcare professionals rapid second opinions and volumetric insights.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09856-AD77-B273-552A-1F3344C3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ED56-8D81-EBEC-593F-EC3B2481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D1CB-A635-E2CB-F3A8-9F363D93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756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91621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536174"/>
            <a:ext cx="10972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sz="2500" dirty="0">
                <a:solidFill>
                  <a:srgbClr val="000000"/>
                </a:solidFill>
              </a:rPr>
              <a:t>[1] E. I. Zacharaki, S. Wang, S. Chawla, et al., "Classification of brain </a:t>
            </a:r>
            <a:r>
              <a:rPr sz="2500" dirty="0" err="1">
                <a:solidFill>
                  <a:srgbClr val="000000"/>
                </a:solidFill>
              </a:rPr>
              <a:t>tumour</a:t>
            </a:r>
            <a:r>
              <a:rPr sz="2500" dirty="0">
                <a:solidFill>
                  <a:srgbClr val="000000"/>
                </a:solidFill>
              </a:rPr>
              <a:t> type and grade using MRI texture and shape in a machine learning scheme," Magnetic Resonance in Medicine, vol. 62, no. 6, pp. 1609-1618, 2009.</a:t>
            </a:r>
          </a:p>
          <a:p>
            <a:pPr>
              <a:spcAft>
                <a:spcPts val="800"/>
              </a:spcAft>
            </a:pPr>
            <a:r>
              <a:rPr sz="2500" dirty="0">
                <a:solidFill>
                  <a:srgbClr val="000000"/>
                </a:solidFill>
              </a:rPr>
              <a:t>[2] B. H. Menze et al., "The multimodal brain </a:t>
            </a:r>
            <a:r>
              <a:rPr sz="2500" dirty="0" err="1">
                <a:solidFill>
                  <a:srgbClr val="000000"/>
                </a:solidFill>
              </a:rPr>
              <a:t>tumour</a:t>
            </a:r>
            <a:r>
              <a:rPr sz="2500" dirty="0">
                <a:solidFill>
                  <a:srgbClr val="000000"/>
                </a:solidFill>
              </a:rPr>
              <a:t> image segmentation benchmark (BRATS)," IEEE Transactions on Medical Imaging, vol. 34, no. 10, pp. 1993-2024, 2015.</a:t>
            </a:r>
          </a:p>
          <a:p>
            <a:pPr>
              <a:spcAft>
                <a:spcPts val="800"/>
              </a:spcAft>
            </a:pPr>
            <a:r>
              <a:rPr sz="2500" dirty="0">
                <a:solidFill>
                  <a:srgbClr val="000000"/>
                </a:solidFill>
              </a:rPr>
              <a:t>[3] O. Cicek, A. Abdulkadir, S. S. </a:t>
            </a:r>
            <a:r>
              <a:rPr sz="2500" dirty="0" err="1">
                <a:solidFill>
                  <a:srgbClr val="000000"/>
                </a:solidFill>
              </a:rPr>
              <a:t>Lienkamp</a:t>
            </a:r>
            <a:r>
              <a:rPr sz="2500" dirty="0">
                <a:solidFill>
                  <a:srgbClr val="000000"/>
                </a:solidFill>
              </a:rPr>
              <a:t>, T. Brox, and O. </a:t>
            </a:r>
            <a:r>
              <a:rPr sz="2500" dirty="0" err="1">
                <a:solidFill>
                  <a:srgbClr val="000000"/>
                </a:solidFill>
              </a:rPr>
              <a:t>Ronneberger</a:t>
            </a:r>
            <a:r>
              <a:rPr sz="2500" dirty="0">
                <a:solidFill>
                  <a:srgbClr val="000000"/>
                </a:solidFill>
              </a:rPr>
              <a:t>, "3D U-Net: Learning dense volumetric segmentation from sparse annotation," in Proc. MICCAI, 2016, pp. 424-432.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08-09-2026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7587-91D3-402C-CACC-BEC1187A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(Contd.)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8D4B3-94EA-B0F0-567E-916BE62BE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[4] F. </a:t>
            </a:r>
            <a:r>
              <a:rPr lang="en-IN" sz="2500" dirty="0" err="1">
                <a:solidFill>
                  <a:srgbClr val="000000"/>
                </a:solidFill>
              </a:rPr>
              <a:t>Milletari</a:t>
            </a:r>
            <a:r>
              <a:rPr lang="en-IN" sz="2500" dirty="0">
                <a:solidFill>
                  <a:srgbClr val="000000"/>
                </a:solidFill>
              </a:rPr>
              <a:t>, N. Navab, and S. A. Ahmadi, "V-Net: Fully convolutional neural networks for volumetric medical image segmentation," in Proc. 3DV, 2016, pp. 565-571.</a:t>
            </a:r>
          </a:p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[5] J. Cheng, W. Huang, S. Cao, et al., "Enhanced performance of brain tumour classification via tumour region augmentation and partition," </a:t>
            </a:r>
            <a:r>
              <a:rPr lang="en-IN" sz="2500" dirty="0" err="1">
                <a:solidFill>
                  <a:srgbClr val="000000"/>
                </a:solidFill>
              </a:rPr>
              <a:t>PLoS</a:t>
            </a:r>
            <a:r>
              <a:rPr lang="en-IN" sz="2500" dirty="0">
                <a:solidFill>
                  <a:srgbClr val="000000"/>
                </a:solidFill>
              </a:rPr>
              <a:t> ONE, vol. 10, no. 10, p. e0140381, 2015.</a:t>
            </a:r>
          </a:p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[6] K. He, X. Zhang, S. Ren, and J. Sun, "Deep residual learning for image recognition," in Proc. CVPR, 2016, pp. 770-778.</a:t>
            </a:r>
          </a:p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[7] C. Szegedy, V. </a:t>
            </a:r>
            <a:r>
              <a:rPr lang="en-IN" sz="2500" dirty="0" err="1">
                <a:solidFill>
                  <a:srgbClr val="000000"/>
                </a:solidFill>
              </a:rPr>
              <a:t>Vanhoucke</a:t>
            </a:r>
            <a:r>
              <a:rPr lang="en-IN" sz="2500" dirty="0">
                <a:solidFill>
                  <a:srgbClr val="000000"/>
                </a:solidFill>
              </a:rPr>
              <a:t>, S. Ioffe, J. </a:t>
            </a:r>
            <a:r>
              <a:rPr lang="en-IN" sz="2500" dirty="0" err="1">
                <a:solidFill>
                  <a:srgbClr val="000000"/>
                </a:solidFill>
              </a:rPr>
              <a:t>Shlens</a:t>
            </a:r>
            <a:r>
              <a:rPr lang="en-IN" sz="2500" dirty="0">
                <a:solidFill>
                  <a:srgbClr val="000000"/>
                </a:solidFill>
              </a:rPr>
              <a:t>, and Z. </a:t>
            </a:r>
            <a:r>
              <a:rPr lang="en-IN" sz="2500" dirty="0" err="1">
                <a:solidFill>
                  <a:srgbClr val="000000"/>
                </a:solidFill>
              </a:rPr>
              <a:t>Wojna</a:t>
            </a:r>
            <a:r>
              <a:rPr lang="en-IN" sz="2500" dirty="0">
                <a:solidFill>
                  <a:srgbClr val="000000"/>
                </a:solidFill>
              </a:rPr>
              <a:t>, "Rethinking the inception architecture for computer vision," in Proc. CVPR, 2016, pp. 2818-2826.</a:t>
            </a:r>
          </a:p>
          <a:p>
            <a:endParaRPr lang="en-IN" sz="2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9F00-92B6-E369-2C14-BD868D73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1FE79-39F9-644C-FF39-D23A8B47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FB9A2-C814-1C37-E953-86E28491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391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3762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ctr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(Contd.)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1420758"/>
            <a:ext cx="10972800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sz="2500" dirty="0">
                <a:solidFill>
                  <a:srgbClr val="000000"/>
                </a:solidFill>
              </a:rPr>
              <a:t>[8] F. Isensee, P. F. Jaeger, S. A. Kohl, J. Petersen, and K. H. Maier-Hein, "</a:t>
            </a:r>
            <a:r>
              <a:rPr sz="2500" dirty="0" err="1">
                <a:solidFill>
                  <a:srgbClr val="000000"/>
                </a:solidFill>
              </a:rPr>
              <a:t>nnU</a:t>
            </a:r>
            <a:r>
              <a:rPr sz="2500" dirty="0">
                <a:solidFill>
                  <a:srgbClr val="000000"/>
                </a:solidFill>
              </a:rPr>
              <a:t>-Net: A self-configuring method for deep learning-based biomedical image segmentation," Nature Methods, vol. 18, no. 2, pp. 203-211, 2021.</a:t>
            </a:r>
          </a:p>
          <a:p>
            <a:pPr>
              <a:spcAft>
                <a:spcPts val="800"/>
              </a:spcAft>
            </a:pPr>
            <a:r>
              <a:rPr sz="2500" dirty="0">
                <a:solidFill>
                  <a:srgbClr val="000000"/>
                </a:solidFill>
              </a:rPr>
              <a:t>[9] M. Tan and Q. Le, "</a:t>
            </a:r>
            <a:r>
              <a:rPr sz="2500" dirty="0" err="1">
                <a:solidFill>
                  <a:srgbClr val="000000"/>
                </a:solidFill>
              </a:rPr>
              <a:t>EfficientNet</a:t>
            </a:r>
            <a:r>
              <a:rPr sz="2500" dirty="0">
                <a:solidFill>
                  <a:srgbClr val="000000"/>
                </a:solidFill>
              </a:rPr>
              <a:t>: Rethinking model scaling for convolutional neural networks," in Proc. ICML, 2019, pp. 6105-6114.</a:t>
            </a:r>
          </a:p>
          <a:p>
            <a:pPr>
              <a:spcAft>
                <a:spcPts val="800"/>
              </a:spcAft>
            </a:pPr>
            <a:r>
              <a:rPr sz="2500" dirty="0">
                <a:solidFill>
                  <a:srgbClr val="000000"/>
                </a:solidFill>
              </a:rPr>
              <a:t>[10] A. </a:t>
            </a:r>
            <a:r>
              <a:rPr sz="2500" dirty="0" err="1">
                <a:solidFill>
                  <a:srgbClr val="000000"/>
                </a:solidFill>
              </a:rPr>
              <a:t>Dosovitskiy</a:t>
            </a:r>
            <a:r>
              <a:rPr sz="2500" dirty="0">
                <a:solidFill>
                  <a:srgbClr val="000000"/>
                </a:solidFill>
              </a:rPr>
              <a:t> et al., "An image is worth 16x16 words: Transformers for image recognition at scale," in Proc. ICLR, 2021.</a:t>
            </a:r>
          </a:p>
          <a:p>
            <a:pPr>
              <a:spcAft>
                <a:spcPts val="800"/>
              </a:spcAft>
            </a:pPr>
            <a:r>
              <a:rPr sz="2500" dirty="0">
                <a:solidFill>
                  <a:srgbClr val="000000"/>
                </a:solidFill>
              </a:rPr>
              <a:t>[11] Z. Liu, Y. Lin, Y. Cao, et al., "Swin transformer: Hierarchical vision transformer using shifted windows," in Proc. ICCV, 2021, pp. 10012-10022.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DF58-4741-6AEA-A87B-E6FD70780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(Contd.)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E82B-21D5-995F-4DA8-0F49478E7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[12] W. Xu, Y. Xu, T. Chang, and Z. Tu, "Co-scale conv-attentional image transformers," in Proc. ICCV, 2021, pp. 9981-9990.</a:t>
            </a:r>
          </a:p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[13] A. </a:t>
            </a:r>
            <a:r>
              <a:rPr lang="en-IN" sz="2500" dirty="0" err="1">
                <a:solidFill>
                  <a:srgbClr val="000000"/>
                </a:solidFill>
              </a:rPr>
              <a:t>Hatamizadeh</a:t>
            </a:r>
            <a:r>
              <a:rPr lang="en-IN" sz="2500" dirty="0">
                <a:solidFill>
                  <a:srgbClr val="000000"/>
                </a:solidFill>
              </a:rPr>
              <a:t> et al., "UNETR: Transformers for 3D medical image segmentation," in Proc. WACV, 2022, pp. 574-584.</a:t>
            </a:r>
          </a:p>
          <a:p>
            <a:pPr>
              <a:spcAft>
                <a:spcPts val="800"/>
              </a:spcAft>
            </a:pPr>
            <a:r>
              <a:rPr lang="en-IN" sz="2500" dirty="0">
                <a:solidFill>
                  <a:srgbClr val="000000"/>
                </a:solidFill>
              </a:rPr>
              <a:t>[14] W. Wang, C. Chen, M. Ding, H. Yu, S. Zha, and J. Li, "</a:t>
            </a:r>
            <a:r>
              <a:rPr lang="en-IN" sz="2500" dirty="0" err="1">
                <a:solidFill>
                  <a:srgbClr val="000000"/>
                </a:solidFill>
              </a:rPr>
              <a:t>TransBTS</a:t>
            </a:r>
            <a:r>
              <a:rPr lang="en-IN" sz="2500" dirty="0">
                <a:solidFill>
                  <a:srgbClr val="000000"/>
                </a:solidFill>
              </a:rPr>
              <a:t>: Multimodal brain tumour segmentation using transformer," in Proc. MICCAI, 2021, pp. 109-119.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81612-560F-6356-6E70-4D646C006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AE-8C6F-9182-B32D-83EBF8B8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89F2-05A1-503A-9DDB-775731CA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08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3534</Words>
  <Application>Microsoft Office PowerPoint</Application>
  <PresentationFormat>Widescreen</PresentationFormat>
  <Paragraphs>292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B.Tech | BCSE497J - Project-I  NeuroScan AI: AI-Powered Brain Tumour Detection, Classification and Segmentation Platform</vt:lpstr>
      <vt:lpstr>Approval Mail From Guide</vt:lpstr>
      <vt:lpstr>Aim</vt:lpstr>
      <vt:lpstr>Abstract</vt:lpstr>
      <vt:lpstr>Abstract (Contd.)</vt:lpstr>
      <vt:lpstr>Literature Review</vt:lpstr>
      <vt:lpstr>Literature Review (Contd.)</vt:lpstr>
      <vt:lpstr>Research Gap</vt:lpstr>
      <vt:lpstr>Research Gap (Contd.)</vt:lpstr>
      <vt:lpstr>Objectives</vt:lpstr>
      <vt:lpstr>Objectives (Contd.)</vt:lpstr>
      <vt:lpstr>Framework/Architecture/Block Diagram</vt:lpstr>
      <vt:lpstr>Methodology Pipeline</vt:lpstr>
      <vt:lpstr>Framework/Architecture/Block Diagram (Contd.)</vt:lpstr>
      <vt:lpstr>Functional Requirements</vt:lpstr>
      <vt:lpstr>Functional Requirements (Contd.)</vt:lpstr>
      <vt:lpstr>Modules</vt:lpstr>
      <vt:lpstr>Modules (Contd.)</vt:lpstr>
      <vt:lpstr>Dataset and Preprocessing</vt:lpstr>
      <vt:lpstr>Experiments and Results</vt:lpstr>
      <vt:lpstr>Experiments and Results (Contd.)</vt:lpstr>
      <vt:lpstr>Experiments and Results — Detection Curves</vt:lpstr>
      <vt:lpstr>Experiments and Results (Contd.)</vt:lpstr>
      <vt:lpstr>Experiments and Results — Classification Curves</vt:lpstr>
      <vt:lpstr>Experiments and Results (Contd.)</vt:lpstr>
      <vt:lpstr>Experiments and Results (Contd.)</vt:lpstr>
      <vt:lpstr>Experiments and Results — Segmentation Outputs</vt:lpstr>
      <vt:lpstr>Conclusion</vt:lpstr>
      <vt:lpstr>Conclusion</vt:lpstr>
      <vt:lpstr>References</vt:lpstr>
      <vt:lpstr>References (Contd.)</vt:lpstr>
      <vt:lpstr>References (Contd.)</vt:lpstr>
      <vt:lpstr>References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Ved Lawand</cp:lastModifiedBy>
  <cp:revision>56</cp:revision>
  <dcterms:created xsi:type="dcterms:W3CDTF">2026-07-14T06:00:41Z</dcterms:created>
  <dcterms:modified xsi:type="dcterms:W3CDTF">2026-09-08T17:28:27Z</dcterms:modified>
</cp:coreProperties>
</file>