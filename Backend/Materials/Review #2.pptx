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3" r:id="rId3"/>
    <p:sldId id="257" r:id="rId4"/>
    <p:sldId id="258" r:id="rId5"/>
    <p:sldId id="277" r:id="rId6"/>
    <p:sldId id="259" r:id="rId7"/>
    <p:sldId id="276" r:id="rId8"/>
    <p:sldId id="260" r:id="rId9"/>
    <p:sldId id="261" r:id="rId10"/>
    <p:sldId id="275" r:id="rId11"/>
    <p:sldId id="264" r:id="rId12"/>
    <p:sldId id="274" r:id="rId13"/>
    <p:sldId id="265" r:id="rId14"/>
    <p:sldId id="273" r:id="rId15"/>
    <p:sldId id="266" r:id="rId16"/>
    <p:sldId id="272" r:id="rId17"/>
    <p:sldId id="267" r:id="rId18"/>
    <p:sldId id="271" r:id="rId19"/>
    <p:sldId id="270" r:id="rId20"/>
    <p:sldId id="268" r:id="rId21"/>
    <p:sldId id="262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07-09-2026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07-09-2026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2011680"/>
            <a:ext cx="8924544" cy="1463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B.Tech | BCSE497J - Project-I</a:t>
            </a:r>
            <a:b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2000" b="1"/>
              <a:t>NeuroScan AI: AI-Powered Brain Tumour Detection, Classification and Segmentation Platform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6040" y="3931920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sz="1400" b="1">
                <a:solidFill>
                  <a:srgbClr val="000000"/>
                </a:solidFill>
              </a:rP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r>
              <a:rPr sz="1400" b="0">
                <a:solidFill>
                  <a:srgbClr val="000000"/>
                </a:solidFill>
              </a:rPr>
              <a:t>Parth Mital		(23BCE0842)	parth.mital2023@vitstudent.ac.in</a:t>
            </a:r>
          </a:p>
          <a:p>
            <a:r>
              <a:rPr sz="1400" b="0">
                <a:solidFill>
                  <a:srgbClr val="000000"/>
                </a:solidFill>
              </a:rPr>
              <a:t>Ved Lawand		(23BDS0141)	ved.lawand2023@vitstudent.ac.in</a:t>
            </a:r>
          </a:p>
          <a:p>
            <a:endParaRPr sz="1400" b="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0000"/>
                </a:solidFill>
              </a:rPr>
              <a:t>Faculty guide:</a:t>
            </a:r>
          </a:p>
          <a:p>
            <a:r>
              <a:rPr sz="1400" b="0">
                <a:solidFill>
                  <a:srgbClr val="000000"/>
                </a:solidFill>
              </a:rPr>
              <a:t>Dr. Biji C. L.		biji.cl@vit.ac.in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endParaRPr sz="1500" b="0" dirty="0">
              <a:solidFill>
                <a:srgbClr val="00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07-09-2026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design, evaluate, and deploy an automated, full-stack medical artificial intelligence platform that assists clinicians and radiologists in analysing multi-sequence brain MRI scans through tumour detection, histological subtype classification, and 3D volumetric segmentation.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establish an authoritative, controlled comparative benchmark of modern convolutional neural networks, efficient CNN architectures, and vision transformers under standardised preprocessing, data splitting, and training protocols.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implement an end-to-end clinical workflow combining high-performance lightweight deep learning models (EfficientNetB0 and VNet) with a secure FastAPI inference service, SQLModel database, and an interactive React TypeScript interface featuring 3D VTK.js visualisation, quantitative volumetric analysis, and automated diagnostic report export.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Manual analysis of multi-sequence brain magnetic resonance imaging (MRI) is laborious, specialist-dependent, and prone to inter-observer variability, especially in resource-constrained healthcare environments with severe shortages of neuroradiologists.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NeuroScan AI resolves these diagnostic bottlenecks by uniting rigorous multi-architecture deep learning research with a production-grade clinical software system.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In 2D MRI analysis across nine deep learning architectures, perceptual hash based deduplication eliminated 19.3% duplicate images from combined public datasets before splitting. CoaTNet-0 and EfficientNetB0 achieved 99.59% binary detection accuracy, while InceptionV3 and Swin Base attained 98.58% multiclass classification accuracy across glioma, meningioma, and pituitary tumours. EfficientNetB0 delivered optimal computational efficiency, reaching 97.59% multiclass accuracy with only 5.3 million parameters.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In 3D volumetric segmentation across six models on the BraTS 2020 dataset (368 usable cases), standard UNet attained the top verified mean Dice score of 0.7999, followed by nnU-Net at 0.7945, and VNet at 0.7655 with an ultra-compact 1.4 million parameters.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Transformer architectures underperformed CNN baselines under standard training budgets due to the absence of spatial inductive bias on limited medical datasets.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The platform embeds these verified models into an interactive web application providing sub-30-second inference, 3D VTK.js multi-planar rendering, volumetric lesion tracking, and automated PDF clinical reporting.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07-09-2026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96133"/>
              </p:ext>
            </p:extLst>
          </p:nvPr>
        </p:nvGraphicFramePr>
        <p:xfrm>
          <a:off x="448056" y="1566761"/>
          <a:ext cx="112471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100" b="1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Zacharaki et al. (2009)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Classify brain tumour type and grade from MRI scans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Texture and shape features classified using Support Vector Machines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Established feasibility of ML in tumour grading. Con: Manual feature extraction; small dataset (80 images).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Achieved ~85% accuracy; showed the need for automatic feature learning.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Cheng et al. (2015) [5]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 tumour classification across three subtypes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Tumour region augmentation and spatial partition with SVM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Multi-region partition improved local feature capture. Con: Handcrafted features remained a bottleneck.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Achieved 90.00% accuracy on 3,064 MRI images across glioma, meningioma and pituitary cases.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Szegedy et al. (2016)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 image classification via multi-scale convolutions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InceptionV3 with parallel convolutional paths (1x1, 3x3, 5x5 kernels)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Captures multi-scale features with moderate footprint. Con: Higher memory overhead than compact networks.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Set standards for multi-scale extraction; 97.50%-99.39% accuracy in later brain tumour studies.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Tan and Le (2019) [18]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Build parameter-efficient accurate CNNs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EfficientNet compound scaling of depth, width and resolution via 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Exceptional accuracy-to-parameter ratio (5.3M params). Con: Requires resolution-specific tuning.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State-of-the-art efficiency; compound scaling outperforms simple depth scaling.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Dosovitskiy et al. (2021) [28]; Liu et al. (2021) [29]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Apply vision transformers to visual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ViT-B/16 patch self-attention; Swin Transformer hierarchical shifted 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Models global context and long-range dependencies. Con: No convolutional inductive bias; needs massive pretraining.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Swin Base reached 98.58% multiclass accuracy; </a:t>
                      </a:r>
                      <a:r>
                        <a:rPr sz="900" dirty="0" err="1"/>
                        <a:t>ViT</a:t>
                      </a:r>
                      <a:r>
                        <a:rPr sz="900" dirty="0"/>
                        <a:t>-B/16 underperformed (89.52%) on modest medical cohorts.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07-09-2026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7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155477"/>
              </p:ext>
            </p:extLst>
          </p:nvPr>
        </p:nvGraphicFramePr>
        <p:xfrm>
          <a:off x="448056" y="1581519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r>
                        <a:rPr sz="1100" b="1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Ronneberger et al. (2015) [1]; Cicek et al. (2016)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Biomedical segmentation with limited training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UNet and 3D UNet symmetric encoder-decoder networks with skip connections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Skip connections recover boundary detail; 3D convolutions capture volumetric continuity. Con: High memory demand in 3D.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3D UNet achieved the top verified mean Dice of 0.7999 on BraTS 2020, the gold standard for volumetric segmentation.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Milletari et al. (2016) [4]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Optimise volumetric segmentation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VNet with 3D residual blocks, PReLU activations and Dice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Ultra-compact (1.4M params) and fastest training. Con: Slight drop on highly fragmented small lesions.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0.7655 mean Dice with 4x fewer parameters and 2x faster training than UNet; ideal for edge deployment.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Isensee et al. (2021)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Automate segmentation pipeline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nnU-Net self-configuring pipeline adapting to dataset fingerprint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Robust automated preprocessing, patch selection and deep supervision. Con: Substantial training overhead (55.1 min).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0.7945 mean Dice on BraTS 2020, confirming the efficacy of structured convolutional pipelines.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Hatamizadeh et al. (2022) [14]; Wang et al. (2021) [9]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Exploit transformers for 3D volumetric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UNETR (ViT encoder + CNN decoder); TransBTS (CNN encoder + transformer bottleneck)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Direct modelling of long-range 3D dependencies. Con: Massive parameters (137.6M for UNETR); slow convergence.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UNETR (0.6234) and </a:t>
                      </a:r>
                      <a:r>
                        <a:rPr sz="900" dirty="0" err="1"/>
                        <a:t>TransBTS</a:t>
                      </a:r>
                      <a:r>
                        <a:rPr sz="900" dirty="0"/>
                        <a:t> (0.5109 mean Dice) underperformed CNN baselines on the 10-epoch benchmark.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Lack of Controlled Cross-Architecture Benchmarks: </a:t>
            </a:r>
            <a:r>
              <a:rPr sz="1400" b="0">
                <a:solidFill>
                  <a:srgbClr val="000000"/>
                </a:solidFill>
              </a:rPr>
              <a:t>Existing literature evaluates models in isolation across divergent datasets, splits, and training parameters, preventing rigorous inter-study comparisons between CNNs and vision transformers.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Dataset Duplicate Leakage: </a:t>
            </a:r>
            <a:r>
              <a:rPr sz="1400" b="0">
                <a:solidFill>
                  <a:srgbClr val="000000"/>
                </a:solidFill>
              </a:rPr>
              <a:t>Merged public brain MRI datasets contain widespread duplicate and near-duplicate images that leak across training, validation, and test splits, producing artificially inflated performance metrics.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Unverified Vision Transformer Claims in 3D Medical Segmentation: </a:t>
            </a:r>
            <a:r>
              <a:rPr sz="1400" b="0">
                <a:solidFill>
                  <a:srgbClr val="000000"/>
                </a:solidFill>
              </a:rPr>
              <a:t>Transformers are frequently asserted to surpass CNNs, yet their data-hungry nature, computational overhead, and convergence failures under realistic training budgets remain insufficiently quantified.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Neglect of Computational and Parameter Efficiency: </a:t>
            </a:r>
            <a:r>
              <a:rPr sz="1400" b="0">
                <a:solidFill>
                  <a:srgbClr val="000000"/>
                </a:solidFill>
              </a:rPr>
              <a:t>Literature routinely focuses on accuracy or Dice metrics alone while ignoring parameter count, GPU memory footprint, and training latency critical for clinical hardware deployment.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Disconnect Between Research Models and Clinical Workflow: </a:t>
            </a:r>
            <a:r>
              <a:rPr sz="1400" b="0">
                <a:solidFill>
                  <a:srgbClr val="000000"/>
                </a:solidFill>
              </a:rPr>
              <a:t>Standalone models lack integration into secure, interactive clinical workflows featuring multi-sequence NIfTI ingestion, 3D multi-planar visualisation, volumetric lesion tracking, and automated reporting.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Standardised 2D Benchmarking: </a:t>
            </a:r>
            <a:r>
              <a:rPr sz="1300" b="0">
                <a:solidFill>
                  <a:srgbClr val="000000"/>
                </a:solidFill>
              </a:rPr>
              <a:t>Implement and evaluate nine deep learning architectures (classical CNNs, efficient CNNs, and vision transformers) for binary detection and three-class subtype classification under identical hyperparameters.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Leakage-Free Dataset Curation: </a:t>
            </a:r>
            <a:r>
              <a:rPr sz="1300" b="0">
                <a:solidFill>
                  <a:srgbClr val="000000"/>
                </a:solidFill>
              </a:rPr>
              <a:t>Establish a perceptual hash deduplication pipeline (Hamming distance &lt;= 5) on merged public datasets, eliminating 19.3% duplicate images before stratified splitting.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Volumetric 3D Segmentation Benchmark: </a:t>
            </a:r>
            <a:r>
              <a:rPr sz="1300" b="0">
                <a:solidFill>
                  <a:srgbClr val="000000"/>
                </a:solidFill>
              </a:rPr>
              <a:t>Implement from scratch and benchmark six 3D architectures (UNet, nnU-Net, VNet, UNETR, Swin UNETR, TransBTS) on BraTS 2020 for WT, TC and ET delineation.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Architectural Trade-Off Analysis: </a:t>
            </a:r>
            <a:r>
              <a:rPr sz="1300" b="0">
                <a:solidFill>
                  <a:srgbClr val="000000"/>
                </a:solidFill>
              </a:rPr>
              <a:t>Quantify trade-offs between segmentation accuracy, parameter count, training latency and memory consumption to identify optimal models for edge and tertiary deployment.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Full-Stack Clinical Platform Development: </a:t>
            </a:r>
            <a:r>
              <a:rPr sz="1300" b="0">
                <a:solidFill>
                  <a:srgbClr val="000000"/>
                </a:solidFill>
              </a:rPr>
              <a:t>Integrate verified high-efficiency models (EfficientNetB0 and VNet) into an end-to-end web system with FastAPI backend, React 18 TypeScript frontend, VTK.js 3D rendering and PDF report export.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5729"/>
            <a:ext cx="10515600" cy="28346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Identified Sustainable Development Goals:</a:t>
            </a:r>
          </a:p>
          <a:p>
            <a:pPr lvl="1"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SDG 3 (Good Health and Well-Being): </a:t>
            </a:r>
            <a:r>
              <a:rPr sz="1300" b="0">
                <a:solidFill>
                  <a:srgbClr val="000000"/>
                </a:solidFill>
              </a:rPr>
              <a:t>Target 3.4 - enhancing early diagnosis, screening accessibility, and precision management of non-communicable neurological diseases.</a:t>
            </a:r>
          </a:p>
          <a:p>
            <a:pPr lvl="1"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SDG 9 (Industry, Innovation and Infrastructure): </a:t>
            </a:r>
            <a:r>
              <a:rPr sz="1300" b="0">
                <a:solidFill>
                  <a:srgbClr val="000000"/>
                </a:solidFill>
              </a:rPr>
              <a:t>Fostering technological innovation in healthcare infrastructure through accessible, open-source AI medical tools.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Project Outcomes: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Two comprehensive research manuscripts prepared for submission to Engineering Applications of Artificial Intelligence (Elsevier, Scopus Indexed).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Open-source, production-grade AI platform codebase publicly released on GitHub.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042" y="1338161"/>
            <a:ext cx="872591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Volumetric Analytics and Reconstruction Engine: </a:t>
            </a:r>
            <a:r>
              <a:rPr sz="1500" b="0">
                <a:solidFill>
                  <a:srgbClr val="000000"/>
                </a:solidFill>
              </a:rPr>
              <a:t>Computes metric lesion volumes (in mm³ and cm³), generates colour-coded 2D multi-planar slice overlays (Axial, Coronal, Sagittal), and prepares 3D surface meshes.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Presentation and Persistence Layer: </a:t>
            </a:r>
            <a:r>
              <a:rPr sz="1500" b="0">
                <a:solidFill>
                  <a:srgbClr val="000000"/>
                </a:solidFill>
              </a:rPr>
              <a:t>Renders interactive 3D visualisations via VTK.js, provides secure REST API endpoints via FastAPI, persists records in SQLite using SQLModel ORM, and exports structured PDF clinical summaries.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End-to-End Flow: </a:t>
            </a:r>
            <a:r>
              <a:rPr sz="1500" b="0">
                <a:solidFill>
                  <a:srgbClr val="000000"/>
                </a:solidFill>
              </a:rPr>
              <a:t>Upload → preprocessing → Stage 1 detection → Stage 2 classification → Stage 3 segmentation → volumetrics and slice generation → interactive review → PDF report export, completed in under 30 seconds on GPU infrastructure.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Multimodal MRI File Ingestion: </a:t>
            </a:r>
            <a:r>
              <a:rPr sz="1500" b="0">
                <a:solidFill>
                  <a:srgbClr val="000000"/>
                </a:solidFill>
              </a:rPr>
              <a:t>Accept and parse 2D MRI slices and 3D volumetric NIfTI files (.nii, .nii.gz) containing T1, T1CE, T2 and FLAIR sequences.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Automated Image Preprocessing: </a:t>
            </a:r>
            <a:r>
              <a:rPr sz="1500" b="0">
                <a:solidFill>
                  <a:srgbClr val="000000"/>
                </a:solidFill>
              </a:rPr>
              <a:t>Perform automatic non-zero foreground z-score normalisation and spatial resampling to standard network dimensions.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Binary Tumour Detection: </a:t>
            </a:r>
            <a:r>
              <a:rPr sz="1500" b="0">
                <a:solidFill>
                  <a:srgbClr val="000000"/>
                </a:solidFill>
              </a:rPr>
              <a:t>Classify uploaded scans as tumour-positive or tumour-negative with associated classification confidence scores.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Histological Subtype Classification: </a:t>
            </a:r>
            <a:r>
              <a:rPr sz="1500" b="0">
                <a:solidFill>
                  <a:srgbClr val="000000"/>
                </a:solidFill>
              </a:rPr>
              <a:t>Categorise tumour-positive scans into Glioma, Meningioma or Pituitary tumour classes with calibrated class probabilities.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Multi-Region 3D Volumetric Segmentation: </a:t>
            </a:r>
            <a:r>
              <a:rPr sz="1500" b="0">
                <a:solidFill>
                  <a:srgbClr val="000000"/>
                </a:solidFill>
              </a:rPr>
              <a:t>Segment 3D MRI volumes into Whole Tumour (WT), Tumour Core (TC) and Enhancing Tumour (ET) sub-regions.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Quantitative Lesion Volumetry: </a:t>
            </a:r>
            <a:r>
              <a:rPr sz="1500" b="0">
                <a:solidFill>
                  <a:srgbClr val="000000"/>
                </a:solidFill>
              </a:rPr>
              <a:t>Calculate and display absolute physical tumour volumes in cubic millimetres (mm³) and cubic centimetres (cm³) for each segmented sub-region.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Interactive Multi-Planar Visualisation: </a:t>
            </a:r>
            <a:r>
              <a:rPr sz="1500" b="0">
                <a:solidFill>
                  <a:srgbClr val="000000"/>
                </a:solidFill>
              </a:rPr>
              <a:t>Render 2D multi-planar reconstruction views (Axial, Coronal, Sagittal) with adjustable slice sliders and colour-coded segmentation overlays.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Automated Diagnostic Reporting: </a:t>
            </a:r>
            <a:r>
              <a:rPr sz="1500" b="0">
                <a:solidFill>
                  <a:srgbClr val="000000"/>
                </a:solidFill>
              </a:rPr>
              <a:t>Generate and export downloadable PDF clinical reports summarising patient metadata, classification findings, volumetric measurements and key slice overlays.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Secure Authentication and Scan Library: </a:t>
            </a:r>
            <a:r>
              <a:rPr sz="1500" b="0">
                <a:solidFill>
                  <a:srgbClr val="000000"/>
                </a:solidFill>
              </a:rPr>
              <a:t>Provide JWT-based user authentication, bcrypt password hashing and user-isolated scan management.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1 - Preprocessing and Deduplication Pipeline: </a:t>
            </a:r>
            <a:r>
              <a:rPr sz="1500" b="0">
                <a:solidFill>
                  <a:srgbClr val="000000"/>
                </a:solidFill>
              </a:rPr>
              <a:t>Manages intensity normalisation, spatial resampling, training augmentations (rotations, flips, colour jitter), and perceptual hash deduplication (pHash, Hamming distance &lt;= 5) to prevent data leakage.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2 - Binary Tumour Detection Engine: </a:t>
            </a:r>
            <a:r>
              <a:rPr sz="1500" b="0">
                <a:solidFill>
                  <a:srgbClr val="000000"/>
                </a:solidFill>
              </a:rPr>
              <a:t>Encapsulates PyTorch inference using EfficientNetB0 (5.3M parameters) and InceptionV3 (23.9M parameters) for initial abnormal scan triage.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3 - Multiclass Subtype Classification Engine: </a:t>
            </a:r>
            <a:r>
              <a:rPr sz="1500" b="0">
                <a:solidFill>
                  <a:srgbClr val="000000"/>
                </a:solidFill>
              </a:rPr>
              <a:t>Implements deep classifiers (EfficientNetB0, InceptionV3, Swin Base) categorising confirmed tumours into glioma, meningioma and pituitary types.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4 - 3D Volumetric Segmentation Engine: </a:t>
            </a:r>
            <a:r>
              <a:rPr sz="1500" b="0">
                <a:solidFill>
                  <a:srgbClr val="000000"/>
                </a:solidFill>
              </a:rPr>
              <a:t>Houses 3D convolutional architectures (VNet, UNet, nnU-Net) operating on 4-channel stacked volumes to produce voxel-wise multi-label segmentation masks.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5 - Clinical Analytics and Volumetrics Module: </a:t>
            </a:r>
            <a:r>
              <a:rPr sz="1500" b="0">
                <a:solidFill>
                  <a:srgbClr val="000000"/>
                </a:solidFill>
              </a:rPr>
              <a:t>Computes physical sub-region volumes via voxel summation and spacing metadata, extracts 2D cross-sectional slices across all anatomical axes, and applies alpha-blended colour overlays.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6 - Backend REST API and Persistence Service: </a:t>
            </a:r>
            <a:r>
              <a:rPr sz="1500" b="0">
                <a:solidFill>
                  <a:srgbClr val="000000"/>
                </a:solidFill>
              </a:rPr>
              <a:t>Built with FastAPI and SQLModel ORM over SQLite; manages asynchronous inference pipelines, JWT authentication and file storage.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7 - Frontend Clinical Dashboard and Visualiser: </a:t>
            </a:r>
            <a:r>
              <a:rPr sz="1500" b="0">
                <a:solidFill>
                  <a:srgbClr val="000000"/>
                </a:solidFill>
              </a:rPr>
              <a:t>Developed using React 18, TypeScript, Tailwind CSS, shadcn/ui and VTK.js for interactive 3D volume rendering and responsive medical workflow navigation.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</a:rPr>
              <a:t>2D Binary Tumour Detection (3,253 images; 488 test samples)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CoaTNet-0: Accuracy 99.59%, AUC 1.0000, Best Val AUC 0.9999 (Epoch 7), ~10M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EfficientNetB0: Accuracy 99.59%, AUC 0.9999, Best Val AUC 0.9999 (Epoch 4), 5.3M parameters (optimal efficiency)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InceptionV3: Accuracy 99.39%, AUC 1.0000, Best Val AUC 0.9999 (Epoch 2), 23.9M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ResNet50: Accuracy 99.39%, AUC 0.9999, Best Val AUC 0.9999 (Epoch 6), 25.6M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DenseNet121: Accuracy 97.95%, AUC 0.9999, Best Val AUC 1.0000 (Epoch 1), 8.0M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Swin Base: Accuracy 98.16%, AUC 0.9990, Best Val AUC 0.9988 (Epoch 6), 88M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ViT-B/16: Accuracy 95.08%, AUC 0.9861, Best Val AUC 0.9897 (Epoch 10), 86M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MobileNetV3: Accuracy 91.39%, AUC 0.9982, Best Val AUC 0.9993 (Epoch 10), 5.4M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VGG16: Accuracy 83.20%, AUC 0.9247, Best Val AUC 0.9343 (Epoch 10), 138M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</a:rPr>
              <a:t>2D Multiclass Subtype Classification (4,705 deduplicated images; 706 test samples)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InceptionV3: Accuracy 98.58%, Loss 0.0389, AUC 0.9995, 27.2M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Swin Base: Accuracy 98.58%, Loss 0.0377, AUC 0.9993, 86.7M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EfficientNetB0: Accuracy 97.59%, Loss 0.0582, AUC 0.9987, 5.3M parameters (highest accuracy/parameter ratio: 0.188%/M)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CoaTNet-0: Accuracy 97.59%, Loss 0.0638, AUC 0.9990, ~10M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ResNet50: Accuracy 96.60%, Loss 0.0740, AUC 0.9990, 25.6M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ViT-B/16: Accuracy 89.52%, Loss 0.2737, AUC 0.9736, 86.4M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3D Volumetric Segmentation on BraTS 2020 (368 cases; 56 test cases)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UNet: WT 0.8647, TC 0.7844, ET 0.7505, Mean Dice 0.7999, Loss 0.4109, 5.6M parameters, 32.4 min (highest verified accuracy)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nnU-Net: WT 0.8569, TC 0.7813, ET 0.7452, Mean Dice 0.7945, Loss 0.4553, 16.5M parameters, 55.1 min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VNet: WT 0.8541, TC 0.7108, ET 0.7316, Mean Dice 0.7655, Loss 0.4880, 1.4M parameters, 16.9 min (best parameter and time efficiency)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UNETR: WT 0.7128, TC 0.6261, ET 0.5314, Mean Dice 0.6234, Loss 1.3411, 137.6M parameters, 117.2 min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TransBTS: WT 0.6383, TC 0.4618, ET 0.4325, Mean Dice 0.5109, Loss 2.1940, 35.8M parameters, 70.1 min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Statistical Significance: </a:t>
            </a:r>
            <a:r>
              <a:rPr sz="1400" b="0">
                <a:solidFill>
                  <a:srgbClr val="000000"/>
                </a:solidFill>
              </a:rPr>
              <a:t>UNet vs nnU-Net difference 0.0054 (p &gt; 0.05, not significant); UNet vs VNet difference 0.0344 (p &lt; 0.05, significant); the CNN group significantly outperformed transformers (p &lt; 0.001).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Architectural Superiority of CNNs on Medical Datasets: </a:t>
            </a:r>
            <a:r>
              <a:rPr sz="1400" b="0">
                <a:solidFill>
                  <a:srgbClr val="000000"/>
                </a:solidFill>
              </a:rPr>
              <a:t>Rigorous benchmarking confirms that convolutional architectures with strong spatial inductive biases (UNet, nnU-Net, VNet, EfficientNetB0) consistently outperform vision transformers on limited medical imaging cohorts.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Model Efficiency and Practical Deployment: </a:t>
            </a:r>
            <a:r>
              <a:rPr sz="1400" b="0">
                <a:solidFill>
                  <a:srgbClr val="000000"/>
                </a:solidFill>
              </a:rPr>
              <a:t>EfficientNetB0 (5.3M parameters, 99.59% detection accuracy) and VNet (1.4M parameters, 0.7655 mean Dice) deliver optimal accuracy-to-parameter ratios, enabling fast, low-cost inference on resource-constrained hospital hardware.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Importance of Rigorous Dataset Hygiene: </a:t>
            </a:r>
            <a:r>
              <a:rPr sz="1400" b="0">
                <a:solidFill>
                  <a:srgbClr val="000000"/>
                </a:solidFill>
              </a:rPr>
              <a:t>Perceptual hash deduplication eliminated 19.3% duplicate images, establishing that duplicate filtering is critical to prevent inflated accuracy metrics caused by data leakage.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Hierarchical Workflow Efficacy: </a:t>
            </a:r>
            <a:r>
              <a:rPr sz="1400" b="0">
                <a:solidFill>
                  <a:srgbClr val="000000"/>
                </a:solidFill>
              </a:rPr>
              <a:t>The multi-stage pipeline (detection → subtype classification → 3D volumetric segmentation) matches clinical neuroradiology decision pathways while avoiding misclassification of healthy scans.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Clinical Assistive Utility: </a:t>
            </a:r>
            <a:r>
              <a:rPr sz="1400" b="0">
                <a:solidFill>
                  <a:srgbClr val="000000"/>
                </a:solidFill>
              </a:rPr>
              <a:t>NeuroScan AI translates research-grade deep learning into a production-ready medical platform giving healthcare professionals rapid second opinions and volumetric insights.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371600"/>
            <a:ext cx="10972800" cy="4754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1200">
                <a:solidFill>
                  <a:srgbClr val="000000"/>
                </a:solidFill>
              </a:rPr>
              <a:t>[1] E. I. Zacharaki, S. Wang, S. Chawla, et al., "Classification of brain tumour type and grade using MRI texture and shape in a machine learning scheme," Magnetic Resonance in Medicine, vol. 62, no. 6, pp. 1609-1618, 2009.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[2] B. H. Menze et al., "The multimodal brain tumour image segmentation benchmark (BRATS)," IEEE Transactions on Medical Imaging, vol. 34, no. 10, pp. 1993-2024, 2015.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[3] O. Cicek, A. Abdulkadir, S. S. Lienkamp, T. Brox, and O. Ronneberger, "3D U-Net: Learning dense volumetric segmentation from sparse annotation," in Proc. MICCAI, 2016, pp. 424-432.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[4] F. Milletari, N. Navab, and S. A. Ahmadi, "V-Net: Fully convolutional neural networks for volumetric medical image segmentation," in Proc. 3DV, 2016, pp. 565-571.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[5] J. Cheng, W. Huang, S. Cao, et al., "Enhanced performance of brain tumour classification via tumour region augmentation and partition," PLoS ONE, vol. 10, no. 10, p. e0140381, 2015.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[6] K. He, X. Zhang, S. Ren, and J. Sun, "Deep residual learning for image recognition," in Proc. CVPR, 2016, pp. 770-778.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[7] C. Szegedy, V. Vanhoucke, S. Ioffe, J. Shlens, and Z. Wojna, "Rethinking the inception architecture for computer vision," in Proc. CVPR, 2016, pp. 2818-2826.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371600"/>
            <a:ext cx="10972800" cy="4754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1200">
                <a:solidFill>
                  <a:srgbClr val="000000"/>
                </a:solidFill>
              </a:rPr>
              <a:t>[8] F. Isensee, P. F. Jaeger, S. A. Kohl, J. Petersen, and K. H. Maier-Hein, "nnU-Net: A self-configuring method for deep learning-based biomedical image segmentation," Nature Methods, vol. 18, no. 2, pp. 203-211, 2021.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[9] M. Tan and Q. Le, "EfficientNet: Rethinking model scaling for convolutional neural networks," in Proc. ICML, 2019, pp. 6105-6114.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[10] A. Dosovitskiy et al., "An image is worth 16x16 words: Transformers for image recognition at scale," in Proc. ICLR, 2021.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[11] Z. Liu, Y. Lin, Y. Cao, et al., "Swin transformer: Hierarchical vision transformer using shifted windows," in Proc. ICCV, 2021, pp. 10012-10022.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[12] W. Xu, Y. Xu, T. Chang, and Z. Tu, "Co-scale conv-attentional image transformers," in Proc. ICCV, 2021, pp. 9981-9990.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[13] A. Hatamizadeh et al., "UNETR: Transformers for 3D medical image segmentation," in Proc. WACV, 2022, pp. 574-584.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[14] W. Wang, C. Chen, M. Ding, H. Yu, S. Zha, and J. Li, "TransBTS: Multimodal brain tumour segmentation using transformer," in Proc. MICCAI, 2021, pp. 109-119.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3391</Words>
  <Application>Microsoft Office PowerPoint</Application>
  <PresentationFormat>Widescreen</PresentationFormat>
  <Paragraphs>234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Office Theme</vt:lpstr>
      <vt:lpstr>B.Tech | BCSE497J - Project-I   NeuroScan AI: AI-Powered Brain Tumour Detection, Classification and Segmentation Platform</vt:lpstr>
      <vt:lpstr>Approval Mail From Guide</vt:lpstr>
      <vt:lpstr>Aim</vt:lpstr>
      <vt:lpstr>Abstract</vt:lpstr>
      <vt:lpstr>Abstract (Contd.)</vt:lpstr>
      <vt:lpstr>Literature Review</vt:lpstr>
      <vt:lpstr>Literature Review (Contd.)</vt:lpstr>
      <vt:lpstr>Research Gap</vt:lpstr>
      <vt:lpstr>Objectives</vt:lpstr>
      <vt:lpstr>Objectives (Contd.)</vt:lpstr>
      <vt:lpstr>Framework/Architecture/Block Diagram</vt:lpstr>
      <vt:lpstr>Framework/Architecture/Block Diagram (Contd.)</vt:lpstr>
      <vt:lpstr>Functional Requirements</vt:lpstr>
      <vt:lpstr>Functional Requirements (Contd.)</vt:lpstr>
      <vt:lpstr>Modules</vt:lpstr>
      <vt:lpstr>Modules (Contd.)</vt:lpstr>
      <vt:lpstr>Experiments and Results</vt:lpstr>
      <vt:lpstr>Experiments and Results (Contd.)</vt:lpstr>
      <vt:lpstr>Experiments and Results (Contd.)</vt:lpstr>
      <vt:lpstr>Conclusion</vt:lpstr>
      <vt:lpstr>References</vt:lpstr>
      <vt:lpstr>References (Contd.)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Ved Lawand</cp:lastModifiedBy>
  <cp:revision>12</cp:revision>
  <dcterms:created xsi:type="dcterms:W3CDTF">2026-07-14T06:00:41Z</dcterms:created>
  <dcterms:modified xsi:type="dcterms:W3CDTF">2026-09-07T04:47:21Z</dcterms:modified>
</cp:coreProperties>
</file>