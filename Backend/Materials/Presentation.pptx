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1"/>
  </p:notesMasterIdLst>
  <p:sldIdLst>
    <p:sldId id="256" r:id="rId2"/>
    <p:sldId id="257" r:id="rId3"/>
    <p:sldId id="258" r:id="rId4"/>
    <p:sldId id="259" r:id="rId5"/>
    <p:sldId id="263" r:id="rId6"/>
    <p:sldId id="260" r:id="rId7"/>
    <p:sldId id="261" r:id="rId8"/>
    <p:sldId id="262"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4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58E2E1-8886-43B2-B986-F2B06DAA2FAC}" type="datetimeFigureOut">
              <a:rPr lang="en-IN" smtClean="0"/>
              <a:t>27-07-2026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59FDF3-42B5-4A41-B75E-186C389084C2}" type="slidenum">
              <a:rPr lang="en-IN" smtClean="0"/>
              <a:t>‹#›</a:t>
            </a:fld>
            <a:endParaRPr lang="en-IN"/>
          </a:p>
        </p:txBody>
      </p:sp>
    </p:spTree>
    <p:extLst>
      <p:ext uri="{BB962C8B-B14F-4D97-AF65-F5344CB8AC3E}">
        <p14:creationId xmlns:p14="http://schemas.microsoft.com/office/powerpoint/2010/main" val="10298584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592BF-19BE-9BF0-E2FC-07A36D054E1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83AB4F9-CBB3-B18D-E917-C3B06418676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50F18A0-E201-1900-A139-E830DD3EA1D1}"/>
              </a:ext>
            </a:extLst>
          </p:cNvPr>
          <p:cNvSpPr>
            <a:spLocks noGrp="1"/>
          </p:cNvSpPr>
          <p:nvPr>
            <p:ph type="dt" sz="half" idx="10"/>
          </p:nvPr>
        </p:nvSpPr>
        <p:spPr/>
        <p:txBody>
          <a:bodyPr/>
          <a:lstStyle/>
          <a:p>
            <a:fld id="{8F3E78AE-7F97-4550-9DD8-BF69171FDC30}" type="datetime1">
              <a:rPr lang="en-IN" smtClean="0"/>
              <a:t>27-07-2026</a:t>
            </a:fld>
            <a:endParaRPr lang="en-IN"/>
          </a:p>
        </p:txBody>
      </p:sp>
      <p:sp>
        <p:nvSpPr>
          <p:cNvPr id="5" name="Footer Placeholder 4">
            <a:extLst>
              <a:ext uri="{FF2B5EF4-FFF2-40B4-BE49-F238E27FC236}">
                <a16:creationId xmlns:a16="http://schemas.microsoft.com/office/drawing/2014/main" id="{ED0906B9-B1F6-B52E-2EE0-7595B1EBF0FF}"/>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97A13AE1-F96E-D540-8DE1-8D903DB30CE2}"/>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17651971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2F7EA-3EC9-99AF-13A9-22A3F8B2D21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C71419B-73DB-15DA-D2EE-0FC01B435F2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B080259-8D20-E29B-4DC5-312C3DB01BB3}"/>
              </a:ext>
            </a:extLst>
          </p:cNvPr>
          <p:cNvSpPr>
            <a:spLocks noGrp="1"/>
          </p:cNvSpPr>
          <p:nvPr>
            <p:ph type="dt" sz="half" idx="10"/>
          </p:nvPr>
        </p:nvSpPr>
        <p:spPr/>
        <p:txBody>
          <a:bodyPr/>
          <a:lstStyle/>
          <a:p>
            <a:fld id="{FEA886FF-1BA7-4533-94E6-869CE1E2970B}" type="datetime1">
              <a:rPr lang="en-IN" smtClean="0"/>
              <a:t>27-07-2026</a:t>
            </a:fld>
            <a:endParaRPr lang="en-IN"/>
          </a:p>
        </p:txBody>
      </p:sp>
      <p:sp>
        <p:nvSpPr>
          <p:cNvPr id="5" name="Footer Placeholder 4">
            <a:extLst>
              <a:ext uri="{FF2B5EF4-FFF2-40B4-BE49-F238E27FC236}">
                <a16:creationId xmlns:a16="http://schemas.microsoft.com/office/drawing/2014/main" id="{E101830E-3502-194A-88FA-DC3E0F1B309A}"/>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ECF6703C-229C-43C6-0484-38EC263AD4A9}"/>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26939907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CE344-6494-09A6-A5E4-811EEE0CD2A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351A0E2-2B9B-B96E-A3FD-0B26BDDBEB4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767CE67-8E8A-4D0D-42DF-DDC842B1B17A}"/>
              </a:ext>
            </a:extLst>
          </p:cNvPr>
          <p:cNvSpPr>
            <a:spLocks noGrp="1"/>
          </p:cNvSpPr>
          <p:nvPr>
            <p:ph type="dt" sz="half" idx="10"/>
          </p:nvPr>
        </p:nvSpPr>
        <p:spPr/>
        <p:txBody>
          <a:bodyPr/>
          <a:lstStyle/>
          <a:p>
            <a:fld id="{93E22BD8-A2C4-424B-809A-C64DDCC305D9}" type="datetime1">
              <a:rPr lang="en-IN" smtClean="0"/>
              <a:t>27-07-2026</a:t>
            </a:fld>
            <a:endParaRPr lang="en-IN"/>
          </a:p>
        </p:txBody>
      </p:sp>
      <p:sp>
        <p:nvSpPr>
          <p:cNvPr id="5" name="Footer Placeholder 4">
            <a:extLst>
              <a:ext uri="{FF2B5EF4-FFF2-40B4-BE49-F238E27FC236}">
                <a16:creationId xmlns:a16="http://schemas.microsoft.com/office/drawing/2014/main" id="{73A78C3E-C139-1FD1-979B-D71679959D2B}"/>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9932F297-889B-B694-6DD5-92F8A6AAFF71}"/>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958143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2C89C-FEA2-11F6-7988-ADD14A7B22F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0E5DE7B-A406-1142-36EA-1C149874023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4355A2B-361E-86CB-ABBE-C510D2B2215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0DA5E84-A1E0-A1C4-F7E6-DA9E7B124C77}"/>
              </a:ext>
            </a:extLst>
          </p:cNvPr>
          <p:cNvSpPr>
            <a:spLocks noGrp="1"/>
          </p:cNvSpPr>
          <p:nvPr>
            <p:ph type="dt" sz="half" idx="10"/>
          </p:nvPr>
        </p:nvSpPr>
        <p:spPr/>
        <p:txBody>
          <a:bodyPr/>
          <a:lstStyle/>
          <a:p>
            <a:fld id="{B620F4BC-B3A4-46AF-9AEC-8478EF1369D5}" type="datetime1">
              <a:rPr lang="en-IN" smtClean="0"/>
              <a:t>27-07-2026</a:t>
            </a:fld>
            <a:endParaRPr lang="en-IN"/>
          </a:p>
        </p:txBody>
      </p:sp>
      <p:sp>
        <p:nvSpPr>
          <p:cNvPr id="6" name="Footer Placeholder 5">
            <a:extLst>
              <a:ext uri="{FF2B5EF4-FFF2-40B4-BE49-F238E27FC236}">
                <a16:creationId xmlns:a16="http://schemas.microsoft.com/office/drawing/2014/main" id="{D5DDA460-54C8-F2AC-C053-53FF3FAFCCD5}"/>
              </a:ext>
            </a:extLst>
          </p:cNvPr>
          <p:cNvSpPr>
            <a:spLocks noGrp="1"/>
          </p:cNvSpPr>
          <p:nvPr>
            <p:ph type="ftr" sz="quarter" idx="11"/>
          </p:nvPr>
        </p:nvSpPr>
        <p:spPr/>
        <p:txBody>
          <a:bodyPr/>
          <a:lstStyle/>
          <a:p>
            <a:r>
              <a:rPr lang="en-IN"/>
              <a:t>SCOPE</a:t>
            </a:r>
          </a:p>
        </p:txBody>
      </p:sp>
      <p:sp>
        <p:nvSpPr>
          <p:cNvPr id="7" name="Slide Number Placeholder 6">
            <a:extLst>
              <a:ext uri="{FF2B5EF4-FFF2-40B4-BE49-F238E27FC236}">
                <a16:creationId xmlns:a16="http://schemas.microsoft.com/office/drawing/2014/main" id="{EE6F132A-BD40-58D2-CEEC-A1BA2B9E2EF2}"/>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2438223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823BE-2514-8722-ED45-41E13E46B67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4BFEE3B-6ABA-1D24-97FE-717EBBC999E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C653C42-4C6D-988F-42A0-8639A508A61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2B662B4-F942-A78F-394F-74F6037179B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B445FBE-A81E-92E1-36E3-99D1586F831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6D20C02-77C2-CB2A-62F8-60B8C62629ED}"/>
              </a:ext>
            </a:extLst>
          </p:cNvPr>
          <p:cNvSpPr>
            <a:spLocks noGrp="1"/>
          </p:cNvSpPr>
          <p:nvPr>
            <p:ph type="dt" sz="half" idx="10"/>
          </p:nvPr>
        </p:nvSpPr>
        <p:spPr/>
        <p:txBody>
          <a:bodyPr/>
          <a:lstStyle/>
          <a:p>
            <a:fld id="{4C9A2993-B405-4F4D-B968-A01C27211659}" type="datetime1">
              <a:rPr lang="en-IN" smtClean="0"/>
              <a:t>27-07-2026</a:t>
            </a:fld>
            <a:endParaRPr lang="en-IN"/>
          </a:p>
        </p:txBody>
      </p:sp>
      <p:sp>
        <p:nvSpPr>
          <p:cNvPr id="8" name="Footer Placeholder 7">
            <a:extLst>
              <a:ext uri="{FF2B5EF4-FFF2-40B4-BE49-F238E27FC236}">
                <a16:creationId xmlns:a16="http://schemas.microsoft.com/office/drawing/2014/main" id="{AD033241-EB08-777E-F678-5D641F6495A5}"/>
              </a:ext>
            </a:extLst>
          </p:cNvPr>
          <p:cNvSpPr>
            <a:spLocks noGrp="1"/>
          </p:cNvSpPr>
          <p:nvPr>
            <p:ph type="ftr" sz="quarter" idx="11"/>
          </p:nvPr>
        </p:nvSpPr>
        <p:spPr/>
        <p:txBody>
          <a:bodyPr/>
          <a:lstStyle/>
          <a:p>
            <a:r>
              <a:rPr lang="en-IN"/>
              <a:t>SCOPE</a:t>
            </a:r>
          </a:p>
        </p:txBody>
      </p:sp>
      <p:sp>
        <p:nvSpPr>
          <p:cNvPr id="9" name="Slide Number Placeholder 8">
            <a:extLst>
              <a:ext uri="{FF2B5EF4-FFF2-40B4-BE49-F238E27FC236}">
                <a16:creationId xmlns:a16="http://schemas.microsoft.com/office/drawing/2014/main" id="{40D711ED-181F-C690-A3B3-1D82670FC5D5}"/>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1592724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468B4-E355-69B3-7598-80ADF2F9CC1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2F1AB3B-AFC6-3627-62E6-22313061FA80}"/>
              </a:ext>
            </a:extLst>
          </p:cNvPr>
          <p:cNvSpPr>
            <a:spLocks noGrp="1"/>
          </p:cNvSpPr>
          <p:nvPr>
            <p:ph type="dt" sz="half" idx="10"/>
          </p:nvPr>
        </p:nvSpPr>
        <p:spPr/>
        <p:txBody>
          <a:bodyPr/>
          <a:lstStyle/>
          <a:p>
            <a:fld id="{79378C8C-5FBB-4DD7-A06D-BE263480794B}" type="datetime1">
              <a:rPr lang="en-IN" smtClean="0"/>
              <a:t>27-07-2026</a:t>
            </a:fld>
            <a:endParaRPr lang="en-IN"/>
          </a:p>
        </p:txBody>
      </p:sp>
      <p:sp>
        <p:nvSpPr>
          <p:cNvPr id="4" name="Footer Placeholder 3">
            <a:extLst>
              <a:ext uri="{FF2B5EF4-FFF2-40B4-BE49-F238E27FC236}">
                <a16:creationId xmlns:a16="http://schemas.microsoft.com/office/drawing/2014/main" id="{2B2C6591-48E4-480E-7965-DE9F830154A3}"/>
              </a:ext>
            </a:extLst>
          </p:cNvPr>
          <p:cNvSpPr>
            <a:spLocks noGrp="1"/>
          </p:cNvSpPr>
          <p:nvPr>
            <p:ph type="ftr" sz="quarter" idx="11"/>
          </p:nvPr>
        </p:nvSpPr>
        <p:spPr/>
        <p:txBody>
          <a:bodyPr/>
          <a:lstStyle/>
          <a:p>
            <a:r>
              <a:rPr lang="en-IN"/>
              <a:t>SCOPE</a:t>
            </a:r>
          </a:p>
        </p:txBody>
      </p:sp>
      <p:sp>
        <p:nvSpPr>
          <p:cNvPr id="5" name="Slide Number Placeholder 4">
            <a:extLst>
              <a:ext uri="{FF2B5EF4-FFF2-40B4-BE49-F238E27FC236}">
                <a16:creationId xmlns:a16="http://schemas.microsoft.com/office/drawing/2014/main" id="{F10C9D68-A16A-B2D3-C8A6-B5221AF744BC}"/>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10750615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23F289A-3AD7-C11D-1594-90A35E592B5C}"/>
              </a:ext>
            </a:extLst>
          </p:cNvPr>
          <p:cNvSpPr>
            <a:spLocks noGrp="1"/>
          </p:cNvSpPr>
          <p:nvPr>
            <p:ph type="dt" sz="half" idx="10"/>
          </p:nvPr>
        </p:nvSpPr>
        <p:spPr/>
        <p:txBody>
          <a:bodyPr/>
          <a:lstStyle/>
          <a:p>
            <a:fld id="{31FD2985-06EC-459B-80C8-F6F4362A1C03}" type="datetime1">
              <a:rPr lang="en-IN" smtClean="0"/>
              <a:t>27-07-2026</a:t>
            </a:fld>
            <a:endParaRPr lang="en-IN"/>
          </a:p>
        </p:txBody>
      </p:sp>
      <p:sp>
        <p:nvSpPr>
          <p:cNvPr id="3" name="Footer Placeholder 2">
            <a:extLst>
              <a:ext uri="{FF2B5EF4-FFF2-40B4-BE49-F238E27FC236}">
                <a16:creationId xmlns:a16="http://schemas.microsoft.com/office/drawing/2014/main" id="{8C252269-BBE3-199F-299B-38D4E9CC1899}"/>
              </a:ext>
            </a:extLst>
          </p:cNvPr>
          <p:cNvSpPr>
            <a:spLocks noGrp="1"/>
          </p:cNvSpPr>
          <p:nvPr>
            <p:ph type="ftr" sz="quarter" idx="11"/>
          </p:nvPr>
        </p:nvSpPr>
        <p:spPr/>
        <p:txBody>
          <a:bodyPr/>
          <a:lstStyle/>
          <a:p>
            <a:r>
              <a:rPr lang="en-IN"/>
              <a:t>SCOPE</a:t>
            </a:r>
          </a:p>
        </p:txBody>
      </p:sp>
      <p:sp>
        <p:nvSpPr>
          <p:cNvPr id="4" name="Slide Number Placeholder 3">
            <a:extLst>
              <a:ext uri="{FF2B5EF4-FFF2-40B4-BE49-F238E27FC236}">
                <a16:creationId xmlns:a16="http://schemas.microsoft.com/office/drawing/2014/main" id="{F7407FDC-B2A9-1304-047F-5808A0B6B226}"/>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0472659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A4847-FC20-D9BF-0BDE-26EC7EF743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8D9C584-AC19-D7B4-9DFE-7C1BC2E1BCC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F4A3262-CE8D-2419-DCCC-C536E9FDAC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4758D6-7AF2-29C5-E0EE-3B7BE155EC20}"/>
              </a:ext>
            </a:extLst>
          </p:cNvPr>
          <p:cNvSpPr>
            <a:spLocks noGrp="1"/>
          </p:cNvSpPr>
          <p:nvPr>
            <p:ph type="dt" sz="half" idx="10"/>
          </p:nvPr>
        </p:nvSpPr>
        <p:spPr/>
        <p:txBody>
          <a:bodyPr/>
          <a:lstStyle/>
          <a:p>
            <a:fld id="{71D7E9DA-13C6-48A4-9305-B592482DE8CE}" type="datetime1">
              <a:rPr lang="en-IN" smtClean="0"/>
              <a:t>27-07-2026</a:t>
            </a:fld>
            <a:endParaRPr lang="en-IN"/>
          </a:p>
        </p:txBody>
      </p:sp>
      <p:sp>
        <p:nvSpPr>
          <p:cNvPr id="6" name="Footer Placeholder 5">
            <a:extLst>
              <a:ext uri="{FF2B5EF4-FFF2-40B4-BE49-F238E27FC236}">
                <a16:creationId xmlns:a16="http://schemas.microsoft.com/office/drawing/2014/main" id="{45AAC7E7-68C4-7616-2DE1-0333E2C446CC}"/>
              </a:ext>
            </a:extLst>
          </p:cNvPr>
          <p:cNvSpPr>
            <a:spLocks noGrp="1"/>
          </p:cNvSpPr>
          <p:nvPr>
            <p:ph type="ftr" sz="quarter" idx="11"/>
          </p:nvPr>
        </p:nvSpPr>
        <p:spPr/>
        <p:txBody>
          <a:bodyPr/>
          <a:lstStyle/>
          <a:p>
            <a:r>
              <a:rPr lang="en-IN"/>
              <a:t>SCOPE</a:t>
            </a:r>
          </a:p>
        </p:txBody>
      </p:sp>
      <p:sp>
        <p:nvSpPr>
          <p:cNvPr id="7" name="Slide Number Placeholder 6">
            <a:extLst>
              <a:ext uri="{FF2B5EF4-FFF2-40B4-BE49-F238E27FC236}">
                <a16:creationId xmlns:a16="http://schemas.microsoft.com/office/drawing/2014/main" id="{5E9EF51B-1685-66FF-0783-23584C251751}"/>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7563877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39D0E-3A71-7252-C837-B8281F0DED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FE3D557-6893-299F-57A8-A7B173F1014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4CC8BA2-BB08-F4E3-5660-C7370BA568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57E1CE-C7CA-966D-8661-1E99A7DA2174}"/>
              </a:ext>
            </a:extLst>
          </p:cNvPr>
          <p:cNvSpPr>
            <a:spLocks noGrp="1"/>
          </p:cNvSpPr>
          <p:nvPr>
            <p:ph type="dt" sz="half" idx="10"/>
          </p:nvPr>
        </p:nvSpPr>
        <p:spPr/>
        <p:txBody>
          <a:bodyPr/>
          <a:lstStyle/>
          <a:p>
            <a:fld id="{F45E7C4B-C575-4DCF-9B63-045662930500}" type="datetime1">
              <a:rPr lang="en-IN" smtClean="0"/>
              <a:t>27-07-2026</a:t>
            </a:fld>
            <a:endParaRPr lang="en-IN"/>
          </a:p>
        </p:txBody>
      </p:sp>
      <p:sp>
        <p:nvSpPr>
          <p:cNvPr id="6" name="Footer Placeholder 5">
            <a:extLst>
              <a:ext uri="{FF2B5EF4-FFF2-40B4-BE49-F238E27FC236}">
                <a16:creationId xmlns:a16="http://schemas.microsoft.com/office/drawing/2014/main" id="{66055516-3E64-07E5-10C5-DE056657E44B}"/>
              </a:ext>
            </a:extLst>
          </p:cNvPr>
          <p:cNvSpPr>
            <a:spLocks noGrp="1"/>
          </p:cNvSpPr>
          <p:nvPr>
            <p:ph type="ftr" sz="quarter" idx="11"/>
          </p:nvPr>
        </p:nvSpPr>
        <p:spPr/>
        <p:txBody>
          <a:bodyPr/>
          <a:lstStyle/>
          <a:p>
            <a:r>
              <a:rPr lang="en-IN"/>
              <a:t>SCOPE</a:t>
            </a:r>
          </a:p>
        </p:txBody>
      </p:sp>
      <p:sp>
        <p:nvSpPr>
          <p:cNvPr id="7" name="Slide Number Placeholder 6">
            <a:extLst>
              <a:ext uri="{FF2B5EF4-FFF2-40B4-BE49-F238E27FC236}">
                <a16:creationId xmlns:a16="http://schemas.microsoft.com/office/drawing/2014/main" id="{AFBA5AD5-9867-E76D-C035-2856CCFBC128}"/>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29400179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1D7EC-16EA-5009-5D33-ABFC55F2813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B09EC6D-8ED5-29E9-9444-CC2D6A1CB8A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C1ADFC6-7CEA-ABEE-94C2-870B1E65737A}"/>
              </a:ext>
            </a:extLst>
          </p:cNvPr>
          <p:cNvSpPr>
            <a:spLocks noGrp="1"/>
          </p:cNvSpPr>
          <p:nvPr>
            <p:ph type="dt" sz="half" idx="10"/>
          </p:nvPr>
        </p:nvSpPr>
        <p:spPr/>
        <p:txBody>
          <a:bodyPr/>
          <a:lstStyle/>
          <a:p>
            <a:fld id="{5576931C-EA1A-43DD-B3B3-66F5BA587712}" type="datetime1">
              <a:rPr lang="en-IN" smtClean="0"/>
              <a:t>27-07-2026</a:t>
            </a:fld>
            <a:endParaRPr lang="en-IN"/>
          </a:p>
        </p:txBody>
      </p:sp>
      <p:sp>
        <p:nvSpPr>
          <p:cNvPr id="5" name="Footer Placeholder 4">
            <a:extLst>
              <a:ext uri="{FF2B5EF4-FFF2-40B4-BE49-F238E27FC236}">
                <a16:creationId xmlns:a16="http://schemas.microsoft.com/office/drawing/2014/main" id="{7B1FA3A5-596E-6C2A-F853-30C5DC6FBF0D}"/>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312CE6B1-CE87-B68F-9494-FA6D109F3896}"/>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6598095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F0FF105-FC99-2BCB-131F-2B902F8BAE2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0354FD6-064F-6E12-E8DE-81EC913CDB0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F1D2109-32D1-4A0F-F903-5142A204EF48}"/>
              </a:ext>
            </a:extLst>
          </p:cNvPr>
          <p:cNvSpPr>
            <a:spLocks noGrp="1"/>
          </p:cNvSpPr>
          <p:nvPr>
            <p:ph type="dt" sz="half" idx="10"/>
          </p:nvPr>
        </p:nvSpPr>
        <p:spPr/>
        <p:txBody>
          <a:bodyPr/>
          <a:lstStyle/>
          <a:p>
            <a:fld id="{82C9B0E1-7C95-4C20-B9C6-BA51F388E878}" type="datetime1">
              <a:rPr lang="en-IN" smtClean="0"/>
              <a:t>27-07-2026</a:t>
            </a:fld>
            <a:endParaRPr lang="en-IN"/>
          </a:p>
        </p:txBody>
      </p:sp>
      <p:sp>
        <p:nvSpPr>
          <p:cNvPr id="5" name="Footer Placeholder 4">
            <a:extLst>
              <a:ext uri="{FF2B5EF4-FFF2-40B4-BE49-F238E27FC236}">
                <a16:creationId xmlns:a16="http://schemas.microsoft.com/office/drawing/2014/main" id="{73E5353D-EEF9-CF3C-A97F-F0F0EBFA7C59}"/>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3DF2F1DC-3958-BCDE-9A16-88E928E7ED2D}"/>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1533540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5454249-E28B-CF91-F4A6-9762E4F38B7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1E3D641-7C66-CA7D-30A7-7F95AC27EF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5E1D408-B228-838E-3E43-4304680A53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827C3E-786B-4150-9177-1C28966A2ADC}" type="datetime1">
              <a:rPr lang="en-IN" smtClean="0"/>
              <a:t>27-07-2026</a:t>
            </a:fld>
            <a:endParaRPr lang="en-IN"/>
          </a:p>
        </p:txBody>
      </p:sp>
      <p:sp>
        <p:nvSpPr>
          <p:cNvPr id="5" name="Footer Placeholder 4">
            <a:extLst>
              <a:ext uri="{FF2B5EF4-FFF2-40B4-BE49-F238E27FC236}">
                <a16:creationId xmlns:a16="http://schemas.microsoft.com/office/drawing/2014/main" id="{DCEC7A69-1922-F157-900C-FF95668316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SCOPE</a:t>
            </a:r>
          </a:p>
        </p:txBody>
      </p:sp>
      <p:sp>
        <p:nvSpPr>
          <p:cNvPr id="6" name="Slide Number Placeholder 5">
            <a:extLst>
              <a:ext uri="{FF2B5EF4-FFF2-40B4-BE49-F238E27FC236}">
                <a16:creationId xmlns:a16="http://schemas.microsoft.com/office/drawing/2014/main" id="{51B80E76-E345-1553-9664-0BCF569B55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201FD4-9D8D-4491-815B-63C7BF4F0034}" type="slidenum">
              <a:rPr lang="en-IN" smtClean="0"/>
              <a:t>‹#›</a:t>
            </a:fld>
            <a:endParaRPr lang="en-IN"/>
          </a:p>
        </p:txBody>
      </p:sp>
    </p:spTree>
    <p:extLst>
      <p:ext uri="{BB962C8B-B14F-4D97-AF65-F5344CB8AC3E}">
        <p14:creationId xmlns:p14="http://schemas.microsoft.com/office/powerpoint/2010/main" val="13918410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E9E27CD-EF84-CB3A-3D07-A3152356892A}"/>
              </a:ext>
            </a:extLst>
          </p:cNvPr>
          <p:cNvPicPr>
            <a:picLocks noChangeAspect="1"/>
          </p:cNvPicPr>
          <p:nvPr/>
        </p:nvPicPr>
        <p:blipFill>
          <a:blip r:embed="rId2"/>
          <a:stretch>
            <a:fillRect/>
          </a:stretch>
        </p:blipFill>
        <p:spPr>
          <a:xfrm>
            <a:off x="3837236" y="0"/>
            <a:ext cx="4517528" cy="1871634"/>
          </a:xfrm>
          <a:prstGeom prst="rect">
            <a:avLst/>
          </a:prstGeom>
        </p:spPr>
      </p:pic>
      <p:sp>
        <p:nvSpPr>
          <p:cNvPr id="7" name="Title 6">
            <a:extLst>
              <a:ext uri="{FF2B5EF4-FFF2-40B4-BE49-F238E27FC236}">
                <a16:creationId xmlns:a16="http://schemas.microsoft.com/office/drawing/2014/main" id="{8BAD67C4-20B4-E1F6-A7E7-C8C33181D0C9}"/>
              </a:ext>
            </a:extLst>
          </p:cNvPr>
          <p:cNvSpPr txBox="1">
            <a:spLocks noGrp="1"/>
          </p:cNvSpPr>
          <p:nvPr>
            <p:ph type="ctrTitle"/>
          </p:nvPr>
        </p:nvSpPr>
        <p:spPr>
          <a:xfrm>
            <a:off x="1868130" y="1231242"/>
            <a:ext cx="8924544" cy="3693319"/>
          </a:xfrm>
          <a:prstGeom prst="rect">
            <a:avLst/>
          </a:prstGeom>
          <a:noFill/>
        </p:spPr>
        <p:txBody>
          <a:bodyPr wrap="square" rtlCol="0">
            <a:spAutoFit/>
          </a:bodyPr>
          <a:lstStyle/>
          <a:p>
            <a:br>
              <a:rPr lang="en-IN" sz="2000" b="1" dirty="0">
                <a:highlight>
                  <a:srgbClr val="FFFF00"/>
                </a:highlight>
                <a:latin typeface="Times New Roman" panose="02020603050405020304" pitchFamily="18" charset="0"/>
                <a:cs typeface="Times New Roman" panose="02020603050405020304" pitchFamily="18" charset="0"/>
              </a:rPr>
            </a:br>
            <a:r>
              <a:rPr lang="en-IN" sz="2000" b="1" dirty="0" err="1">
                <a:highlight>
                  <a:srgbClr val="FFFF00"/>
                </a:highlight>
                <a:latin typeface="Times New Roman" panose="02020603050405020304" pitchFamily="18" charset="0"/>
                <a:cs typeface="Times New Roman" panose="02020603050405020304" pitchFamily="18" charset="0"/>
              </a:rPr>
              <a:t>B.Tech</a:t>
            </a:r>
            <a:br>
              <a:rPr lang="en-IN" sz="2000" b="1" dirty="0">
                <a:highlight>
                  <a:srgbClr val="FFFF00"/>
                </a:highlight>
                <a:latin typeface="Times New Roman" panose="02020603050405020304" pitchFamily="18" charset="0"/>
                <a:cs typeface="Times New Roman" panose="02020603050405020304" pitchFamily="18" charset="0"/>
              </a:rPr>
            </a:br>
            <a:r>
              <a:rPr lang="en-IN" sz="2000" b="1" dirty="0">
                <a:highlight>
                  <a:srgbClr val="FFFF00"/>
                </a:highlight>
                <a:latin typeface="Times New Roman" panose="02020603050405020304" pitchFamily="18" charset="0"/>
                <a:cs typeface="Times New Roman" panose="02020603050405020304" pitchFamily="18" charset="0"/>
              </a:rPr>
              <a:t>BCSE497J – Project I</a:t>
            </a:r>
            <a:br>
              <a:rPr lang="en-IN" sz="3200" b="1" dirty="0">
                <a:latin typeface="Times New Roman" panose="02020603050405020304" pitchFamily="18" charset="0"/>
                <a:cs typeface="Times New Roman" panose="02020603050405020304" pitchFamily="18" charset="0"/>
              </a:rPr>
            </a:br>
            <a:br>
              <a:rPr lang="en-IN" sz="3200" b="1" dirty="0">
                <a:latin typeface="Times New Roman" panose="02020603050405020304" pitchFamily="18" charset="0"/>
                <a:cs typeface="Times New Roman" panose="02020603050405020304" pitchFamily="18" charset="0"/>
              </a:rPr>
            </a:br>
            <a:r>
              <a:rPr lang="en-IN" sz="2800" b="1" dirty="0"/>
              <a:t>Neuro Scan AI</a:t>
            </a:r>
            <a:br>
              <a:rPr lang="en-IN" sz="2800" b="1" dirty="0"/>
            </a:br>
            <a:br>
              <a:rPr lang="en-IN" sz="2800" b="1" dirty="0"/>
            </a:br>
            <a:r>
              <a:rPr lang="en-IN" sz="2000" b="1" dirty="0" err="1"/>
              <a:t>AI</a:t>
            </a:r>
            <a:r>
              <a:rPr lang="en-IN" sz="2000" b="1" dirty="0"/>
              <a:t> powered brain tumour detection, classification and segmentation platform</a:t>
            </a:r>
            <a:br>
              <a:rPr lang="en-IN" b="1" dirty="0"/>
            </a:br>
            <a:br>
              <a:rPr lang="en-IN" b="1" dirty="0"/>
            </a:br>
            <a:endParaRPr lang="en-IN" sz="3200" b="1" dirty="0">
              <a:latin typeface="Times New Roman" panose="02020603050405020304" pitchFamily="18" charset="0"/>
              <a:cs typeface="Times New Roman" panose="02020603050405020304" pitchFamily="18" charset="0"/>
            </a:endParaRPr>
          </a:p>
        </p:txBody>
      </p:sp>
      <p:sp>
        <p:nvSpPr>
          <p:cNvPr id="9" name="object 3">
            <a:extLst>
              <a:ext uri="{FF2B5EF4-FFF2-40B4-BE49-F238E27FC236}">
                <a16:creationId xmlns:a16="http://schemas.microsoft.com/office/drawing/2014/main" id="{68BC382C-506F-4908-6AC3-C0AA73064F47}"/>
              </a:ext>
            </a:extLst>
          </p:cNvPr>
          <p:cNvSpPr txBox="1"/>
          <p:nvPr/>
        </p:nvSpPr>
        <p:spPr>
          <a:xfrm>
            <a:off x="3493992" y="4671968"/>
            <a:ext cx="7071360" cy="1502976"/>
          </a:xfrm>
          <a:prstGeom prst="rect">
            <a:avLst/>
          </a:prstGeom>
        </p:spPr>
        <p:txBody>
          <a:bodyPr vert="horz" wrap="square" lIns="0" tIns="12700" rIns="0" bIns="0" rtlCol="0">
            <a:spAutoFit/>
          </a:bodyPr>
          <a:lstStyle/>
          <a:p>
            <a:pPr>
              <a:lnSpc>
                <a:spcPct val="100000"/>
              </a:lnSpc>
              <a:spcBef>
                <a:spcPts val="200"/>
              </a:spcBef>
            </a:pPr>
            <a:endParaRPr sz="1800" dirty="0">
              <a:latin typeface="Times New Roman"/>
              <a:cs typeface="Times New Roman"/>
            </a:endParaRPr>
          </a:p>
          <a:p>
            <a:pPr marL="12700">
              <a:lnSpc>
                <a:spcPct val="100000"/>
              </a:lnSpc>
            </a:pPr>
            <a:r>
              <a:rPr sz="2000" spc="-20" dirty="0">
                <a:latin typeface="Times New Roman"/>
                <a:cs typeface="Times New Roman"/>
              </a:rPr>
              <a:t>Team</a:t>
            </a:r>
            <a:r>
              <a:rPr sz="2000" spc="-80" dirty="0">
                <a:latin typeface="Times New Roman"/>
                <a:cs typeface="Times New Roman"/>
              </a:rPr>
              <a:t> </a:t>
            </a:r>
            <a:r>
              <a:rPr sz="2000" spc="-10" dirty="0">
                <a:latin typeface="Times New Roman"/>
                <a:cs typeface="Times New Roman"/>
              </a:rPr>
              <a:t>members:</a:t>
            </a:r>
            <a:r>
              <a:rPr lang="en-IN" sz="2000" spc="-10" dirty="0">
                <a:latin typeface="Times New Roman"/>
                <a:cs typeface="Times New Roman"/>
              </a:rPr>
              <a:t>  </a:t>
            </a:r>
            <a:r>
              <a:rPr lang="en-IN" sz="2000" dirty="0">
                <a:latin typeface="Times New Roman" panose="02020603050405020304" pitchFamily="18" charset="0"/>
                <a:cs typeface="Times New Roman" panose="02020603050405020304" pitchFamily="18" charset="0"/>
              </a:rPr>
              <a:t>Parth Mital, Ved Somesh Lawand</a:t>
            </a:r>
            <a:endParaRPr sz="2000" dirty="0">
              <a:latin typeface="Times New Roman" panose="02020603050405020304" pitchFamily="18" charset="0"/>
              <a:cs typeface="Times New Roman" panose="02020603050405020304" pitchFamily="18" charset="0"/>
            </a:endParaRPr>
          </a:p>
          <a:p>
            <a:pPr marL="149225" indent="-136525">
              <a:lnSpc>
                <a:spcPct val="100000"/>
              </a:lnSpc>
              <a:spcBef>
                <a:spcPts val="20"/>
              </a:spcBef>
              <a:buFont typeface="Times New Roman"/>
              <a:buChar char="•"/>
              <a:tabLst>
                <a:tab pos="149225" algn="l"/>
              </a:tabLst>
            </a:pPr>
            <a:endParaRPr lang="en-IN" sz="2000" b="1" dirty="0">
              <a:latin typeface="Times New Roman" panose="02020603050405020304" pitchFamily="18" charset="0"/>
              <a:cs typeface="Times New Roman" panose="02020603050405020304" pitchFamily="18" charset="0"/>
            </a:endParaRPr>
          </a:p>
          <a:p>
            <a:pPr marL="12700">
              <a:lnSpc>
                <a:spcPct val="100000"/>
              </a:lnSpc>
              <a:spcBef>
                <a:spcPts val="100"/>
              </a:spcBef>
            </a:pPr>
            <a:r>
              <a:rPr lang="en-US" sz="2000" dirty="0">
                <a:latin typeface="Times New Roman"/>
                <a:cs typeface="Times New Roman"/>
              </a:rPr>
              <a:t>Faculty</a:t>
            </a:r>
            <a:r>
              <a:rPr lang="en-US" sz="2000" spc="-60" dirty="0">
                <a:latin typeface="Times New Roman"/>
                <a:cs typeface="Times New Roman"/>
              </a:rPr>
              <a:t> </a:t>
            </a:r>
            <a:r>
              <a:rPr lang="en-US" sz="2000" dirty="0">
                <a:latin typeface="Times New Roman"/>
                <a:cs typeface="Times New Roman"/>
              </a:rPr>
              <a:t>guide</a:t>
            </a:r>
            <a:r>
              <a:rPr lang="en-US" sz="2000" spc="-55" dirty="0">
                <a:latin typeface="Times New Roman"/>
                <a:cs typeface="Times New Roman"/>
              </a:rPr>
              <a:t> </a:t>
            </a:r>
            <a:r>
              <a:rPr lang="en-US" sz="2000" spc="-50" dirty="0">
                <a:latin typeface="Times New Roman"/>
                <a:cs typeface="Times New Roman"/>
              </a:rPr>
              <a:t>:  </a:t>
            </a:r>
            <a:r>
              <a:rPr lang="en-IN" sz="2000" dirty="0" err="1">
                <a:latin typeface="Times New Roman" panose="02020603050405020304" pitchFamily="18" charset="0"/>
                <a:cs typeface="Times New Roman" panose="02020603050405020304" pitchFamily="18" charset="0"/>
              </a:rPr>
              <a:t>Biji</a:t>
            </a:r>
            <a:r>
              <a:rPr lang="en-IN" sz="2000" dirty="0">
                <a:latin typeface="Times New Roman" panose="02020603050405020304" pitchFamily="18" charset="0"/>
                <a:cs typeface="Times New Roman" panose="02020603050405020304" pitchFamily="18" charset="0"/>
              </a:rPr>
              <a:t> C. L.</a:t>
            </a:r>
            <a:endParaRPr lang="en-US" sz="2000" dirty="0">
              <a:latin typeface="Times New Roman" panose="02020603050405020304" pitchFamily="18" charset="0"/>
              <a:cs typeface="Times New Roman" panose="02020603050405020304" pitchFamily="18" charset="0"/>
            </a:endParaRPr>
          </a:p>
          <a:p>
            <a:pPr marL="149225" indent="-136525">
              <a:lnSpc>
                <a:spcPct val="100000"/>
              </a:lnSpc>
              <a:spcBef>
                <a:spcPts val="20"/>
              </a:spcBef>
              <a:buFont typeface="Times New Roman"/>
              <a:buChar char="•"/>
              <a:tabLst>
                <a:tab pos="149225" algn="l"/>
              </a:tabLst>
            </a:pPr>
            <a:endParaRPr sz="1800" dirty="0">
              <a:latin typeface="Times New Roman"/>
              <a:cs typeface="Times New Roman"/>
            </a:endParaRPr>
          </a:p>
        </p:txBody>
      </p:sp>
    </p:spTree>
    <p:extLst>
      <p:ext uri="{BB962C8B-B14F-4D97-AF65-F5344CB8AC3E}">
        <p14:creationId xmlns:p14="http://schemas.microsoft.com/office/powerpoint/2010/main" val="42430368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68A428-04DA-E6A8-7606-5D2FE5F31C52}"/>
              </a:ext>
            </a:extLst>
          </p:cNvPr>
          <p:cNvSpPr>
            <a:spLocks noGrp="1"/>
          </p:cNvSpPr>
          <p:nvPr>
            <p:ph idx="1"/>
          </p:nvPr>
        </p:nvSpPr>
        <p:spPr>
          <a:xfrm>
            <a:off x="668594" y="1160206"/>
            <a:ext cx="10685206" cy="4958236"/>
          </a:xfrm>
        </p:spPr>
        <p:txBody>
          <a:bodyPr>
            <a:noAutofit/>
          </a:bodyPr>
          <a:lstStyle/>
          <a:p>
            <a:pPr marL="0" indent="0">
              <a:buNone/>
            </a:pPr>
            <a:r>
              <a:rPr lang="en-IN" sz="2300" dirty="0">
                <a:latin typeface="Times New Roman" panose="02020603050405020304" pitchFamily="18" charset="0"/>
                <a:cs typeface="Times New Roman" panose="02020603050405020304" pitchFamily="18" charset="0"/>
              </a:rPr>
              <a:t>To design and implement a full stack medical imaging platform that assists radiologists in analysing brain MRI scans through automated tumour detection, tumour type classification, and volumetric tumour segmentation.</a:t>
            </a:r>
          </a:p>
          <a:p>
            <a:pPr marL="0" indent="0">
              <a:buNone/>
            </a:pPr>
            <a:endParaRPr lang="en-IN" sz="2300" dirty="0">
              <a:latin typeface="Times New Roman" panose="02020603050405020304" pitchFamily="18" charset="0"/>
              <a:cs typeface="Times New Roman" panose="02020603050405020304" pitchFamily="18" charset="0"/>
            </a:endParaRPr>
          </a:p>
          <a:p>
            <a:pPr marL="0" indent="0">
              <a:buNone/>
            </a:pPr>
            <a:r>
              <a:rPr lang="en-IN" sz="2300" b="1" dirty="0">
                <a:latin typeface="Times New Roman" panose="02020603050405020304" pitchFamily="18" charset="0"/>
                <a:cs typeface="Times New Roman" panose="02020603050405020304" pitchFamily="18" charset="0"/>
              </a:rPr>
              <a:t>Project focus</a:t>
            </a:r>
          </a:p>
          <a:p>
            <a:r>
              <a:rPr lang="en-IN" sz="2300" dirty="0">
                <a:latin typeface="Times New Roman" panose="02020603050405020304" pitchFamily="18" charset="0"/>
                <a:cs typeface="Times New Roman" panose="02020603050405020304" pitchFamily="18" charset="0"/>
              </a:rPr>
              <a:t>Detect whether a brain MRI scan shows tumour presence.</a:t>
            </a:r>
          </a:p>
          <a:p>
            <a:r>
              <a:rPr lang="en-IN" sz="2300" dirty="0">
                <a:latin typeface="Times New Roman" panose="02020603050405020304" pitchFamily="18" charset="0"/>
                <a:cs typeface="Times New Roman" panose="02020603050405020304" pitchFamily="18" charset="0"/>
              </a:rPr>
              <a:t>Classify tumour positive scans into glioma, meningioma, or pituitary tumour.</a:t>
            </a:r>
          </a:p>
          <a:p>
            <a:r>
              <a:rPr lang="en-IN" sz="2300" dirty="0">
                <a:latin typeface="Times New Roman" panose="02020603050405020304" pitchFamily="18" charset="0"/>
                <a:cs typeface="Times New Roman" panose="02020603050405020304" pitchFamily="18" charset="0"/>
              </a:rPr>
              <a:t>Segment tumour regions from multimodal MRI volumes into Whole Tumour, Tumour Core, and Enhancing Tumour.</a:t>
            </a:r>
          </a:p>
          <a:p>
            <a:r>
              <a:rPr lang="en-IN" sz="2300" dirty="0">
                <a:latin typeface="Times New Roman" panose="02020603050405020304" pitchFamily="18" charset="0"/>
                <a:cs typeface="Times New Roman" panose="02020603050405020304" pitchFamily="18" charset="0"/>
              </a:rPr>
              <a:t>Provide a secure web interface for MRI upload, scan history, visual review, and report generation.</a:t>
            </a:r>
          </a:p>
          <a:p>
            <a:r>
              <a:rPr lang="en-IN" sz="2300" dirty="0">
                <a:latin typeface="Times New Roman" panose="02020603050405020304" pitchFamily="18" charset="0"/>
                <a:cs typeface="Times New Roman" panose="02020603050405020304" pitchFamily="18" charset="0"/>
              </a:rPr>
              <a:t>Select deployment suitable models through fair comparison of CNN, transformer, and hybrid architectures.</a:t>
            </a:r>
          </a:p>
          <a:p>
            <a:br>
              <a:rPr lang="en-IN" sz="2300" dirty="0">
                <a:latin typeface="Times New Roman" panose="02020603050405020304" pitchFamily="18" charset="0"/>
                <a:cs typeface="Times New Roman" panose="02020603050405020304" pitchFamily="18" charset="0"/>
              </a:rPr>
            </a:br>
            <a:endParaRPr lang="en-IN" sz="2300" dirty="0">
              <a:latin typeface="Times New Roman" panose="02020603050405020304" pitchFamily="18" charset="0"/>
              <a:cs typeface="Times New Roman" panose="02020603050405020304" pitchFamily="18" charset="0"/>
            </a:endParaRPr>
          </a:p>
        </p:txBody>
      </p:sp>
      <p:sp>
        <p:nvSpPr>
          <p:cNvPr id="4" name="object 2">
            <a:extLst>
              <a:ext uri="{FF2B5EF4-FFF2-40B4-BE49-F238E27FC236}">
                <a16:creationId xmlns:a16="http://schemas.microsoft.com/office/drawing/2014/main" id="{027305EA-516C-11F8-8A54-2BA046094ABC}"/>
              </a:ext>
            </a:extLst>
          </p:cNvPr>
          <p:cNvSpPr txBox="1">
            <a:spLocks noGrp="1"/>
          </p:cNvSpPr>
          <p:nvPr>
            <p:ph type="title"/>
          </p:nvPr>
        </p:nvSpPr>
        <p:spPr>
          <a:xfrm>
            <a:off x="366251" y="238113"/>
            <a:ext cx="10515600" cy="576696"/>
          </a:xfrm>
          <a:prstGeom prst="rect">
            <a:avLst/>
          </a:prstGeom>
        </p:spPr>
        <p:txBody>
          <a:bodyPr vert="horz" wrap="square" lIns="0" tIns="113919" rIns="0" bIns="0" rtlCol="0">
            <a:spAutoFit/>
          </a:bodyPr>
          <a:lstStyle/>
          <a:p>
            <a:pPr marL="486409" algn="ctr">
              <a:lnSpc>
                <a:spcPct val="100000"/>
              </a:lnSpc>
              <a:spcBef>
                <a:spcPts val="130"/>
              </a:spcBef>
            </a:pPr>
            <a:r>
              <a:rPr sz="3000" b="1" spc="-25" dirty="0">
                <a:latin typeface="Times New Roman" panose="02020603050405020304" pitchFamily="18" charset="0"/>
                <a:cs typeface="Times New Roman" panose="02020603050405020304" pitchFamily="18" charset="0"/>
              </a:rPr>
              <a:t>Aim</a:t>
            </a:r>
            <a:endParaRPr sz="3000" b="1" dirty="0">
              <a:latin typeface="Times New Roman" panose="02020603050405020304" pitchFamily="18" charset="0"/>
              <a:cs typeface="Times New Roman" panose="02020603050405020304" pitchFamily="18" charset="0"/>
            </a:endParaRPr>
          </a:p>
        </p:txBody>
      </p:sp>
      <p:sp>
        <p:nvSpPr>
          <p:cNvPr id="7" name="Date Placeholder 6">
            <a:extLst>
              <a:ext uri="{FF2B5EF4-FFF2-40B4-BE49-F238E27FC236}">
                <a16:creationId xmlns:a16="http://schemas.microsoft.com/office/drawing/2014/main" id="{779E6AA7-AE20-8A91-BA42-261BF76A2F8B}"/>
              </a:ext>
            </a:extLst>
          </p:cNvPr>
          <p:cNvSpPr>
            <a:spLocks noGrp="1"/>
          </p:cNvSpPr>
          <p:nvPr>
            <p:ph type="dt" sz="half" idx="10"/>
          </p:nvPr>
        </p:nvSpPr>
        <p:spPr/>
        <p:txBody>
          <a:bodyPr/>
          <a:lstStyle/>
          <a:p>
            <a:fld id="{61736562-4E3F-4038-A291-A7AE35CC3E6A}" type="datetime1">
              <a:rPr lang="en-IN" smtClean="0"/>
              <a:t>27-07-2026</a:t>
            </a:fld>
            <a:endParaRPr lang="en-IN"/>
          </a:p>
        </p:txBody>
      </p:sp>
      <p:sp>
        <p:nvSpPr>
          <p:cNvPr id="8" name="Footer Placeholder 7">
            <a:extLst>
              <a:ext uri="{FF2B5EF4-FFF2-40B4-BE49-F238E27FC236}">
                <a16:creationId xmlns:a16="http://schemas.microsoft.com/office/drawing/2014/main" id="{B77FE434-77F0-B8BE-9198-66090332F3F0}"/>
              </a:ext>
            </a:extLst>
          </p:cNvPr>
          <p:cNvSpPr>
            <a:spLocks noGrp="1"/>
          </p:cNvSpPr>
          <p:nvPr>
            <p:ph type="ftr" sz="quarter" idx="11"/>
          </p:nvPr>
        </p:nvSpPr>
        <p:spPr/>
        <p:txBody>
          <a:bodyPr/>
          <a:lstStyle/>
          <a:p>
            <a:r>
              <a:rPr lang="en-IN"/>
              <a:t>SCOPE</a:t>
            </a:r>
          </a:p>
        </p:txBody>
      </p:sp>
      <p:sp>
        <p:nvSpPr>
          <p:cNvPr id="9" name="Slide Number Placeholder 8">
            <a:extLst>
              <a:ext uri="{FF2B5EF4-FFF2-40B4-BE49-F238E27FC236}">
                <a16:creationId xmlns:a16="http://schemas.microsoft.com/office/drawing/2014/main" id="{5AD6A9DA-AEE9-F6FE-EFA8-06396314F7E6}"/>
              </a:ext>
            </a:extLst>
          </p:cNvPr>
          <p:cNvSpPr>
            <a:spLocks noGrp="1"/>
          </p:cNvSpPr>
          <p:nvPr>
            <p:ph type="sldNum" sz="quarter" idx="12"/>
          </p:nvPr>
        </p:nvSpPr>
        <p:spPr/>
        <p:txBody>
          <a:bodyPr/>
          <a:lstStyle/>
          <a:p>
            <a:fld id="{65201FD4-9D8D-4491-815B-63C7BF4F0034}" type="slidenum">
              <a:rPr lang="en-IN" smtClean="0"/>
              <a:t>2</a:t>
            </a:fld>
            <a:endParaRPr lang="en-IN"/>
          </a:p>
        </p:txBody>
      </p:sp>
    </p:spTree>
    <p:extLst>
      <p:ext uri="{BB962C8B-B14F-4D97-AF65-F5344CB8AC3E}">
        <p14:creationId xmlns:p14="http://schemas.microsoft.com/office/powerpoint/2010/main" val="25435188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D95E8-8D7C-F548-8B75-23C3B2B15B1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DDED8F-1EBD-2E10-598E-0CA3F56F05DF}"/>
              </a:ext>
            </a:extLst>
          </p:cNvPr>
          <p:cNvSpPr>
            <a:spLocks noGrp="1"/>
          </p:cNvSpPr>
          <p:nvPr>
            <p:ph idx="1"/>
          </p:nvPr>
        </p:nvSpPr>
        <p:spPr>
          <a:xfrm>
            <a:off x="838200" y="963561"/>
            <a:ext cx="10515600" cy="5392789"/>
          </a:xfrm>
        </p:spPr>
        <p:txBody>
          <a:bodyPr>
            <a:normAutofit fontScale="77500" lnSpcReduction="20000"/>
          </a:bodyPr>
          <a:lstStyle/>
          <a:p>
            <a:r>
              <a:rPr lang="en-IN" sz="3100" dirty="0">
                <a:latin typeface="Times New Roman" panose="02020603050405020304" pitchFamily="18" charset="0"/>
                <a:cs typeface="Times New Roman" panose="02020603050405020304" pitchFamily="18" charset="0"/>
              </a:rPr>
              <a:t>Brain tumour diagnosis from MRI is clinically important, but manual interpretation is time consuming, specialist dependent, and variable across readers. </a:t>
            </a:r>
            <a:r>
              <a:rPr lang="en-IN" sz="3100" dirty="0" err="1">
                <a:latin typeface="Times New Roman" panose="02020603050405020304" pitchFamily="18" charset="0"/>
                <a:cs typeface="Times New Roman" panose="02020603050405020304" pitchFamily="18" charset="0"/>
              </a:rPr>
              <a:t>NeuroScan</a:t>
            </a:r>
            <a:r>
              <a:rPr lang="en-IN" sz="3100" dirty="0">
                <a:latin typeface="Times New Roman" panose="02020603050405020304" pitchFamily="18" charset="0"/>
                <a:cs typeface="Times New Roman" panose="02020603050405020304" pitchFamily="18" charset="0"/>
              </a:rPr>
              <a:t> AI addresses this by combining research grade deep learning models with a usable web based workflow for MRI analysis.</a:t>
            </a:r>
          </a:p>
          <a:p>
            <a:r>
              <a:rPr lang="en-IN" sz="3100" dirty="0">
                <a:latin typeface="Times New Roman" panose="02020603050405020304" pitchFamily="18" charset="0"/>
                <a:cs typeface="Times New Roman" panose="02020603050405020304" pitchFamily="18" charset="0"/>
              </a:rPr>
              <a:t>The project follows a three stage pipeline. First, a binary detector identifies tumour presence. Second, a multiclass classifier predicts glioma, meningioma, or pituitary tumour for positive cases. Third, a 3D segmentation model estimates tumour sub regions and volumetric measures when all required MRI modalities are available.</a:t>
            </a:r>
          </a:p>
          <a:p>
            <a:r>
              <a:rPr lang="en-IN" sz="3100" dirty="0">
                <a:latin typeface="Times New Roman" panose="02020603050405020304" pitchFamily="18" charset="0"/>
                <a:cs typeface="Times New Roman" panose="02020603050405020304" pitchFamily="18" charset="0"/>
              </a:rPr>
              <a:t>The research component benchmarked multiple architectures under standardised preprocessing and training conditions. EfficientNetB0 was selected for practical detection and classification deployment because it gives strong accuracy with only 5.3 million parameters. </a:t>
            </a:r>
            <a:r>
              <a:rPr lang="en-IN" sz="3100" dirty="0" err="1">
                <a:latin typeface="Times New Roman" panose="02020603050405020304" pitchFamily="18" charset="0"/>
                <a:cs typeface="Times New Roman" panose="02020603050405020304" pitchFamily="18" charset="0"/>
              </a:rPr>
              <a:t>VNet</a:t>
            </a:r>
            <a:r>
              <a:rPr lang="en-IN" sz="3100" dirty="0">
                <a:latin typeface="Times New Roman" panose="02020603050405020304" pitchFamily="18" charset="0"/>
                <a:cs typeface="Times New Roman" panose="02020603050405020304" pitchFamily="18" charset="0"/>
              </a:rPr>
              <a:t> was selected for segmentation because it provides the best efficiency profile among the evaluated 3D models, with 1.4 million parameters and strong Dice performance.</a:t>
            </a:r>
          </a:p>
          <a:p>
            <a:r>
              <a:rPr lang="en-IN" sz="3100" dirty="0">
                <a:latin typeface="Times New Roman" panose="02020603050405020304" pitchFamily="18" charset="0"/>
                <a:cs typeface="Times New Roman" panose="02020603050405020304" pitchFamily="18" charset="0"/>
              </a:rPr>
              <a:t>The implementation combines a </a:t>
            </a:r>
            <a:r>
              <a:rPr lang="en-IN" sz="3100" dirty="0" err="1">
                <a:latin typeface="Times New Roman" panose="02020603050405020304" pitchFamily="18" charset="0"/>
                <a:cs typeface="Times New Roman" panose="02020603050405020304" pitchFamily="18" charset="0"/>
              </a:rPr>
              <a:t>FastAPI</a:t>
            </a:r>
            <a:r>
              <a:rPr lang="en-IN" sz="3100" dirty="0">
                <a:latin typeface="Times New Roman" panose="02020603050405020304" pitchFamily="18" charset="0"/>
                <a:cs typeface="Times New Roman" panose="02020603050405020304" pitchFamily="18" charset="0"/>
              </a:rPr>
              <a:t> backend, </a:t>
            </a:r>
            <a:r>
              <a:rPr lang="en-IN" sz="3100" dirty="0" err="1">
                <a:latin typeface="Times New Roman" panose="02020603050405020304" pitchFamily="18" charset="0"/>
                <a:cs typeface="Times New Roman" panose="02020603050405020304" pitchFamily="18" charset="0"/>
              </a:rPr>
              <a:t>PyTorch</a:t>
            </a:r>
            <a:r>
              <a:rPr lang="en-IN" sz="3100" dirty="0">
                <a:latin typeface="Times New Roman" panose="02020603050405020304" pitchFamily="18" charset="0"/>
                <a:cs typeface="Times New Roman" panose="02020603050405020304" pitchFamily="18" charset="0"/>
              </a:rPr>
              <a:t> inference, </a:t>
            </a:r>
            <a:r>
              <a:rPr lang="en-IN" sz="3100" dirty="0" err="1">
                <a:latin typeface="Times New Roman" panose="02020603050405020304" pitchFamily="18" charset="0"/>
                <a:cs typeface="Times New Roman" panose="02020603050405020304" pitchFamily="18" charset="0"/>
              </a:rPr>
              <a:t>SQLModel</a:t>
            </a:r>
            <a:r>
              <a:rPr lang="en-IN" sz="3100" dirty="0">
                <a:latin typeface="Times New Roman" panose="02020603050405020304" pitchFamily="18" charset="0"/>
                <a:cs typeface="Times New Roman" panose="02020603050405020304" pitchFamily="18" charset="0"/>
              </a:rPr>
              <a:t> persistence, JWT based authentication, and a React TypeScript frontend with scan library, upload, viewer, reports, and settings workflows.</a:t>
            </a:r>
          </a:p>
          <a:p>
            <a:endParaRPr lang="en-IN" sz="1800" dirty="0">
              <a:latin typeface="Times New Roman" panose="02020603050405020304" pitchFamily="18" charset="0"/>
              <a:cs typeface="Times New Roman" panose="02020603050405020304" pitchFamily="18" charset="0"/>
            </a:endParaRPr>
          </a:p>
        </p:txBody>
      </p:sp>
      <p:sp>
        <p:nvSpPr>
          <p:cNvPr id="4" name="object 2">
            <a:extLst>
              <a:ext uri="{FF2B5EF4-FFF2-40B4-BE49-F238E27FC236}">
                <a16:creationId xmlns:a16="http://schemas.microsoft.com/office/drawing/2014/main" id="{156C6ACB-BF9E-DB99-B99C-4896C652737E}"/>
              </a:ext>
            </a:extLst>
          </p:cNvPr>
          <p:cNvSpPr txBox="1">
            <a:spLocks noGrp="1"/>
          </p:cNvSpPr>
          <p:nvPr>
            <p:ph type="title"/>
          </p:nvPr>
        </p:nvSpPr>
        <p:spPr>
          <a:xfrm>
            <a:off x="602226" y="84356"/>
            <a:ext cx="10515600" cy="576696"/>
          </a:xfrm>
          <a:prstGeom prst="rect">
            <a:avLst/>
          </a:prstGeom>
        </p:spPr>
        <p:txBody>
          <a:bodyPr vert="horz" wrap="square" lIns="0" tIns="113919" rIns="0" bIns="0" rtlCol="0">
            <a:spAutoFit/>
          </a:bodyPr>
          <a:lstStyle/>
          <a:p>
            <a:pPr marL="486409" algn="ctr">
              <a:lnSpc>
                <a:spcPct val="100000"/>
              </a:lnSpc>
              <a:spcBef>
                <a:spcPts val="130"/>
              </a:spcBef>
            </a:pPr>
            <a:r>
              <a:rPr lang="en-IN" sz="3000" b="1" spc="-25" dirty="0">
                <a:latin typeface="Times New Roman" panose="02020603050405020304" pitchFamily="18" charset="0"/>
                <a:cs typeface="Times New Roman" panose="02020603050405020304" pitchFamily="18" charset="0"/>
              </a:rPr>
              <a:t>Abstract</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7C3D067F-DF0A-3BD2-0B9E-C22E39B7F8C0}"/>
              </a:ext>
            </a:extLst>
          </p:cNvPr>
          <p:cNvSpPr>
            <a:spLocks noGrp="1"/>
          </p:cNvSpPr>
          <p:nvPr>
            <p:ph type="dt" sz="half" idx="10"/>
          </p:nvPr>
        </p:nvSpPr>
        <p:spPr/>
        <p:txBody>
          <a:bodyPr/>
          <a:lstStyle/>
          <a:p>
            <a:fld id="{22261D5D-2F82-4210-B67C-C3AADE7FED47}" type="datetime1">
              <a:rPr lang="en-IN" smtClean="0"/>
              <a:t>27-07-2026</a:t>
            </a:fld>
            <a:endParaRPr lang="en-IN"/>
          </a:p>
        </p:txBody>
      </p:sp>
      <p:sp>
        <p:nvSpPr>
          <p:cNvPr id="5" name="Footer Placeholder 4">
            <a:extLst>
              <a:ext uri="{FF2B5EF4-FFF2-40B4-BE49-F238E27FC236}">
                <a16:creationId xmlns:a16="http://schemas.microsoft.com/office/drawing/2014/main" id="{E1EFD8C3-C2D0-4BBB-7FD8-43FE2C084A64}"/>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8BB9991A-41D4-F0AB-EF39-ACE70C817D43}"/>
              </a:ext>
            </a:extLst>
          </p:cNvPr>
          <p:cNvSpPr>
            <a:spLocks noGrp="1"/>
          </p:cNvSpPr>
          <p:nvPr>
            <p:ph type="sldNum" sz="quarter" idx="12"/>
          </p:nvPr>
        </p:nvSpPr>
        <p:spPr/>
        <p:txBody>
          <a:bodyPr/>
          <a:lstStyle/>
          <a:p>
            <a:fld id="{65201FD4-9D8D-4491-815B-63C7BF4F0034}" type="slidenum">
              <a:rPr lang="en-IN" smtClean="0"/>
              <a:t>3</a:t>
            </a:fld>
            <a:endParaRPr lang="en-IN"/>
          </a:p>
        </p:txBody>
      </p:sp>
    </p:spTree>
    <p:extLst>
      <p:ext uri="{BB962C8B-B14F-4D97-AF65-F5344CB8AC3E}">
        <p14:creationId xmlns:p14="http://schemas.microsoft.com/office/powerpoint/2010/main" val="34530979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0AE58-8206-476A-BECC-A1ADC0EA154A}"/>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id="{435FB437-6170-6BA2-1A38-A902855A3E61}"/>
              </a:ext>
            </a:extLst>
          </p:cNvPr>
          <p:cNvSpPr txBox="1">
            <a:spLocks noGrp="1"/>
          </p:cNvSpPr>
          <p:nvPr>
            <p:ph type="title"/>
          </p:nvPr>
        </p:nvSpPr>
        <p:spPr>
          <a:xfrm>
            <a:off x="1071716" y="0"/>
            <a:ext cx="9036532" cy="1807803"/>
          </a:xfrm>
          <a:prstGeom prst="rect">
            <a:avLst/>
          </a:prstGeom>
        </p:spPr>
        <p:txBody>
          <a:bodyPr vert="horz" wrap="square" lIns="0" tIns="113919" rIns="0" bIns="0" rtlCol="0">
            <a:spAutoFit/>
          </a:bodyPr>
          <a:lstStyle/>
          <a:p>
            <a:pPr marL="486409" algn="ctr">
              <a:lnSpc>
                <a:spcPct val="100000"/>
              </a:lnSpc>
              <a:spcBef>
                <a:spcPts val="130"/>
              </a:spcBef>
            </a:pPr>
            <a:r>
              <a:rPr lang="en-IN" sz="3000" b="1" spc="-25" dirty="0">
                <a:latin typeface="Times New Roman" panose="02020603050405020304" pitchFamily="18" charset="0"/>
                <a:cs typeface="Times New Roman" panose="02020603050405020304" pitchFamily="18" charset="0"/>
              </a:rPr>
              <a:t>Literature Review</a:t>
            </a:r>
            <a:br>
              <a:rPr lang="en-IN" sz="3000" b="1" spc="-25" dirty="0">
                <a:latin typeface="Times New Roman" panose="02020603050405020304" pitchFamily="18" charset="0"/>
                <a:cs typeface="Times New Roman" panose="02020603050405020304" pitchFamily="18" charset="0"/>
              </a:rPr>
            </a:br>
            <a:br>
              <a:rPr lang="en-IN" sz="3000" b="1" spc="-25" dirty="0">
                <a:latin typeface="Times New Roman" panose="02020603050405020304" pitchFamily="18" charset="0"/>
                <a:cs typeface="Times New Roman" panose="02020603050405020304" pitchFamily="18" charset="0"/>
              </a:rPr>
            </a:br>
            <a:r>
              <a:rPr lang="en-IN" sz="2000" b="1" dirty="0"/>
              <a:t>Detection and classification studies</a:t>
            </a:r>
            <a:br>
              <a:rPr lang="en-IN" b="1" dirty="0"/>
            </a:br>
            <a:endParaRPr sz="3000" b="1" dirty="0">
              <a:latin typeface="Times New Roman" panose="02020603050405020304" pitchFamily="18" charset="0"/>
              <a:cs typeface="Times New Roman" panose="02020603050405020304" pitchFamily="18" charset="0"/>
            </a:endParaRPr>
          </a:p>
        </p:txBody>
      </p:sp>
      <p:sp>
        <p:nvSpPr>
          <p:cNvPr id="8" name="Date Placeholder 7">
            <a:extLst>
              <a:ext uri="{FF2B5EF4-FFF2-40B4-BE49-F238E27FC236}">
                <a16:creationId xmlns:a16="http://schemas.microsoft.com/office/drawing/2014/main" id="{913BC6E0-D294-E70D-8B27-13FBFEE5E6F7}"/>
              </a:ext>
            </a:extLst>
          </p:cNvPr>
          <p:cNvSpPr>
            <a:spLocks noGrp="1"/>
          </p:cNvSpPr>
          <p:nvPr>
            <p:ph type="dt" sz="half" idx="10"/>
          </p:nvPr>
        </p:nvSpPr>
        <p:spPr/>
        <p:txBody>
          <a:bodyPr/>
          <a:lstStyle/>
          <a:p>
            <a:fld id="{E919193B-09C0-4C85-858C-650926A9B146}" type="datetime1">
              <a:rPr lang="en-IN" smtClean="0"/>
              <a:t>27-07-2026</a:t>
            </a:fld>
            <a:endParaRPr lang="en-IN"/>
          </a:p>
        </p:txBody>
      </p:sp>
      <p:sp>
        <p:nvSpPr>
          <p:cNvPr id="9" name="Footer Placeholder 8">
            <a:extLst>
              <a:ext uri="{FF2B5EF4-FFF2-40B4-BE49-F238E27FC236}">
                <a16:creationId xmlns:a16="http://schemas.microsoft.com/office/drawing/2014/main" id="{1F284BA2-3334-3EC1-0E81-4C909589729F}"/>
              </a:ext>
            </a:extLst>
          </p:cNvPr>
          <p:cNvSpPr>
            <a:spLocks noGrp="1"/>
          </p:cNvSpPr>
          <p:nvPr>
            <p:ph type="ftr" sz="quarter" idx="11"/>
          </p:nvPr>
        </p:nvSpPr>
        <p:spPr/>
        <p:txBody>
          <a:bodyPr/>
          <a:lstStyle/>
          <a:p>
            <a:r>
              <a:rPr lang="en-IN"/>
              <a:t>SCOPE</a:t>
            </a:r>
          </a:p>
        </p:txBody>
      </p:sp>
      <p:sp>
        <p:nvSpPr>
          <p:cNvPr id="10" name="Slide Number Placeholder 9">
            <a:extLst>
              <a:ext uri="{FF2B5EF4-FFF2-40B4-BE49-F238E27FC236}">
                <a16:creationId xmlns:a16="http://schemas.microsoft.com/office/drawing/2014/main" id="{5A8F14EB-D02F-8EDE-87F4-A3F7E8D20C44}"/>
              </a:ext>
            </a:extLst>
          </p:cNvPr>
          <p:cNvSpPr>
            <a:spLocks noGrp="1"/>
          </p:cNvSpPr>
          <p:nvPr>
            <p:ph type="sldNum" sz="quarter" idx="12"/>
          </p:nvPr>
        </p:nvSpPr>
        <p:spPr/>
        <p:txBody>
          <a:bodyPr/>
          <a:lstStyle/>
          <a:p>
            <a:fld id="{65201FD4-9D8D-4491-815B-63C7BF4F0034}" type="slidenum">
              <a:rPr lang="en-IN" smtClean="0"/>
              <a:t>4</a:t>
            </a:fld>
            <a:endParaRPr lang="en-IN"/>
          </a:p>
        </p:txBody>
      </p:sp>
      <p:graphicFrame>
        <p:nvGraphicFramePr>
          <p:cNvPr id="11" name="Table 10"/>
          <p:cNvGraphicFramePr>
            <a:graphicFrameLocks noGrp="1"/>
          </p:cNvGraphicFramePr>
          <p:nvPr>
            <p:extLst>
              <p:ext uri="{D42A27DB-BD31-4B8C-83A1-F6EECF244321}">
                <p14:modId xmlns:p14="http://schemas.microsoft.com/office/powerpoint/2010/main" val="1956412455"/>
              </p:ext>
            </p:extLst>
          </p:nvPr>
        </p:nvGraphicFramePr>
        <p:xfrm>
          <a:off x="939062" y="1807803"/>
          <a:ext cx="10313875" cy="3508160"/>
        </p:xfrm>
        <a:graphic>
          <a:graphicData uri="http://schemas.openxmlformats.org/drawingml/2006/table">
            <a:tbl>
              <a:tblPr firstRow="1" bandRow="1">
                <a:tableStyleId>{5C22544A-7EE6-4342-B048-85BDC9FD1C3A}</a:tableStyleId>
              </a:tblPr>
              <a:tblGrid>
                <a:gridCol w="2887885">
                  <a:extLst>
                    <a:ext uri="{9D8B030D-6E8A-4147-A177-3AD203B41FA5}">
                      <a16:colId xmlns:a16="http://schemas.microsoft.com/office/drawing/2014/main" val="20000"/>
                    </a:ext>
                  </a:extLst>
                </a:gridCol>
                <a:gridCol w="2269052">
                  <a:extLst>
                    <a:ext uri="{9D8B030D-6E8A-4147-A177-3AD203B41FA5}">
                      <a16:colId xmlns:a16="http://schemas.microsoft.com/office/drawing/2014/main" val="20001"/>
                    </a:ext>
                  </a:extLst>
                </a:gridCol>
                <a:gridCol w="2578469">
                  <a:extLst>
                    <a:ext uri="{9D8B030D-6E8A-4147-A177-3AD203B41FA5}">
                      <a16:colId xmlns:a16="http://schemas.microsoft.com/office/drawing/2014/main" val="20002"/>
                    </a:ext>
                  </a:extLst>
                </a:gridCol>
                <a:gridCol w="2578469">
                  <a:extLst>
                    <a:ext uri="{9D8B030D-6E8A-4147-A177-3AD203B41FA5}">
                      <a16:colId xmlns:a16="http://schemas.microsoft.com/office/drawing/2014/main" val="20003"/>
                    </a:ext>
                  </a:extLst>
                </a:gridCol>
              </a:tblGrid>
              <a:tr h="166516">
                <a:tc>
                  <a:txBody>
                    <a:bodyPr/>
                    <a:lstStyle/>
                    <a:p>
                      <a:pPr algn="ctr"/>
                      <a:r>
                        <a:rPr sz="1100" b="1" dirty="0">
                          <a:solidFill>
                            <a:srgbClr val="FFFFFF"/>
                          </a:solidFill>
                          <a:latin typeface="Times New Roman"/>
                        </a:rPr>
                        <a:t>Paper</a:t>
                      </a:r>
                    </a:p>
                  </a:txBody>
                  <a:tcPr marL="35000" marR="35000" marT="15000" marB="15000">
                    <a:solidFill>
                      <a:srgbClr val="4A7AB8"/>
                    </a:solidFill>
                  </a:tcPr>
                </a:tc>
                <a:tc>
                  <a:txBody>
                    <a:bodyPr/>
                    <a:lstStyle/>
                    <a:p>
                      <a:pPr algn="ctr"/>
                      <a:r>
                        <a:rPr sz="1100" b="1">
                          <a:solidFill>
                            <a:srgbClr val="FFFFFF"/>
                          </a:solidFill>
                          <a:latin typeface="Times New Roman"/>
                        </a:rPr>
                        <a:t>Objective</a:t>
                      </a:r>
                    </a:p>
                  </a:txBody>
                  <a:tcPr marL="35000" marR="35000" marT="15000" marB="15000">
                    <a:solidFill>
                      <a:srgbClr val="4A7AB8"/>
                    </a:solidFill>
                  </a:tcPr>
                </a:tc>
                <a:tc>
                  <a:txBody>
                    <a:bodyPr/>
                    <a:lstStyle/>
                    <a:p>
                      <a:pPr algn="ctr"/>
                      <a:r>
                        <a:rPr sz="1100" b="1">
                          <a:solidFill>
                            <a:srgbClr val="FFFFFF"/>
                          </a:solidFill>
                          <a:latin typeface="Times New Roman"/>
                        </a:rPr>
                        <a:t>Methodology</a:t>
                      </a:r>
                    </a:p>
                  </a:txBody>
                  <a:tcPr marL="35000" marR="35000" marT="15000" marB="15000">
                    <a:solidFill>
                      <a:srgbClr val="4A7AB8"/>
                    </a:solidFill>
                  </a:tcPr>
                </a:tc>
                <a:tc>
                  <a:txBody>
                    <a:bodyPr/>
                    <a:lstStyle/>
                    <a:p>
                      <a:pPr algn="ctr"/>
                      <a:r>
                        <a:rPr sz="1100" b="1">
                          <a:solidFill>
                            <a:srgbClr val="FFFFFF"/>
                          </a:solidFill>
                          <a:latin typeface="Times New Roman"/>
                        </a:rPr>
                        <a:t>Findings (what was actually learned)</a:t>
                      </a:r>
                    </a:p>
                  </a:txBody>
                  <a:tcPr marL="35000" marR="35000" marT="15000" marB="15000">
                    <a:solidFill>
                      <a:srgbClr val="4A7AB8"/>
                    </a:solidFill>
                  </a:tcPr>
                </a:tc>
                <a:extLst>
                  <a:ext uri="{0D108BD9-81ED-4DB2-BD59-A6C34878D82A}">
                    <a16:rowId xmlns:a16="http://schemas.microsoft.com/office/drawing/2014/main" val="10000"/>
                  </a:ext>
                </a:extLst>
              </a:tr>
              <a:tr h="827630">
                <a:tc>
                  <a:txBody>
                    <a:bodyPr/>
                    <a:lstStyle/>
                    <a:p>
                      <a:pPr algn="ctr">
                        <a:spcAft>
                          <a:spcPts val="1200"/>
                        </a:spcAft>
                        <a:buNone/>
                      </a:pPr>
                      <a:r>
                        <a:rPr lang="en-IN" sz="1200" b="0" i="0" dirty="0">
                          <a:solidFill>
                            <a:schemeClr val="tx1"/>
                          </a:solidFill>
                          <a:effectLst/>
                          <a:latin typeface="Mona Sans VF"/>
                        </a:rPr>
                        <a:t>Zacharaki et al., 2009</a:t>
                      </a:r>
                    </a:p>
                  </a:txBody>
                  <a:tcPr marL="99060" marR="99060" anchor="ctr">
                    <a:solidFill>
                      <a:srgbClr val="EAEFF7"/>
                    </a:solidFill>
                  </a:tcPr>
                </a:tc>
                <a:tc>
                  <a:txBody>
                    <a:bodyPr/>
                    <a:lstStyle/>
                    <a:p>
                      <a:pPr algn="ctr">
                        <a:spcAft>
                          <a:spcPts val="1200"/>
                        </a:spcAft>
                        <a:buNone/>
                      </a:pPr>
                      <a:r>
                        <a:rPr lang="en-IN" sz="1200" b="0" i="0">
                          <a:solidFill>
                            <a:schemeClr val="tx1"/>
                          </a:solidFill>
                          <a:effectLst/>
                          <a:latin typeface="Mona Sans VF"/>
                        </a:rPr>
                        <a:t>Classify brain tumour type and grade from MRI</a:t>
                      </a:r>
                    </a:p>
                  </a:txBody>
                  <a:tcPr marL="99060" marR="99060" anchor="ctr">
                    <a:solidFill>
                      <a:srgbClr val="EAEFF7"/>
                    </a:solidFill>
                  </a:tcPr>
                </a:tc>
                <a:tc>
                  <a:txBody>
                    <a:bodyPr/>
                    <a:lstStyle/>
                    <a:p>
                      <a:pPr algn="ctr">
                        <a:spcAft>
                          <a:spcPts val="1200"/>
                        </a:spcAft>
                        <a:buNone/>
                      </a:pPr>
                      <a:r>
                        <a:rPr lang="en-IN" sz="1200" b="0" i="0">
                          <a:solidFill>
                            <a:schemeClr val="tx1"/>
                          </a:solidFill>
                          <a:effectLst/>
                          <a:latin typeface="Mona Sans VF"/>
                        </a:rPr>
                        <a:t>Texture and shape features with SVM</a:t>
                      </a:r>
                    </a:p>
                  </a:txBody>
                  <a:tcPr marL="99060" marR="99060" anchor="ctr">
                    <a:solidFill>
                      <a:srgbClr val="EAEFF7"/>
                    </a:solidFill>
                  </a:tcPr>
                </a:tc>
                <a:tc>
                  <a:txBody>
                    <a:bodyPr/>
                    <a:lstStyle/>
                    <a:p>
                      <a:pPr algn="ctr">
                        <a:spcAft>
                          <a:spcPts val="1200"/>
                        </a:spcAft>
                        <a:buNone/>
                      </a:pPr>
                      <a:r>
                        <a:rPr lang="en-IN" sz="1200" b="0" i="0" dirty="0">
                          <a:solidFill>
                            <a:schemeClr val="tx1"/>
                          </a:solidFill>
                          <a:effectLst/>
                          <a:latin typeface="Mona Sans VF"/>
                        </a:rPr>
                        <a:t>Early ML was feasible but depended heavily on handcrafted features and small datasets</a:t>
                      </a:r>
                    </a:p>
                  </a:txBody>
                  <a:tcPr marL="99060" marR="99060" anchor="ctr">
                    <a:solidFill>
                      <a:srgbClr val="EAEFF7"/>
                    </a:solidFill>
                  </a:tcPr>
                </a:tc>
                <a:extLst>
                  <a:ext uri="{0D108BD9-81ED-4DB2-BD59-A6C34878D82A}">
                    <a16:rowId xmlns:a16="http://schemas.microsoft.com/office/drawing/2014/main" val="10001"/>
                  </a:ext>
                </a:extLst>
              </a:tr>
              <a:tr h="827630">
                <a:tc>
                  <a:txBody>
                    <a:bodyPr/>
                    <a:lstStyle/>
                    <a:p>
                      <a:pPr algn="ctr">
                        <a:spcAft>
                          <a:spcPts val="1200"/>
                        </a:spcAft>
                        <a:buNone/>
                      </a:pPr>
                      <a:r>
                        <a:rPr lang="en-IN" sz="1200" b="0" i="0" dirty="0">
                          <a:solidFill>
                            <a:schemeClr val="tx1"/>
                          </a:solidFill>
                          <a:effectLst/>
                          <a:latin typeface="Mona Sans VF"/>
                        </a:rPr>
                        <a:t>Cheng et al., 2015</a:t>
                      </a:r>
                    </a:p>
                  </a:txBody>
                  <a:tcPr marL="99060" marR="99060" anchor="ctr">
                    <a:solidFill>
                      <a:srgbClr val="FFFFFF"/>
                    </a:solidFill>
                  </a:tcPr>
                </a:tc>
                <a:tc>
                  <a:txBody>
                    <a:bodyPr/>
                    <a:lstStyle/>
                    <a:p>
                      <a:pPr algn="ctr">
                        <a:spcAft>
                          <a:spcPts val="1200"/>
                        </a:spcAft>
                        <a:buNone/>
                      </a:pPr>
                      <a:r>
                        <a:rPr lang="en-IN" sz="1200" b="0" i="0" dirty="0">
                          <a:solidFill>
                            <a:schemeClr val="tx1"/>
                          </a:solidFill>
                          <a:effectLst/>
                          <a:latin typeface="Mona Sans VF"/>
                        </a:rPr>
                        <a:t>Improve tumour classification performance</a:t>
                      </a:r>
                    </a:p>
                  </a:txBody>
                  <a:tcPr marL="99060" marR="99060" anchor="ctr">
                    <a:solidFill>
                      <a:srgbClr val="FFFFFF"/>
                    </a:solidFill>
                  </a:tcPr>
                </a:tc>
                <a:tc>
                  <a:txBody>
                    <a:bodyPr/>
                    <a:lstStyle/>
                    <a:p>
                      <a:pPr algn="ctr">
                        <a:spcAft>
                          <a:spcPts val="1200"/>
                        </a:spcAft>
                        <a:buNone/>
                      </a:pPr>
                      <a:r>
                        <a:rPr lang="en-IN" sz="1200" b="0" i="0" dirty="0">
                          <a:solidFill>
                            <a:schemeClr val="tx1"/>
                          </a:solidFill>
                          <a:effectLst/>
                          <a:latin typeface="Mona Sans VF"/>
                        </a:rPr>
                        <a:t>Tumour region augmentation and partitioning</a:t>
                      </a:r>
                    </a:p>
                  </a:txBody>
                  <a:tcPr marL="99060" marR="99060" anchor="ctr">
                    <a:solidFill>
                      <a:srgbClr val="FFFFFF"/>
                    </a:solidFill>
                  </a:tcPr>
                </a:tc>
                <a:tc>
                  <a:txBody>
                    <a:bodyPr/>
                    <a:lstStyle/>
                    <a:p>
                      <a:pPr algn="ctr">
                        <a:spcAft>
                          <a:spcPts val="1200"/>
                        </a:spcAft>
                        <a:buNone/>
                      </a:pPr>
                      <a:r>
                        <a:rPr lang="en-IN" sz="1200" b="0" i="0" dirty="0">
                          <a:solidFill>
                            <a:schemeClr val="tx1"/>
                          </a:solidFill>
                          <a:effectLst/>
                          <a:latin typeface="Mona Sans VF"/>
                        </a:rPr>
                        <a:t>Region focused preprocessing improved classification, but feature engineering remained a limitation</a:t>
                      </a:r>
                    </a:p>
                  </a:txBody>
                  <a:tcPr marL="99060" marR="99060" anchor="ctr">
                    <a:solidFill>
                      <a:srgbClr val="FFFFFF"/>
                    </a:solidFill>
                  </a:tcPr>
                </a:tc>
                <a:extLst>
                  <a:ext uri="{0D108BD9-81ED-4DB2-BD59-A6C34878D82A}">
                    <a16:rowId xmlns:a16="http://schemas.microsoft.com/office/drawing/2014/main" val="10002"/>
                  </a:ext>
                </a:extLst>
              </a:tr>
              <a:tr h="827630">
                <a:tc>
                  <a:txBody>
                    <a:bodyPr/>
                    <a:lstStyle/>
                    <a:p>
                      <a:pPr algn="ctr">
                        <a:spcAft>
                          <a:spcPts val="1200"/>
                        </a:spcAft>
                        <a:buNone/>
                      </a:pPr>
                      <a:r>
                        <a:rPr lang="en-IN" sz="1200" b="0" i="0" dirty="0">
                          <a:solidFill>
                            <a:schemeClr val="tx1"/>
                          </a:solidFill>
                          <a:effectLst/>
                          <a:latin typeface="Mona Sans VF"/>
                        </a:rPr>
                        <a:t>Szegedy et al., 2016</a:t>
                      </a:r>
                    </a:p>
                  </a:txBody>
                  <a:tcPr marL="99060" marR="99060" anchor="ctr">
                    <a:solidFill>
                      <a:srgbClr val="EAEFF7"/>
                    </a:solidFill>
                  </a:tcPr>
                </a:tc>
                <a:tc>
                  <a:txBody>
                    <a:bodyPr/>
                    <a:lstStyle/>
                    <a:p>
                      <a:pPr algn="ctr">
                        <a:spcAft>
                          <a:spcPts val="1200"/>
                        </a:spcAft>
                        <a:buNone/>
                      </a:pPr>
                      <a:r>
                        <a:rPr lang="en-IN" sz="1200" b="0" i="0">
                          <a:solidFill>
                            <a:schemeClr val="tx1"/>
                          </a:solidFill>
                          <a:effectLst/>
                          <a:latin typeface="Mona Sans VF"/>
                        </a:rPr>
                        <a:t>Improve image classification using multi scale CNNs</a:t>
                      </a:r>
                    </a:p>
                  </a:txBody>
                  <a:tcPr marL="99060" marR="99060" anchor="ctr">
                    <a:solidFill>
                      <a:srgbClr val="EAEFF7"/>
                    </a:solidFill>
                  </a:tcPr>
                </a:tc>
                <a:tc>
                  <a:txBody>
                    <a:bodyPr/>
                    <a:lstStyle/>
                    <a:p>
                      <a:pPr algn="ctr">
                        <a:spcAft>
                          <a:spcPts val="1200"/>
                        </a:spcAft>
                        <a:buNone/>
                      </a:pPr>
                      <a:r>
                        <a:rPr lang="en-IN" sz="1200" b="0" i="0">
                          <a:solidFill>
                            <a:schemeClr val="tx1"/>
                          </a:solidFill>
                          <a:effectLst/>
                          <a:latin typeface="Mona Sans VF"/>
                        </a:rPr>
                        <a:t>Inception modules with parallel convolution paths</a:t>
                      </a:r>
                    </a:p>
                  </a:txBody>
                  <a:tcPr marL="99060" marR="99060" anchor="ctr">
                    <a:solidFill>
                      <a:srgbClr val="EAEFF7"/>
                    </a:solidFill>
                  </a:tcPr>
                </a:tc>
                <a:tc>
                  <a:txBody>
                    <a:bodyPr/>
                    <a:lstStyle/>
                    <a:p>
                      <a:pPr algn="ctr">
                        <a:spcAft>
                          <a:spcPts val="1200"/>
                        </a:spcAft>
                        <a:buNone/>
                      </a:pPr>
                      <a:r>
                        <a:rPr lang="en-IN" sz="1200" b="0" i="0" dirty="0">
                          <a:solidFill>
                            <a:schemeClr val="tx1"/>
                          </a:solidFill>
                          <a:effectLst/>
                          <a:latin typeface="Mona Sans VF"/>
                        </a:rPr>
                        <a:t>Multi scale feature extraction is useful for varied tumour size and appearance</a:t>
                      </a:r>
                    </a:p>
                  </a:txBody>
                  <a:tcPr marL="99060" marR="99060" anchor="ctr">
                    <a:solidFill>
                      <a:srgbClr val="EAEFF7"/>
                    </a:solidFill>
                  </a:tcPr>
                </a:tc>
                <a:extLst>
                  <a:ext uri="{0D108BD9-81ED-4DB2-BD59-A6C34878D82A}">
                    <a16:rowId xmlns:a16="http://schemas.microsoft.com/office/drawing/2014/main" val="10003"/>
                  </a:ext>
                </a:extLst>
              </a:tr>
              <a:tr h="827630">
                <a:tc>
                  <a:txBody>
                    <a:bodyPr/>
                    <a:lstStyle/>
                    <a:p>
                      <a:pPr algn="ctr">
                        <a:spcAft>
                          <a:spcPts val="1200"/>
                        </a:spcAft>
                        <a:buNone/>
                      </a:pPr>
                      <a:r>
                        <a:rPr lang="en-IN" sz="1200" b="0" i="0" dirty="0">
                          <a:solidFill>
                            <a:schemeClr val="tx1"/>
                          </a:solidFill>
                          <a:effectLst/>
                          <a:latin typeface="Mona Sans VF"/>
                        </a:rPr>
                        <a:t>Tan and Le, 2019</a:t>
                      </a:r>
                    </a:p>
                  </a:txBody>
                  <a:tcPr marL="99060" marR="99060" anchor="ctr">
                    <a:solidFill>
                      <a:srgbClr val="FFFFFF"/>
                    </a:solidFill>
                  </a:tcPr>
                </a:tc>
                <a:tc>
                  <a:txBody>
                    <a:bodyPr/>
                    <a:lstStyle/>
                    <a:p>
                      <a:pPr algn="ctr">
                        <a:spcAft>
                          <a:spcPts val="1200"/>
                        </a:spcAft>
                        <a:buNone/>
                      </a:pPr>
                      <a:r>
                        <a:rPr lang="en-IN" sz="1200" b="0" i="0" dirty="0">
                          <a:solidFill>
                            <a:schemeClr val="tx1"/>
                          </a:solidFill>
                          <a:effectLst/>
                          <a:latin typeface="Mona Sans VF"/>
                        </a:rPr>
                        <a:t>Build accurate and efficient CNNs</a:t>
                      </a:r>
                    </a:p>
                  </a:txBody>
                  <a:tcPr marL="99060" marR="99060" anchor="ctr">
                    <a:solidFill>
                      <a:srgbClr val="FFFFFF"/>
                    </a:solidFill>
                  </a:tcPr>
                </a:tc>
                <a:tc>
                  <a:txBody>
                    <a:bodyPr/>
                    <a:lstStyle/>
                    <a:p>
                      <a:pPr algn="ctr">
                        <a:spcAft>
                          <a:spcPts val="1200"/>
                        </a:spcAft>
                        <a:buNone/>
                      </a:pPr>
                      <a:r>
                        <a:rPr lang="en-IN" sz="1200" b="0" i="0" dirty="0" err="1">
                          <a:solidFill>
                            <a:schemeClr val="tx1"/>
                          </a:solidFill>
                          <a:effectLst/>
                          <a:latin typeface="Mona Sans VF"/>
                        </a:rPr>
                        <a:t>EfficientNet</a:t>
                      </a:r>
                      <a:r>
                        <a:rPr lang="en-IN" sz="1200" b="0" i="0" dirty="0">
                          <a:solidFill>
                            <a:schemeClr val="tx1"/>
                          </a:solidFill>
                          <a:effectLst/>
                          <a:latin typeface="Mona Sans VF"/>
                        </a:rPr>
                        <a:t> compound scaling of depth, width, and resolution</a:t>
                      </a:r>
                    </a:p>
                  </a:txBody>
                  <a:tcPr marL="99060" marR="99060" anchor="ctr">
                    <a:solidFill>
                      <a:srgbClr val="FFFFFF"/>
                    </a:solidFill>
                  </a:tcPr>
                </a:tc>
                <a:tc>
                  <a:txBody>
                    <a:bodyPr/>
                    <a:lstStyle/>
                    <a:p>
                      <a:pPr algn="ctr">
                        <a:spcAft>
                          <a:spcPts val="1200"/>
                        </a:spcAft>
                        <a:buNone/>
                      </a:pPr>
                      <a:r>
                        <a:rPr lang="en-IN" sz="1200" b="0" i="0" dirty="0">
                          <a:solidFill>
                            <a:schemeClr val="tx1"/>
                          </a:solidFill>
                          <a:effectLst/>
                          <a:latin typeface="Mona Sans VF"/>
                        </a:rPr>
                        <a:t>High accuracy can be achieved with fewer parameters, supporting resource constrained deployment</a:t>
                      </a:r>
                    </a:p>
                  </a:txBody>
                  <a:tcPr marL="99060" marR="99060" anchor="ctr">
                    <a:solidFill>
                      <a:srgbClr val="FFFFFF"/>
                    </a:solidFill>
                  </a:tcPr>
                </a:tc>
                <a:extLst>
                  <a:ext uri="{0D108BD9-81ED-4DB2-BD59-A6C34878D82A}">
                    <a16:rowId xmlns:a16="http://schemas.microsoft.com/office/drawing/2014/main" val="10004"/>
                  </a:ext>
                </a:extLst>
              </a:tr>
            </a:tbl>
          </a:graphicData>
        </a:graphic>
      </p:graphicFrame>
      <p:graphicFrame>
        <p:nvGraphicFramePr>
          <p:cNvPr id="2" name="Table 1">
            <a:extLst>
              <a:ext uri="{FF2B5EF4-FFF2-40B4-BE49-F238E27FC236}">
                <a16:creationId xmlns:a16="http://schemas.microsoft.com/office/drawing/2014/main" id="{5BE5A358-4372-A2D9-C1C6-8B12F764D955}"/>
              </a:ext>
            </a:extLst>
          </p:cNvPr>
          <p:cNvGraphicFramePr>
            <a:graphicFrameLocks noGrp="1"/>
          </p:cNvGraphicFramePr>
          <p:nvPr>
            <p:extLst>
              <p:ext uri="{D42A27DB-BD31-4B8C-83A1-F6EECF244321}">
                <p14:modId xmlns:p14="http://schemas.microsoft.com/office/powerpoint/2010/main" val="1445630260"/>
              </p:ext>
            </p:extLst>
          </p:nvPr>
        </p:nvGraphicFramePr>
        <p:xfrm>
          <a:off x="939061" y="5495900"/>
          <a:ext cx="10313876" cy="777081"/>
        </p:xfrm>
        <a:graphic>
          <a:graphicData uri="http://schemas.openxmlformats.org/drawingml/2006/table">
            <a:tbl>
              <a:tblPr firstRow="1" bandRow="1">
                <a:tableStyleId>{5C22544A-7EE6-4342-B048-85BDC9FD1C3A}</a:tableStyleId>
              </a:tblPr>
              <a:tblGrid>
                <a:gridCol w="2887885">
                  <a:extLst>
                    <a:ext uri="{9D8B030D-6E8A-4147-A177-3AD203B41FA5}">
                      <a16:colId xmlns:a16="http://schemas.microsoft.com/office/drawing/2014/main" val="609618199"/>
                    </a:ext>
                  </a:extLst>
                </a:gridCol>
                <a:gridCol w="2269053">
                  <a:extLst>
                    <a:ext uri="{9D8B030D-6E8A-4147-A177-3AD203B41FA5}">
                      <a16:colId xmlns:a16="http://schemas.microsoft.com/office/drawing/2014/main" val="4213228244"/>
                    </a:ext>
                  </a:extLst>
                </a:gridCol>
                <a:gridCol w="2578469">
                  <a:extLst>
                    <a:ext uri="{9D8B030D-6E8A-4147-A177-3AD203B41FA5}">
                      <a16:colId xmlns:a16="http://schemas.microsoft.com/office/drawing/2014/main" val="3711137620"/>
                    </a:ext>
                  </a:extLst>
                </a:gridCol>
                <a:gridCol w="2578469">
                  <a:extLst>
                    <a:ext uri="{9D8B030D-6E8A-4147-A177-3AD203B41FA5}">
                      <a16:colId xmlns:a16="http://schemas.microsoft.com/office/drawing/2014/main" val="2030249265"/>
                    </a:ext>
                  </a:extLst>
                </a:gridCol>
              </a:tblGrid>
              <a:tr h="777081">
                <a:tc>
                  <a:txBody>
                    <a:bodyPr/>
                    <a:lstStyle/>
                    <a:p>
                      <a:pPr algn="ctr">
                        <a:spcAft>
                          <a:spcPts val="1200"/>
                        </a:spcAft>
                        <a:buNone/>
                      </a:pPr>
                      <a:r>
                        <a:rPr lang="en-IN" sz="1200" b="0" i="0" dirty="0" err="1">
                          <a:solidFill>
                            <a:schemeClr val="tx1"/>
                          </a:solidFill>
                          <a:effectLst/>
                          <a:latin typeface="Mona Sans VF"/>
                        </a:rPr>
                        <a:t>Dosovitskiy</a:t>
                      </a:r>
                      <a:r>
                        <a:rPr lang="en-IN" sz="1200" b="0" i="0" dirty="0">
                          <a:solidFill>
                            <a:schemeClr val="tx1"/>
                          </a:solidFill>
                          <a:effectLst/>
                          <a:latin typeface="Mona Sans VF"/>
                        </a:rPr>
                        <a:t> et al., 2021 and Liu et al., 2021</a:t>
                      </a:r>
                    </a:p>
                  </a:txBody>
                  <a:tcPr marL="99060" marR="99060" anchor="ctr">
                    <a:solidFill>
                      <a:srgbClr val="EAEFF7"/>
                    </a:solidFill>
                  </a:tcPr>
                </a:tc>
                <a:tc>
                  <a:txBody>
                    <a:bodyPr/>
                    <a:lstStyle/>
                    <a:p>
                      <a:pPr algn="ctr">
                        <a:spcAft>
                          <a:spcPts val="1200"/>
                        </a:spcAft>
                        <a:buNone/>
                      </a:pPr>
                      <a:r>
                        <a:rPr lang="en-IN" sz="1200" b="0" i="0" dirty="0">
                          <a:solidFill>
                            <a:schemeClr val="tx1"/>
                          </a:solidFill>
                          <a:effectLst/>
                          <a:latin typeface="Mona Sans VF"/>
                        </a:rPr>
                        <a:t>Apply transformers to vision tasks</a:t>
                      </a:r>
                    </a:p>
                  </a:txBody>
                  <a:tcPr marL="99060" marR="99060" anchor="ctr">
                    <a:solidFill>
                      <a:srgbClr val="EAEFF7"/>
                    </a:solidFill>
                  </a:tcPr>
                </a:tc>
                <a:tc>
                  <a:txBody>
                    <a:bodyPr/>
                    <a:lstStyle/>
                    <a:p>
                      <a:pPr algn="ctr">
                        <a:spcAft>
                          <a:spcPts val="1200"/>
                        </a:spcAft>
                        <a:buNone/>
                      </a:pPr>
                      <a:r>
                        <a:rPr lang="en-IN" sz="1200" b="0" i="0" dirty="0" err="1">
                          <a:solidFill>
                            <a:schemeClr val="tx1"/>
                          </a:solidFill>
                          <a:effectLst/>
                          <a:latin typeface="Mona Sans VF"/>
                        </a:rPr>
                        <a:t>ViT</a:t>
                      </a:r>
                      <a:r>
                        <a:rPr lang="en-IN" sz="1200" b="0" i="0" dirty="0">
                          <a:solidFill>
                            <a:schemeClr val="tx1"/>
                          </a:solidFill>
                          <a:effectLst/>
                          <a:latin typeface="Mona Sans VF"/>
                        </a:rPr>
                        <a:t> patch attention and Swin shifted window attention</a:t>
                      </a:r>
                    </a:p>
                  </a:txBody>
                  <a:tcPr marL="99060" marR="99060" anchor="ctr">
                    <a:solidFill>
                      <a:srgbClr val="EAEFF7"/>
                    </a:solidFill>
                  </a:tcPr>
                </a:tc>
                <a:tc>
                  <a:txBody>
                    <a:bodyPr/>
                    <a:lstStyle/>
                    <a:p>
                      <a:pPr algn="ctr">
                        <a:spcAft>
                          <a:spcPts val="1200"/>
                        </a:spcAft>
                        <a:buNone/>
                      </a:pPr>
                      <a:r>
                        <a:rPr lang="en-IN" sz="1200" b="0" i="0" dirty="0">
                          <a:solidFill>
                            <a:schemeClr val="tx1"/>
                          </a:solidFill>
                          <a:effectLst/>
                          <a:latin typeface="Mona Sans VF"/>
                        </a:rPr>
                        <a:t>Transformers capture global context but need larger data and careful optimisation</a:t>
                      </a:r>
                    </a:p>
                  </a:txBody>
                  <a:tcPr marL="99060" marR="99060" anchor="ctr">
                    <a:solidFill>
                      <a:srgbClr val="EAEFF7"/>
                    </a:solidFill>
                  </a:tcPr>
                </a:tc>
                <a:extLst>
                  <a:ext uri="{0D108BD9-81ED-4DB2-BD59-A6C34878D82A}">
                    <a16:rowId xmlns:a16="http://schemas.microsoft.com/office/drawing/2014/main" val="1988401213"/>
                  </a:ext>
                </a:extLst>
              </a:tr>
            </a:tbl>
          </a:graphicData>
        </a:graphic>
      </p:graphicFrame>
    </p:spTree>
    <p:extLst>
      <p:ext uri="{BB962C8B-B14F-4D97-AF65-F5344CB8AC3E}">
        <p14:creationId xmlns:p14="http://schemas.microsoft.com/office/powerpoint/2010/main" val="8574497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0AE58-8206-476A-BECC-A1ADC0EA154A}"/>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id="{435FB437-6170-6BA2-1A38-A902855A3E61}"/>
              </a:ext>
            </a:extLst>
          </p:cNvPr>
          <p:cNvSpPr txBox="1">
            <a:spLocks noGrp="1"/>
          </p:cNvSpPr>
          <p:nvPr>
            <p:ph type="title"/>
          </p:nvPr>
        </p:nvSpPr>
        <p:spPr>
          <a:xfrm>
            <a:off x="516881" y="0"/>
            <a:ext cx="10515600" cy="1807803"/>
          </a:xfrm>
          <a:prstGeom prst="rect">
            <a:avLst/>
          </a:prstGeom>
        </p:spPr>
        <p:txBody>
          <a:bodyPr vert="horz" wrap="square" lIns="0" tIns="113919" rIns="0" bIns="0" rtlCol="0">
            <a:spAutoFit/>
          </a:bodyPr>
          <a:lstStyle/>
          <a:p>
            <a:pPr marL="486409" algn="ctr">
              <a:lnSpc>
                <a:spcPct val="100000"/>
              </a:lnSpc>
              <a:spcBef>
                <a:spcPts val="130"/>
              </a:spcBef>
            </a:pPr>
            <a:r>
              <a:rPr lang="en-IN" sz="3000" b="1" spc="-25" dirty="0">
                <a:latin typeface="Times New Roman" panose="02020603050405020304" pitchFamily="18" charset="0"/>
                <a:cs typeface="Times New Roman" panose="02020603050405020304" pitchFamily="18" charset="0"/>
              </a:rPr>
              <a:t>Literature Review (contd.)</a:t>
            </a:r>
            <a:br>
              <a:rPr lang="en-IN" sz="3000" b="1" spc="-25" dirty="0">
                <a:latin typeface="Times New Roman" panose="02020603050405020304" pitchFamily="18" charset="0"/>
                <a:cs typeface="Times New Roman" panose="02020603050405020304" pitchFamily="18" charset="0"/>
              </a:rPr>
            </a:br>
            <a:br>
              <a:rPr lang="en-IN" sz="3000" b="1" spc="-25" dirty="0">
                <a:latin typeface="Times New Roman" panose="02020603050405020304" pitchFamily="18" charset="0"/>
                <a:cs typeface="Times New Roman" panose="02020603050405020304" pitchFamily="18" charset="0"/>
              </a:rPr>
            </a:br>
            <a:r>
              <a:rPr lang="en-IN" sz="2000" b="1" dirty="0"/>
              <a:t>Segmentation and clinical imaging studies</a:t>
            </a:r>
            <a:br>
              <a:rPr lang="en-IN" b="1" dirty="0"/>
            </a:br>
            <a:endParaRPr sz="3000" b="1" dirty="0">
              <a:latin typeface="Times New Roman" panose="02020603050405020304" pitchFamily="18" charset="0"/>
              <a:cs typeface="Times New Roman" panose="02020603050405020304" pitchFamily="18" charset="0"/>
            </a:endParaRPr>
          </a:p>
        </p:txBody>
      </p:sp>
      <p:sp>
        <p:nvSpPr>
          <p:cNvPr id="8" name="Date Placeholder 7">
            <a:extLst>
              <a:ext uri="{FF2B5EF4-FFF2-40B4-BE49-F238E27FC236}">
                <a16:creationId xmlns:a16="http://schemas.microsoft.com/office/drawing/2014/main" id="{913BC6E0-D294-E70D-8B27-13FBFEE5E6F7}"/>
              </a:ext>
            </a:extLst>
          </p:cNvPr>
          <p:cNvSpPr>
            <a:spLocks noGrp="1"/>
          </p:cNvSpPr>
          <p:nvPr>
            <p:ph type="dt" sz="half" idx="10"/>
          </p:nvPr>
        </p:nvSpPr>
        <p:spPr/>
        <p:txBody>
          <a:bodyPr/>
          <a:lstStyle/>
          <a:p>
            <a:fld id="{E919193B-09C0-4C85-858C-650926A9B146}" type="datetime1">
              <a:rPr lang="en-IN" smtClean="0"/>
              <a:t>27-07-2026</a:t>
            </a:fld>
            <a:endParaRPr lang="en-IN"/>
          </a:p>
        </p:txBody>
      </p:sp>
      <p:sp>
        <p:nvSpPr>
          <p:cNvPr id="9" name="Footer Placeholder 8">
            <a:extLst>
              <a:ext uri="{FF2B5EF4-FFF2-40B4-BE49-F238E27FC236}">
                <a16:creationId xmlns:a16="http://schemas.microsoft.com/office/drawing/2014/main" id="{1F284BA2-3334-3EC1-0E81-4C909589729F}"/>
              </a:ext>
            </a:extLst>
          </p:cNvPr>
          <p:cNvSpPr>
            <a:spLocks noGrp="1"/>
          </p:cNvSpPr>
          <p:nvPr>
            <p:ph type="ftr" sz="quarter" idx="11"/>
          </p:nvPr>
        </p:nvSpPr>
        <p:spPr/>
        <p:txBody>
          <a:bodyPr/>
          <a:lstStyle/>
          <a:p>
            <a:r>
              <a:rPr lang="en-IN"/>
              <a:t>SCOPE</a:t>
            </a:r>
          </a:p>
        </p:txBody>
      </p:sp>
      <p:sp>
        <p:nvSpPr>
          <p:cNvPr id="10" name="Slide Number Placeholder 9">
            <a:extLst>
              <a:ext uri="{FF2B5EF4-FFF2-40B4-BE49-F238E27FC236}">
                <a16:creationId xmlns:a16="http://schemas.microsoft.com/office/drawing/2014/main" id="{5A8F14EB-D02F-8EDE-87F4-A3F7E8D20C44}"/>
              </a:ext>
            </a:extLst>
          </p:cNvPr>
          <p:cNvSpPr>
            <a:spLocks noGrp="1"/>
          </p:cNvSpPr>
          <p:nvPr>
            <p:ph type="sldNum" sz="quarter" idx="12"/>
          </p:nvPr>
        </p:nvSpPr>
        <p:spPr/>
        <p:txBody>
          <a:bodyPr/>
          <a:lstStyle/>
          <a:p>
            <a:fld id="{65201FD4-9D8D-4491-815B-63C7BF4F0034}" type="slidenum">
              <a:rPr lang="en-IN" smtClean="0"/>
              <a:t>5</a:t>
            </a:fld>
            <a:endParaRPr lang="en-IN"/>
          </a:p>
        </p:txBody>
      </p:sp>
      <p:graphicFrame>
        <p:nvGraphicFramePr>
          <p:cNvPr id="11" name="Table 10"/>
          <p:cNvGraphicFramePr>
            <a:graphicFrameLocks noGrp="1"/>
          </p:cNvGraphicFramePr>
          <p:nvPr>
            <p:extLst>
              <p:ext uri="{D42A27DB-BD31-4B8C-83A1-F6EECF244321}">
                <p14:modId xmlns:p14="http://schemas.microsoft.com/office/powerpoint/2010/main" val="1482058068"/>
              </p:ext>
            </p:extLst>
          </p:nvPr>
        </p:nvGraphicFramePr>
        <p:xfrm>
          <a:off x="352144" y="2181313"/>
          <a:ext cx="11487711" cy="3399942"/>
        </p:xfrm>
        <a:graphic>
          <a:graphicData uri="http://schemas.openxmlformats.org/drawingml/2006/table">
            <a:tbl>
              <a:tblPr firstRow="1" bandRow="1">
                <a:tableStyleId>{5C22544A-7EE6-4342-B048-85BDC9FD1C3A}</a:tableStyleId>
              </a:tblPr>
              <a:tblGrid>
                <a:gridCol w="3216559">
                  <a:extLst>
                    <a:ext uri="{9D8B030D-6E8A-4147-A177-3AD203B41FA5}">
                      <a16:colId xmlns:a16="http://schemas.microsoft.com/office/drawing/2014/main" val="20000"/>
                    </a:ext>
                  </a:extLst>
                </a:gridCol>
                <a:gridCol w="2527296">
                  <a:extLst>
                    <a:ext uri="{9D8B030D-6E8A-4147-A177-3AD203B41FA5}">
                      <a16:colId xmlns:a16="http://schemas.microsoft.com/office/drawing/2014/main" val="20001"/>
                    </a:ext>
                  </a:extLst>
                </a:gridCol>
                <a:gridCol w="2871928">
                  <a:extLst>
                    <a:ext uri="{9D8B030D-6E8A-4147-A177-3AD203B41FA5}">
                      <a16:colId xmlns:a16="http://schemas.microsoft.com/office/drawing/2014/main" val="20002"/>
                    </a:ext>
                  </a:extLst>
                </a:gridCol>
                <a:gridCol w="2871928">
                  <a:extLst>
                    <a:ext uri="{9D8B030D-6E8A-4147-A177-3AD203B41FA5}">
                      <a16:colId xmlns:a16="http://schemas.microsoft.com/office/drawing/2014/main" val="20003"/>
                    </a:ext>
                  </a:extLst>
                </a:gridCol>
              </a:tblGrid>
              <a:tr h="382422">
                <a:tc>
                  <a:txBody>
                    <a:bodyPr/>
                    <a:lstStyle/>
                    <a:p>
                      <a:pPr algn="l"/>
                      <a:r>
                        <a:rPr lang="en-IN" sz="1100" b="1" dirty="0">
                          <a:solidFill>
                            <a:srgbClr val="FFFFFF"/>
                          </a:solidFill>
                          <a:latin typeface="Times New Roman"/>
                        </a:rPr>
                        <a:t>Paper</a:t>
                      </a:r>
                    </a:p>
                  </a:txBody>
                  <a:tcPr marL="35000" marR="35000" marT="15000" marB="15000">
                    <a:solidFill>
                      <a:srgbClr val="4A7AB8"/>
                    </a:solidFill>
                  </a:tcPr>
                </a:tc>
                <a:tc>
                  <a:txBody>
                    <a:bodyPr/>
                    <a:lstStyle/>
                    <a:p>
                      <a:pPr algn="l"/>
                      <a:r>
                        <a:rPr lang="en-IN" sz="1100" b="1">
                          <a:solidFill>
                            <a:srgbClr val="FFFFFF"/>
                          </a:solidFill>
                          <a:latin typeface="Times New Roman"/>
                        </a:rPr>
                        <a:t>Objective</a:t>
                      </a:r>
                    </a:p>
                  </a:txBody>
                  <a:tcPr marL="35000" marR="35000" marT="15000" marB="15000">
                    <a:solidFill>
                      <a:srgbClr val="4A7AB8"/>
                    </a:solidFill>
                  </a:tcPr>
                </a:tc>
                <a:tc>
                  <a:txBody>
                    <a:bodyPr/>
                    <a:lstStyle/>
                    <a:p>
                      <a:pPr algn="l"/>
                      <a:r>
                        <a:rPr lang="en-IN" sz="1100" b="1">
                          <a:solidFill>
                            <a:srgbClr val="FFFFFF"/>
                          </a:solidFill>
                          <a:latin typeface="Times New Roman"/>
                        </a:rPr>
                        <a:t>Methodology</a:t>
                      </a:r>
                    </a:p>
                  </a:txBody>
                  <a:tcPr marL="35000" marR="35000" marT="15000" marB="15000">
                    <a:solidFill>
                      <a:srgbClr val="4A7AB8"/>
                    </a:solidFill>
                  </a:tcPr>
                </a:tc>
                <a:tc>
                  <a:txBody>
                    <a:bodyPr/>
                    <a:lstStyle/>
                    <a:p>
                      <a:pPr algn="l"/>
                      <a:r>
                        <a:rPr lang="en-US" sz="1100" b="1">
                          <a:solidFill>
                            <a:srgbClr val="FFFFFF"/>
                          </a:solidFill>
                          <a:latin typeface="Times New Roman"/>
                        </a:rPr>
                        <a:t>Findings (what was actually learned)</a:t>
                      </a:r>
                    </a:p>
                  </a:txBody>
                  <a:tcPr marL="35000" marR="35000" marT="15000" marB="15000">
                    <a:solidFill>
                      <a:srgbClr val="4A7AB8"/>
                    </a:solidFill>
                  </a:tcPr>
                </a:tc>
                <a:extLst>
                  <a:ext uri="{0D108BD9-81ED-4DB2-BD59-A6C34878D82A}">
                    <a16:rowId xmlns:a16="http://schemas.microsoft.com/office/drawing/2014/main" val="10000"/>
                  </a:ext>
                </a:extLst>
              </a:tr>
              <a:tr h="262512">
                <a:tc>
                  <a:txBody>
                    <a:bodyPr/>
                    <a:lstStyle/>
                    <a:p>
                      <a:pPr algn="ctr">
                        <a:spcAft>
                          <a:spcPts val="1200"/>
                        </a:spcAft>
                        <a:buNone/>
                      </a:pPr>
                      <a:r>
                        <a:rPr lang="en-IN" sz="1200" b="0" i="0" dirty="0" err="1">
                          <a:solidFill>
                            <a:schemeClr val="tx1"/>
                          </a:solidFill>
                          <a:effectLst/>
                          <a:latin typeface="Mona Sans VF"/>
                        </a:rPr>
                        <a:t>Ronneberger</a:t>
                      </a:r>
                      <a:r>
                        <a:rPr lang="en-IN" sz="1200" b="0" i="0" dirty="0">
                          <a:solidFill>
                            <a:schemeClr val="tx1"/>
                          </a:solidFill>
                          <a:effectLst/>
                          <a:latin typeface="Mona Sans VF"/>
                        </a:rPr>
                        <a:t> et al., 2015</a:t>
                      </a:r>
                    </a:p>
                  </a:txBody>
                  <a:tcPr marL="99060" marR="99060" anchor="ctr">
                    <a:solidFill>
                      <a:srgbClr val="FFFFFF"/>
                    </a:solidFill>
                  </a:tcPr>
                </a:tc>
                <a:tc>
                  <a:txBody>
                    <a:bodyPr/>
                    <a:lstStyle/>
                    <a:p>
                      <a:pPr algn="ctr">
                        <a:spcAft>
                          <a:spcPts val="1200"/>
                        </a:spcAft>
                        <a:buNone/>
                      </a:pPr>
                      <a:r>
                        <a:rPr lang="en-IN" sz="1200" b="0" i="0">
                          <a:solidFill>
                            <a:schemeClr val="tx1"/>
                          </a:solidFill>
                          <a:effectLst/>
                          <a:latin typeface="Mona Sans VF"/>
                        </a:rPr>
                        <a:t>Segment biomedical images accurately with limited data</a:t>
                      </a:r>
                    </a:p>
                  </a:txBody>
                  <a:tcPr marL="99060" marR="99060" anchor="ctr">
                    <a:solidFill>
                      <a:srgbClr val="FFFFFF"/>
                    </a:solidFill>
                  </a:tcPr>
                </a:tc>
                <a:tc>
                  <a:txBody>
                    <a:bodyPr/>
                    <a:lstStyle/>
                    <a:p>
                      <a:pPr algn="ctr">
                        <a:spcAft>
                          <a:spcPts val="1200"/>
                        </a:spcAft>
                        <a:buNone/>
                      </a:pPr>
                      <a:r>
                        <a:rPr lang="en-IN" sz="1200" b="0" i="0">
                          <a:solidFill>
                            <a:schemeClr val="tx1"/>
                          </a:solidFill>
                          <a:effectLst/>
                          <a:latin typeface="Mona Sans VF"/>
                        </a:rPr>
                        <a:t>UNet encoder decoder with skip connections</a:t>
                      </a:r>
                    </a:p>
                  </a:txBody>
                  <a:tcPr marL="99060" marR="99060" anchor="ctr">
                    <a:solidFill>
                      <a:srgbClr val="FFFFFF"/>
                    </a:solidFill>
                  </a:tcPr>
                </a:tc>
                <a:tc>
                  <a:txBody>
                    <a:bodyPr/>
                    <a:lstStyle/>
                    <a:p>
                      <a:pPr algn="ctr">
                        <a:spcAft>
                          <a:spcPts val="1200"/>
                        </a:spcAft>
                        <a:buNone/>
                      </a:pPr>
                      <a:r>
                        <a:rPr lang="en-IN" sz="1200" b="0" i="0">
                          <a:solidFill>
                            <a:schemeClr val="tx1"/>
                          </a:solidFill>
                          <a:effectLst/>
                          <a:latin typeface="Mona Sans VF"/>
                        </a:rPr>
                        <a:t>Skip connections preserve localisation detail and remain a strong medical segmentation baseline</a:t>
                      </a:r>
                    </a:p>
                  </a:txBody>
                  <a:tcPr marL="99060" marR="99060" anchor="ctr">
                    <a:solidFill>
                      <a:srgbClr val="FFFFFF"/>
                    </a:solidFill>
                  </a:tcPr>
                </a:tc>
                <a:extLst>
                  <a:ext uri="{0D108BD9-81ED-4DB2-BD59-A6C34878D82A}">
                    <a16:rowId xmlns:a16="http://schemas.microsoft.com/office/drawing/2014/main" val="10002"/>
                  </a:ext>
                </a:extLst>
              </a:tr>
              <a:tr h="133191">
                <a:tc>
                  <a:txBody>
                    <a:bodyPr/>
                    <a:lstStyle/>
                    <a:p>
                      <a:pPr algn="ctr">
                        <a:spcAft>
                          <a:spcPts val="1200"/>
                        </a:spcAft>
                        <a:buNone/>
                      </a:pPr>
                      <a:r>
                        <a:rPr lang="en-IN" sz="1200" b="0" i="0" dirty="0">
                          <a:solidFill>
                            <a:schemeClr val="tx1"/>
                          </a:solidFill>
                          <a:effectLst/>
                          <a:latin typeface="Mona Sans VF"/>
                        </a:rPr>
                        <a:t>Cicek et al., 2016</a:t>
                      </a:r>
                    </a:p>
                  </a:txBody>
                  <a:tcPr marL="99060" marR="99060" anchor="ctr">
                    <a:solidFill>
                      <a:srgbClr val="FFFFFF"/>
                    </a:solidFill>
                  </a:tcPr>
                </a:tc>
                <a:tc>
                  <a:txBody>
                    <a:bodyPr/>
                    <a:lstStyle/>
                    <a:p>
                      <a:pPr algn="ctr">
                        <a:spcAft>
                          <a:spcPts val="1200"/>
                        </a:spcAft>
                        <a:buNone/>
                      </a:pPr>
                      <a:r>
                        <a:rPr lang="en-IN" sz="1200" b="0" i="0">
                          <a:solidFill>
                            <a:schemeClr val="tx1"/>
                          </a:solidFill>
                          <a:effectLst/>
                          <a:latin typeface="Mona Sans VF"/>
                        </a:rPr>
                        <a:t>Extend UNet to volumetric medical data</a:t>
                      </a:r>
                    </a:p>
                  </a:txBody>
                  <a:tcPr marL="99060" marR="99060" anchor="ctr">
                    <a:solidFill>
                      <a:srgbClr val="FFFFFF"/>
                    </a:solidFill>
                  </a:tcPr>
                </a:tc>
                <a:tc>
                  <a:txBody>
                    <a:bodyPr/>
                    <a:lstStyle/>
                    <a:p>
                      <a:pPr algn="ctr">
                        <a:spcAft>
                          <a:spcPts val="1200"/>
                        </a:spcAft>
                        <a:buNone/>
                      </a:pPr>
                      <a:r>
                        <a:rPr lang="en-IN" sz="1200" b="0" i="0">
                          <a:solidFill>
                            <a:schemeClr val="tx1"/>
                          </a:solidFill>
                          <a:effectLst/>
                          <a:latin typeface="Mona Sans VF"/>
                        </a:rPr>
                        <a:t>3D convolutional UNet</a:t>
                      </a:r>
                    </a:p>
                  </a:txBody>
                  <a:tcPr marL="99060" marR="99060" anchor="ctr">
                    <a:solidFill>
                      <a:srgbClr val="FFFFFF"/>
                    </a:solidFill>
                  </a:tcPr>
                </a:tc>
                <a:tc>
                  <a:txBody>
                    <a:bodyPr/>
                    <a:lstStyle/>
                    <a:p>
                      <a:pPr algn="ctr">
                        <a:spcAft>
                          <a:spcPts val="1200"/>
                        </a:spcAft>
                        <a:buNone/>
                      </a:pPr>
                      <a:r>
                        <a:rPr lang="en-IN" sz="1200" b="0" i="0">
                          <a:solidFill>
                            <a:schemeClr val="tx1"/>
                          </a:solidFill>
                          <a:effectLst/>
                          <a:latin typeface="Mona Sans VF"/>
                        </a:rPr>
                        <a:t>3D context improves volumetric segmentation compared with isolated 2D slices</a:t>
                      </a:r>
                    </a:p>
                  </a:txBody>
                  <a:tcPr marL="99060" marR="99060" anchor="ctr">
                    <a:solidFill>
                      <a:srgbClr val="FFFFFF"/>
                    </a:solidFill>
                  </a:tcPr>
                </a:tc>
                <a:extLst>
                  <a:ext uri="{0D108BD9-81ED-4DB2-BD59-A6C34878D82A}">
                    <a16:rowId xmlns:a16="http://schemas.microsoft.com/office/drawing/2014/main" val="1177579518"/>
                  </a:ext>
                </a:extLst>
              </a:tr>
              <a:tr h="133191">
                <a:tc>
                  <a:txBody>
                    <a:bodyPr/>
                    <a:lstStyle/>
                    <a:p>
                      <a:pPr algn="ctr">
                        <a:spcAft>
                          <a:spcPts val="1200"/>
                        </a:spcAft>
                        <a:buNone/>
                      </a:pPr>
                      <a:r>
                        <a:rPr lang="en-IN" sz="1200" b="0" i="0" dirty="0" err="1">
                          <a:solidFill>
                            <a:schemeClr val="tx1"/>
                          </a:solidFill>
                          <a:effectLst/>
                          <a:latin typeface="Mona Sans VF"/>
                        </a:rPr>
                        <a:t>Milletari</a:t>
                      </a:r>
                      <a:r>
                        <a:rPr lang="en-IN" sz="1200" b="0" i="0" dirty="0">
                          <a:solidFill>
                            <a:schemeClr val="tx1"/>
                          </a:solidFill>
                          <a:effectLst/>
                          <a:latin typeface="Mona Sans VF"/>
                        </a:rPr>
                        <a:t> et al., 2016</a:t>
                      </a:r>
                    </a:p>
                  </a:txBody>
                  <a:tcPr marL="99060" marR="99060" anchor="ctr">
                    <a:solidFill>
                      <a:srgbClr val="FFFFFF"/>
                    </a:solidFill>
                  </a:tcPr>
                </a:tc>
                <a:tc>
                  <a:txBody>
                    <a:bodyPr/>
                    <a:lstStyle/>
                    <a:p>
                      <a:pPr algn="ctr">
                        <a:spcAft>
                          <a:spcPts val="1200"/>
                        </a:spcAft>
                        <a:buNone/>
                      </a:pPr>
                      <a:r>
                        <a:rPr lang="en-IN" sz="1200" b="0" i="0">
                          <a:solidFill>
                            <a:schemeClr val="tx1"/>
                          </a:solidFill>
                          <a:effectLst/>
                          <a:latin typeface="Mona Sans VF"/>
                        </a:rPr>
                        <a:t>Improve volumetric segmentation efficiency</a:t>
                      </a:r>
                    </a:p>
                  </a:txBody>
                  <a:tcPr marL="99060" marR="99060" anchor="ctr">
                    <a:solidFill>
                      <a:srgbClr val="FFFFFF"/>
                    </a:solidFill>
                  </a:tcPr>
                </a:tc>
                <a:tc>
                  <a:txBody>
                    <a:bodyPr/>
                    <a:lstStyle/>
                    <a:p>
                      <a:pPr algn="ctr">
                        <a:spcAft>
                          <a:spcPts val="1200"/>
                        </a:spcAft>
                        <a:buNone/>
                      </a:pPr>
                      <a:r>
                        <a:rPr lang="en-IN" sz="1200" b="0" i="0">
                          <a:solidFill>
                            <a:schemeClr val="tx1"/>
                          </a:solidFill>
                          <a:effectLst/>
                          <a:latin typeface="Mona Sans VF"/>
                        </a:rPr>
                        <a:t>VNet with residual 3D blocks and Dice focused learning</a:t>
                      </a:r>
                    </a:p>
                  </a:txBody>
                  <a:tcPr marL="99060" marR="99060" anchor="ctr">
                    <a:solidFill>
                      <a:srgbClr val="FFFFFF"/>
                    </a:solidFill>
                  </a:tcPr>
                </a:tc>
                <a:tc>
                  <a:txBody>
                    <a:bodyPr/>
                    <a:lstStyle/>
                    <a:p>
                      <a:pPr algn="ctr">
                        <a:spcAft>
                          <a:spcPts val="1200"/>
                        </a:spcAft>
                        <a:buNone/>
                      </a:pPr>
                      <a:r>
                        <a:rPr lang="en-IN" sz="1200" b="0" i="0">
                          <a:solidFill>
                            <a:schemeClr val="tx1"/>
                          </a:solidFill>
                          <a:effectLst/>
                          <a:latin typeface="Mona Sans VF"/>
                        </a:rPr>
                        <a:t>Residual volumetric designs can produce strong performance with fewer parameters</a:t>
                      </a:r>
                    </a:p>
                  </a:txBody>
                  <a:tcPr marL="99060" marR="99060" anchor="ctr">
                    <a:solidFill>
                      <a:srgbClr val="FFFFFF"/>
                    </a:solidFill>
                  </a:tcPr>
                </a:tc>
                <a:extLst>
                  <a:ext uri="{0D108BD9-81ED-4DB2-BD59-A6C34878D82A}">
                    <a16:rowId xmlns:a16="http://schemas.microsoft.com/office/drawing/2014/main" val="2975300266"/>
                  </a:ext>
                </a:extLst>
              </a:tr>
              <a:tr h="0">
                <a:tc>
                  <a:txBody>
                    <a:bodyPr/>
                    <a:lstStyle/>
                    <a:p>
                      <a:pPr algn="ctr">
                        <a:spcAft>
                          <a:spcPts val="1200"/>
                        </a:spcAft>
                        <a:buNone/>
                      </a:pPr>
                      <a:r>
                        <a:rPr lang="en-IN" sz="1200" b="0" i="0">
                          <a:solidFill>
                            <a:schemeClr val="tx1"/>
                          </a:solidFill>
                          <a:effectLst/>
                          <a:latin typeface="Mona Sans VF"/>
                        </a:rPr>
                        <a:t>Isensee et al., 2021</a:t>
                      </a:r>
                    </a:p>
                  </a:txBody>
                  <a:tcPr marL="99060" marR="99060" anchor="ctr">
                    <a:solidFill>
                      <a:srgbClr val="EAEFF7"/>
                    </a:solidFill>
                  </a:tcPr>
                </a:tc>
                <a:tc>
                  <a:txBody>
                    <a:bodyPr/>
                    <a:lstStyle/>
                    <a:p>
                      <a:pPr algn="ctr">
                        <a:spcAft>
                          <a:spcPts val="1200"/>
                        </a:spcAft>
                        <a:buNone/>
                      </a:pPr>
                      <a:r>
                        <a:rPr lang="en-IN" sz="1200" b="0" i="0" dirty="0">
                          <a:solidFill>
                            <a:schemeClr val="tx1"/>
                          </a:solidFill>
                          <a:effectLst/>
                          <a:latin typeface="Mona Sans VF"/>
                        </a:rPr>
                        <a:t>Reduce manual architecture tuning</a:t>
                      </a:r>
                    </a:p>
                  </a:txBody>
                  <a:tcPr marL="99060" marR="99060" anchor="ctr">
                    <a:solidFill>
                      <a:srgbClr val="EAEFF7"/>
                    </a:solidFill>
                  </a:tcPr>
                </a:tc>
                <a:tc>
                  <a:txBody>
                    <a:bodyPr/>
                    <a:lstStyle/>
                    <a:p>
                      <a:pPr algn="ctr">
                        <a:spcAft>
                          <a:spcPts val="1200"/>
                        </a:spcAft>
                        <a:buNone/>
                      </a:pPr>
                      <a:r>
                        <a:rPr lang="en-IN" sz="1200" b="0" i="0">
                          <a:solidFill>
                            <a:schemeClr val="tx1"/>
                          </a:solidFill>
                          <a:effectLst/>
                          <a:latin typeface="Mona Sans VF"/>
                        </a:rPr>
                        <a:t>nnU-Net self configuring pipeline</a:t>
                      </a:r>
                    </a:p>
                  </a:txBody>
                  <a:tcPr marL="99060" marR="99060" anchor="ctr">
                    <a:solidFill>
                      <a:srgbClr val="EAEFF7"/>
                    </a:solidFill>
                  </a:tcPr>
                </a:tc>
                <a:tc>
                  <a:txBody>
                    <a:bodyPr/>
                    <a:lstStyle/>
                    <a:p>
                      <a:pPr algn="ctr">
                        <a:spcAft>
                          <a:spcPts val="1200"/>
                        </a:spcAft>
                        <a:buNone/>
                      </a:pPr>
                      <a:r>
                        <a:rPr lang="en-IN" sz="1200" b="0" i="0">
                          <a:solidFill>
                            <a:schemeClr val="tx1"/>
                          </a:solidFill>
                          <a:effectLst/>
                          <a:latin typeface="Mona Sans VF"/>
                        </a:rPr>
                        <a:t>Preprocessing, patch size, and training configuration can matter as much as model novelty</a:t>
                      </a:r>
                    </a:p>
                  </a:txBody>
                  <a:tcPr marL="99060" marR="99060" anchor="ctr">
                    <a:solidFill>
                      <a:srgbClr val="EAEFF7"/>
                    </a:solidFill>
                  </a:tcPr>
                </a:tc>
                <a:extLst>
                  <a:ext uri="{0D108BD9-81ED-4DB2-BD59-A6C34878D82A}">
                    <a16:rowId xmlns:a16="http://schemas.microsoft.com/office/drawing/2014/main" val="10003"/>
                  </a:ext>
                </a:extLst>
              </a:tr>
              <a:tr h="133191">
                <a:tc>
                  <a:txBody>
                    <a:bodyPr/>
                    <a:lstStyle/>
                    <a:p>
                      <a:pPr algn="ctr">
                        <a:spcAft>
                          <a:spcPts val="1200"/>
                        </a:spcAft>
                        <a:buNone/>
                      </a:pPr>
                      <a:r>
                        <a:rPr lang="en-IN" sz="1200" b="0" i="0">
                          <a:solidFill>
                            <a:schemeClr val="tx1"/>
                          </a:solidFill>
                          <a:effectLst/>
                          <a:latin typeface="Mona Sans VF"/>
                        </a:rPr>
                        <a:t>Hatamizadeh et al., 2022 and Wang et al., 2021</a:t>
                      </a:r>
                    </a:p>
                  </a:txBody>
                  <a:tcPr marL="99060" marR="99060" anchor="ctr">
                    <a:solidFill>
                      <a:srgbClr val="FFFFFF"/>
                    </a:solidFill>
                  </a:tcPr>
                </a:tc>
                <a:tc>
                  <a:txBody>
                    <a:bodyPr/>
                    <a:lstStyle/>
                    <a:p>
                      <a:pPr algn="ctr">
                        <a:spcAft>
                          <a:spcPts val="1200"/>
                        </a:spcAft>
                        <a:buNone/>
                      </a:pPr>
                      <a:r>
                        <a:rPr lang="en-IN" sz="1200" b="0" i="0" dirty="0">
                          <a:solidFill>
                            <a:schemeClr val="tx1"/>
                          </a:solidFill>
                          <a:effectLst/>
                          <a:latin typeface="Mona Sans VF"/>
                        </a:rPr>
                        <a:t>Use transformers for 3D medical segmentation</a:t>
                      </a:r>
                    </a:p>
                  </a:txBody>
                  <a:tcPr marL="99060" marR="99060" anchor="ctr">
                    <a:solidFill>
                      <a:srgbClr val="FFFFFF"/>
                    </a:solidFill>
                  </a:tcPr>
                </a:tc>
                <a:tc>
                  <a:txBody>
                    <a:bodyPr/>
                    <a:lstStyle/>
                    <a:p>
                      <a:pPr algn="ctr">
                        <a:spcAft>
                          <a:spcPts val="1200"/>
                        </a:spcAft>
                        <a:buNone/>
                      </a:pPr>
                      <a:r>
                        <a:rPr lang="en-IN" sz="1200" b="0" i="0" dirty="0">
                          <a:solidFill>
                            <a:schemeClr val="tx1"/>
                          </a:solidFill>
                          <a:effectLst/>
                          <a:latin typeface="Mona Sans VF"/>
                        </a:rPr>
                        <a:t>Swin UNETR and </a:t>
                      </a:r>
                      <a:r>
                        <a:rPr lang="en-IN" sz="1200" b="0" i="0" dirty="0" err="1">
                          <a:solidFill>
                            <a:schemeClr val="tx1"/>
                          </a:solidFill>
                          <a:effectLst/>
                          <a:latin typeface="Mona Sans VF"/>
                        </a:rPr>
                        <a:t>TransBTS</a:t>
                      </a:r>
                      <a:r>
                        <a:rPr lang="en-IN" sz="1200" b="0" i="0" dirty="0">
                          <a:solidFill>
                            <a:schemeClr val="tx1"/>
                          </a:solidFill>
                          <a:effectLst/>
                          <a:latin typeface="Mona Sans VF"/>
                        </a:rPr>
                        <a:t> hybrid designs</a:t>
                      </a:r>
                    </a:p>
                  </a:txBody>
                  <a:tcPr marL="99060" marR="99060" anchor="ctr">
                    <a:solidFill>
                      <a:srgbClr val="FFFFFF"/>
                    </a:solidFill>
                  </a:tcPr>
                </a:tc>
                <a:tc>
                  <a:txBody>
                    <a:bodyPr/>
                    <a:lstStyle/>
                    <a:p>
                      <a:pPr algn="ctr">
                        <a:spcAft>
                          <a:spcPts val="1200"/>
                        </a:spcAft>
                        <a:buNone/>
                      </a:pPr>
                      <a:r>
                        <a:rPr lang="en-IN" sz="1200" b="0" i="0" dirty="0">
                          <a:solidFill>
                            <a:schemeClr val="tx1"/>
                          </a:solidFill>
                          <a:effectLst/>
                          <a:latin typeface="Mona Sans VF"/>
                        </a:rPr>
                        <a:t>Global context is promising, but compute cost and data requirements remain deployment constraints</a:t>
                      </a:r>
                    </a:p>
                  </a:txBody>
                  <a:tcPr marL="99060" marR="99060" anchor="ctr">
                    <a:solidFill>
                      <a:srgbClr val="FFFFF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8574497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64C5E-26B3-2EE9-895A-F822E4C49ED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7F8AC8-6380-9217-CA4C-1FBF1C25C60E}"/>
              </a:ext>
            </a:extLst>
          </p:cNvPr>
          <p:cNvSpPr>
            <a:spLocks noGrp="1"/>
          </p:cNvSpPr>
          <p:nvPr>
            <p:ph idx="1"/>
          </p:nvPr>
        </p:nvSpPr>
        <p:spPr>
          <a:xfrm>
            <a:off x="766915" y="1022555"/>
            <a:ext cx="10697497" cy="5506064"/>
          </a:xfrm>
        </p:spPr>
        <p:txBody>
          <a:bodyPr>
            <a:normAutofit fontScale="70000" lnSpcReduction="20000"/>
          </a:bodyPr>
          <a:lstStyle/>
          <a:p>
            <a:pPr marL="0" indent="0">
              <a:buNone/>
            </a:pPr>
            <a:r>
              <a:rPr lang="en-IN" dirty="0"/>
              <a:t>Most existing work proves isolated model performance, but the clinical workflow needs an integrated and validated pipeline from upload to visual decision support.</a:t>
            </a:r>
          </a:p>
          <a:p>
            <a:pPr marL="0" indent="0">
              <a:buNone/>
            </a:pPr>
            <a:endParaRPr lang="en-IN" dirty="0"/>
          </a:p>
          <a:p>
            <a:pPr marL="0" indent="0">
              <a:buNone/>
            </a:pPr>
            <a:r>
              <a:rPr lang="en-IN" b="1" dirty="0"/>
              <a:t>Gaps identified</a:t>
            </a:r>
          </a:p>
          <a:p>
            <a:r>
              <a:rPr lang="en-IN" dirty="0"/>
              <a:t>Many studies evaluate only one task, such as detection or classification, instead of connecting detection, subtype classification, and segmentation.</a:t>
            </a:r>
          </a:p>
          <a:p>
            <a:r>
              <a:rPr lang="en-IN" dirty="0"/>
              <a:t>Cross paper comparison is weak because datasets, preprocessing, splits, metrics, and training budgets differ.</a:t>
            </a:r>
          </a:p>
          <a:p>
            <a:r>
              <a:rPr lang="en-IN" dirty="0"/>
              <a:t>Public MRI datasets can contain duplicates or near duplicates, which may inflate results if deduplication is not performed before splitting.</a:t>
            </a:r>
          </a:p>
          <a:p>
            <a:r>
              <a:rPr lang="en-IN" dirty="0"/>
              <a:t>Transformer models are often discussed for global context, but their cost, convergence behaviour, and data needs are not always compared fairly against CNN baselines.</a:t>
            </a:r>
          </a:p>
          <a:p>
            <a:r>
              <a:rPr lang="en-IN" dirty="0"/>
              <a:t>Clinical usability is under addressed: secure access, scan history, visual overlays, report export, and human review are often outside the model benchmark.</a:t>
            </a:r>
          </a:p>
          <a:p>
            <a:endParaRPr lang="en-IN" dirty="0"/>
          </a:p>
          <a:p>
            <a:pPr marL="0" indent="0">
              <a:buNone/>
            </a:pPr>
            <a:r>
              <a:rPr lang="en-IN" b="1" dirty="0"/>
              <a:t>Project response</a:t>
            </a:r>
          </a:p>
          <a:p>
            <a:pPr marL="0" indent="0">
              <a:buNone/>
            </a:pPr>
            <a:r>
              <a:rPr lang="en-IN" dirty="0" err="1"/>
              <a:t>NeuroScan</a:t>
            </a:r>
            <a:r>
              <a:rPr lang="en-IN" dirty="0"/>
              <a:t> AI combines controlled architecture comparison with a working full stack prototype, so model selection is tied to actual deployment constraints rather than accuracy alone.</a:t>
            </a:r>
          </a:p>
          <a:p>
            <a:endParaRPr lang="en-IN" sz="1600" dirty="0">
              <a:latin typeface="Times New Roman" panose="02020603050405020304" pitchFamily="18" charset="0"/>
              <a:cs typeface="Times New Roman" panose="02020603050405020304" pitchFamily="18" charset="0"/>
            </a:endParaRPr>
          </a:p>
        </p:txBody>
      </p:sp>
      <p:sp>
        <p:nvSpPr>
          <p:cNvPr id="4" name="object 2">
            <a:extLst>
              <a:ext uri="{FF2B5EF4-FFF2-40B4-BE49-F238E27FC236}">
                <a16:creationId xmlns:a16="http://schemas.microsoft.com/office/drawing/2014/main" id="{2E07AC55-BA5E-4123-39E6-B79860C6C9EE}"/>
              </a:ext>
            </a:extLst>
          </p:cNvPr>
          <p:cNvSpPr txBox="1">
            <a:spLocks noGrp="1"/>
          </p:cNvSpPr>
          <p:nvPr>
            <p:ph type="title"/>
          </p:nvPr>
        </p:nvSpPr>
        <p:spPr>
          <a:xfrm>
            <a:off x="460248" y="104341"/>
            <a:ext cx="10515600" cy="576696"/>
          </a:xfrm>
          <a:prstGeom prst="rect">
            <a:avLst/>
          </a:prstGeom>
        </p:spPr>
        <p:txBody>
          <a:bodyPr vert="horz" wrap="square" lIns="0" tIns="113919" rIns="0" bIns="0" rtlCol="0">
            <a:spAutoFit/>
          </a:bodyPr>
          <a:lstStyle/>
          <a:p>
            <a:pPr marL="486409" algn="ctr">
              <a:lnSpc>
                <a:spcPct val="100000"/>
              </a:lnSpc>
              <a:spcBef>
                <a:spcPts val="130"/>
              </a:spcBef>
            </a:pPr>
            <a:r>
              <a:rPr lang="en-IN" sz="3000" b="1" dirty="0">
                <a:latin typeface="Times New Roman" panose="02020603050405020304" pitchFamily="18" charset="0"/>
                <a:cs typeface="Times New Roman" panose="02020603050405020304" pitchFamily="18" charset="0"/>
              </a:rPr>
              <a:t>Research Gap</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A2430A72-466B-CBDE-2F02-635BA91A98AF}"/>
              </a:ext>
            </a:extLst>
          </p:cNvPr>
          <p:cNvSpPr>
            <a:spLocks noGrp="1"/>
          </p:cNvSpPr>
          <p:nvPr>
            <p:ph type="dt" sz="half" idx="10"/>
          </p:nvPr>
        </p:nvSpPr>
        <p:spPr/>
        <p:txBody>
          <a:bodyPr/>
          <a:lstStyle/>
          <a:p>
            <a:fld id="{49AE986A-8308-4C4E-A0F3-DDD9B5B25762}" type="datetime1">
              <a:rPr lang="en-IN" smtClean="0"/>
              <a:t>27-07-2026</a:t>
            </a:fld>
            <a:endParaRPr lang="en-IN"/>
          </a:p>
        </p:txBody>
      </p:sp>
      <p:sp>
        <p:nvSpPr>
          <p:cNvPr id="5" name="Footer Placeholder 4">
            <a:extLst>
              <a:ext uri="{FF2B5EF4-FFF2-40B4-BE49-F238E27FC236}">
                <a16:creationId xmlns:a16="http://schemas.microsoft.com/office/drawing/2014/main" id="{1711DDA3-7A7C-1F61-1795-3A01ED678FAB}"/>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D94E3226-1DB1-3A4D-CE37-4A2AD48EF1F1}"/>
              </a:ext>
            </a:extLst>
          </p:cNvPr>
          <p:cNvSpPr>
            <a:spLocks noGrp="1"/>
          </p:cNvSpPr>
          <p:nvPr>
            <p:ph type="sldNum" sz="quarter" idx="12"/>
          </p:nvPr>
        </p:nvSpPr>
        <p:spPr/>
        <p:txBody>
          <a:bodyPr/>
          <a:lstStyle/>
          <a:p>
            <a:fld id="{65201FD4-9D8D-4491-815B-63C7BF4F0034}" type="slidenum">
              <a:rPr lang="en-IN" smtClean="0"/>
              <a:t>6</a:t>
            </a:fld>
            <a:endParaRPr lang="en-IN"/>
          </a:p>
        </p:txBody>
      </p:sp>
    </p:spTree>
    <p:extLst>
      <p:ext uri="{BB962C8B-B14F-4D97-AF65-F5344CB8AC3E}">
        <p14:creationId xmlns:p14="http://schemas.microsoft.com/office/powerpoint/2010/main" val="26231028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F50AAC-0156-D6F5-7153-C7919999408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83ADE1-559A-2DC2-A801-6A915E106C60}"/>
              </a:ext>
            </a:extLst>
          </p:cNvPr>
          <p:cNvSpPr>
            <a:spLocks noGrp="1"/>
          </p:cNvSpPr>
          <p:nvPr>
            <p:ph idx="1"/>
          </p:nvPr>
        </p:nvSpPr>
        <p:spPr>
          <a:xfrm>
            <a:off x="838200" y="1022554"/>
            <a:ext cx="10515600" cy="5333795"/>
          </a:xfrm>
        </p:spPr>
        <p:txBody>
          <a:bodyPr>
            <a:normAutofit fontScale="70000" lnSpcReduction="20000"/>
          </a:bodyPr>
          <a:lstStyle/>
          <a:p>
            <a:pPr marL="0" indent="0">
              <a:buNone/>
            </a:pPr>
            <a:r>
              <a:rPr lang="en-IN" b="1" dirty="0"/>
              <a:t>Research objectives</a:t>
            </a:r>
          </a:p>
          <a:p>
            <a:r>
              <a:rPr lang="en-IN" dirty="0"/>
              <a:t>Curate and preprocess brain MRI datasets for binary detection, multiclass classification, and 3D segmentation.</a:t>
            </a:r>
          </a:p>
          <a:p>
            <a:r>
              <a:rPr lang="en-IN" dirty="0"/>
              <a:t>Apply deduplication where required to reduce leakage risk before training and evaluation.</a:t>
            </a:r>
          </a:p>
          <a:p>
            <a:r>
              <a:rPr lang="en-IN" dirty="0"/>
              <a:t>Benchmark CNN, transformer, and hybrid architectures under comparable experimental settings.</a:t>
            </a:r>
          </a:p>
          <a:p>
            <a:r>
              <a:rPr lang="en-IN" dirty="0"/>
              <a:t>Select practical models using both accuracy and efficiency, not accuracy alone.</a:t>
            </a:r>
          </a:p>
          <a:p>
            <a:pPr marL="0" indent="0">
              <a:buNone/>
            </a:pPr>
            <a:r>
              <a:rPr lang="en-IN" b="1" dirty="0"/>
              <a:t>System objectives</a:t>
            </a:r>
          </a:p>
          <a:p>
            <a:r>
              <a:rPr lang="en-IN" dirty="0"/>
              <a:t>Build a secure </a:t>
            </a:r>
            <a:r>
              <a:rPr lang="en-IN" dirty="0" err="1"/>
              <a:t>FastAPI</a:t>
            </a:r>
            <a:r>
              <a:rPr lang="en-IN" dirty="0"/>
              <a:t> inference service for MRI upload, scan storage, model execution, slice retrieval, segmentation retrieval, and file download.</a:t>
            </a:r>
          </a:p>
          <a:p>
            <a:r>
              <a:rPr lang="en-IN" dirty="0"/>
              <a:t>Build a React TypeScript user interface for login, dashboard, upload, scan library, scan detail, reports, and settings.</a:t>
            </a:r>
          </a:p>
          <a:p>
            <a:r>
              <a:rPr lang="en-IN" dirty="0"/>
              <a:t>Provide clinically useful outputs: tumour presence, tumour type, confidence, WT volume, TC volume, ET volume, and visual segmentation masks.</a:t>
            </a:r>
          </a:p>
          <a:p>
            <a:r>
              <a:rPr lang="en-IN" dirty="0"/>
              <a:t>Keep the system assistive, with radiologist review and future external validation as mandatory requirements before clinical use.</a:t>
            </a:r>
          </a:p>
          <a:p>
            <a:pPr marL="0" indent="0">
              <a:buNone/>
            </a:pPr>
            <a:r>
              <a:rPr lang="en-IN" b="1" dirty="0"/>
              <a:t>Review milestone</a:t>
            </a:r>
          </a:p>
          <a:p>
            <a:pPr marL="0" indent="0">
              <a:buNone/>
            </a:pPr>
            <a:r>
              <a:rPr lang="en-IN" dirty="0"/>
              <a:t>The project has moved from literature identification and model benchmarking to a functioning prototype architecture that can be demonstrated and hardened.</a:t>
            </a:r>
          </a:p>
          <a:p>
            <a:endParaRPr lang="en-IN" sz="1600" dirty="0">
              <a:latin typeface="Times New Roman" panose="02020603050405020304" pitchFamily="18" charset="0"/>
              <a:cs typeface="Times New Roman" panose="02020603050405020304" pitchFamily="18" charset="0"/>
            </a:endParaRPr>
          </a:p>
        </p:txBody>
      </p:sp>
      <p:sp>
        <p:nvSpPr>
          <p:cNvPr id="4" name="object 2">
            <a:extLst>
              <a:ext uri="{FF2B5EF4-FFF2-40B4-BE49-F238E27FC236}">
                <a16:creationId xmlns:a16="http://schemas.microsoft.com/office/drawing/2014/main" id="{22BADD22-870A-4D8F-B788-CCCD5C223F9A}"/>
              </a:ext>
            </a:extLst>
          </p:cNvPr>
          <p:cNvSpPr txBox="1">
            <a:spLocks noGrp="1"/>
          </p:cNvSpPr>
          <p:nvPr>
            <p:ph type="title"/>
          </p:nvPr>
        </p:nvSpPr>
        <p:spPr>
          <a:xfrm>
            <a:off x="588067" y="228753"/>
            <a:ext cx="10515600" cy="576696"/>
          </a:xfrm>
          <a:prstGeom prst="rect">
            <a:avLst/>
          </a:prstGeom>
        </p:spPr>
        <p:txBody>
          <a:bodyPr vert="horz" wrap="square" lIns="0" tIns="113919" rIns="0" bIns="0" rtlCol="0">
            <a:spAutoFit/>
          </a:bodyPr>
          <a:lstStyle/>
          <a:p>
            <a:pPr marL="486409" algn="ctr">
              <a:lnSpc>
                <a:spcPct val="100000"/>
              </a:lnSpc>
              <a:spcBef>
                <a:spcPts val="130"/>
              </a:spcBef>
            </a:pPr>
            <a:r>
              <a:rPr lang="en-IN" sz="3000" b="1" dirty="0">
                <a:latin typeface="Times New Roman" panose="02020603050405020304" pitchFamily="18" charset="0"/>
                <a:cs typeface="Times New Roman" panose="02020603050405020304" pitchFamily="18" charset="0"/>
              </a:rPr>
              <a:t>Objectives</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1BE4F0EB-E8F1-14D8-E22A-38E83F9BFA94}"/>
              </a:ext>
            </a:extLst>
          </p:cNvPr>
          <p:cNvSpPr>
            <a:spLocks noGrp="1"/>
          </p:cNvSpPr>
          <p:nvPr>
            <p:ph type="dt" sz="half" idx="10"/>
          </p:nvPr>
        </p:nvSpPr>
        <p:spPr/>
        <p:txBody>
          <a:bodyPr/>
          <a:lstStyle/>
          <a:p>
            <a:fld id="{FEC21BBC-35C1-4163-B59F-12E882240DC0}" type="datetime1">
              <a:rPr lang="en-IN" smtClean="0">
                <a:latin typeface="Times New Roman" panose="02020603050405020304" pitchFamily="18" charset="0"/>
                <a:cs typeface="Times New Roman" panose="02020603050405020304" pitchFamily="18" charset="0"/>
              </a:rPr>
              <a:t>27-07-2026</a:t>
            </a:fld>
            <a:endParaRPr lang="en-IN">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76D8B93F-BA73-08B5-E0DD-D434FA25B92B}"/>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SCOPE</a:t>
            </a:r>
          </a:p>
        </p:txBody>
      </p:sp>
      <p:sp>
        <p:nvSpPr>
          <p:cNvPr id="6" name="Slide Number Placeholder 5">
            <a:extLst>
              <a:ext uri="{FF2B5EF4-FFF2-40B4-BE49-F238E27FC236}">
                <a16:creationId xmlns:a16="http://schemas.microsoft.com/office/drawing/2014/main" id="{E6BABF72-E9F9-626A-63CD-EA20C0714ABC}"/>
              </a:ext>
            </a:extLst>
          </p:cNvPr>
          <p:cNvSpPr>
            <a:spLocks noGrp="1"/>
          </p:cNvSpPr>
          <p:nvPr>
            <p:ph type="sldNum" sz="quarter" idx="12"/>
          </p:nvPr>
        </p:nvSpPr>
        <p:spPr/>
        <p:txBody>
          <a:bodyPr/>
          <a:lstStyle/>
          <a:p>
            <a:fld id="{65201FD4-9D8D-4491-815B-63C7BF4F0034}" type="slidenum">
              <a:rPr lang="en-IN" smtClean="0">
                <a:latin typeface="Times New Roman" panose="02020603050405020304" pitchFamily="18" charset="0"/>
                <a:cs typeface="Times New Roman" panose="02020603050405020304" pitchFamily="18" charset="0"/>
              </a:rPr>
              <a:t>7</a:t>
            </a:fld>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359624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0E1A0-FA4A-8258-6E10-9F00EDC0BC8B}"/>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id="{7CFC0C65-61CC-E657-43F7-99C8E5362448}"/>
              </a:ext>
            </a:extLst>
          </p:cNvPr>
          <p:cNvSpPr txBox="1">
            <a:spLocks noGrp="1"/>
          </p:cNvSpPr>
          <p:nvPr>
            <p:ph type="title"/>
          </p:nvPr>
        </p:nvSpPr>
        <p:spPr>
          <a:xfrm>
            <a:off x="545592" y="308000"/>
            <a:ext cx="10515600" cy="576696"/>
          </a:xfrm>
          <a:prstGeom prst="rect">
            <a:avLst/>
          </a:prstGeom>
        </p:spPr>
        <p:txBody>
          <a:bodyPr vert="horz" wrap="square" lIns="0" tIns="113919" rIns="0" bIns="0" rtlCol="0">
            <a:spAutoFit/>
          </a:bodyPr>
          <a:lstStyle/>
          <a:p>
            <a:pPr marL="486409" algn="ctr">
              <a:lnSpc>
                <a:spcPct val="100000"/>
              </a:lnSpc>
              <a:spcBef>
                <a:spcPts val="130"/>
              </a:spcBef>
            </a:pPr>
            <a:r>
              <a:rPr lang="en-IN" sz="3000" b="1" dirty="0">
                <a:latin typeface="Times New Roman" panose="02020603050405020304" pitchFamily="18" charset="0"/>
                <a:cs typeface="Times New Roman" panose="02020603050405020304" pitchFamily="18" charset="0"/>
              </a:rPr>
              <a:t>References</a:t>
            </a:r>
            <a:endParaRPr sz="3000" b="1" dirty="0">
              <a:latin typeface="Times New Roman" panose="02020603050405020304" pitchFamily="18" charset="0"/>
              <a:cs typeface="Times New Roman" panose="02020603050405020304" pitchFamily="18" charset="0"/>
            </a:endParaRPr>
          </a:p>
        </p:txBody>
      </p:sp>
      <p:sp>
        <p:nvSpPr>
          <p:cNvPr id="2" name="Rectangle 3">
            <a:extLst>
              <a:ext uri="{FF2B5EF4-FFF2-40B4-BE49-F238E27FC236}">
                <a16:creationId xmlns:a16="http://schemas.microsoft.com/office/drawing/2014/main" id="{CC4F09CD-956A-B8B3-1183-9C28C80DDB9A}"/>
              </a:ext>
            </a:extLst>
          </p:cNvPr>
          <p:cNvSpPr>
            <a:spLocks noGrp="1" noChangeArrowheads="1"/>
          </p:cNvSpPr>
          <p:nvPr>
            <p:ph idx="1"/>
          </p:nvPr>
        </p:nvSpPr>
        <p:spPr bwMode="auto">
          <a:xfrm>
            <a:off x="403123" y="1194030"/>
            <a:ext cx="11532637" cy="55274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normAutofit fontScale="62500" lnSpcReduction="20000"/>
          </a:bodyPr>
          <a:lstStyle/>
          <a:p>
            <a:pPr marL="0" indent="0" eaLnBrk="0" fontAlgn="base" hangingPunct="0">
              <a:lnSpc>
                <a:spcPct val="100000"/>
              </a:lnSpc>
              <a:spcBef>
                <a:spcPct val="0"/>
              </a:spcBef>
              <a:spcAft>
                <a:spcPct val="30000"/>
              </a:spcAft>
              <a:buNone/>
            </a:pPr>
            <a:r>
              <a:rPr lang="en-IN" sz="3800" b="1" dirty="0">
                <a:latin typeface="Times New Roman" panose="02020603050405020304" pitchFamily="18" charset="0"/>
                <a:cs typeface="Times New Roman" panose="02020603050405020304" pitchFamily="18" charset="0"/>
              </a:rPr>
              <a:t>Detection and classification references</a:t>
            </a:r>
          </a:p>
          <a:p>
            <a:pPr marL="0" indent="0" eaLnBrk="0" fontAlgn="base" hangingPunct="0">
              <a:lnSpc>
                <a:spcPct val="100000"/>
              </a:lnSpc>
              <a:spcBef>
                <a:spcPct val="0"/>
              </a:spcBef>
              <a:spcAft>
                <a:spcPct val="30000"/>
              </a:spcAft>
              <a:buNone/>
            </a:pPr>
            <a:endParaRPr lang="en-IN" sz="3200" b="1" dirty="0">
              <a:latin typeface="Times New Roman" panose="02020603050405020304" pitchFamily="18" charset="0"/>
              <a:cs typeface="Times New Roman" panose="02020603050405020304" pitchFamily="18" charset="0"/>
            </a:endParaRPr>
          </a:p>
          <a:p>
            <a:r>
              <a:rPr lang="en-IN" sz="3200" dirty="0">
                <a:latin typeface="Times New Roman" panose="02020603050405020304" pitchFamily="18" charset="0"/>
                <a:cs typeface="Times New Roman" panose="02020603050405020304" pitchFamily="18" charset="0"/>
              </a:rPr>
              <a:t>E. I. Zacharaki, S. Wang, S. Chawla, et al., "Classification of brain tumour type and grade using MRI texture and shape in a machine learning scheme," Magnetic Resonance in Medicine, 2009.</a:t>
            </a:r>
          </a:p>
          <a:p>
            <a:r>
              <a:rPr lang="en-IN" sz="3200" dirty="0">
                <a:latin typeface="Times New Roman" panose="02020603050405020304" pitchFamily="18" charset="0"/>
                <a:cs typeface="Times New Roman" panose="02020603050405020304" pitchFamily="18" charset="0"/>
              </a:rPr>
              <a:t>J. Cheng, W. Huang, S. Cao, et al., "Enhanced performance of brain tumour classification via tumour region augmentation and partition," </a:t>
            </a:r>
            <a:r>
              <a:rPr lang="en-IN" sz="3200" dirty="0" err="1">
                <a:latin typeface="Times New Roman" panose="02020603050405020304" pitchFamily="18" charset="0"/>
                <a:cs typeface="Times New Roman" panose="02020603050405020304" pitchFamily="18" charset="0"/>
              </a:rPr>
              <a:t>PLoS</a:t>
            </a:r>
            <a:r>
              <a:rPr lang="en-IN" sz="3200" dirty="0">
                <a:latin typeface="Times New Roman" panose="02020603050405020304" pitchFamily="18" charset="0"/>
                <a:cs typeface="Times New Roman" panose="02020603050405020304" pitchFamily="18" charset="0"/>
              </a:rPr>
              <a:t> ONE, 2015.</a:t>
            </a:r>
          </a:p>
          <a:p>
            <a:r>
              <a:rPr lang="en-IN" sz="3200" dirty="0">
                <a:latin typeface="Times New Roman" panose="02020603050405020304" pitchFamily="18" charset="0"/>
                <a:cs typeface="Times New Roman" panose="02020603050405020304" pitchFamily="18" charset="0"/>
              </a:rPr>
              <a:t>K. He, X. Zhang, S. Ren, and J. Sun, "Deep residual learning for image recognition," CVPR, 2016.</a:t>
            </a:r>
          </a:p>
          <a:p>
            <a:r>
              <a:rPr lang="en-IN" sz="3200" dirty="0">
                <a:latin typeface="Times New Roman" panose="02020603050405020304" pitchFamily="18" charset="0"/>
                <a:cs typeface="Times New Roman" panose="02020603050405020304" pitchFamily="18" charset="0"/>
              </a:rPr>
              <a:t>C. Szegedy, V. </a:t>
            </a:r>
            <a:r>
              <a:rPr lang="en-IN" sz="3200" dirty="0" err="1">
                <a:latin typeface="Times New Roman" panose="02020603050405020304" pitchFamily="18" charset="0"/>
                <a:cs typeface="Times New Roman" panose="02020603050405020304" pitchFamily="18" charset="0"/>
              </a:rPr>
              <a:t>Vanhoucke</a:t>
            </a:r>
            <a:r>
              <a:rPr lang="en-IN" sz="3200" dirty="0">
                <a:latin typeface="Times New Roman" panose="02020603050405020304" pitchFamily="18" charset="0"/>
                <a:cs typeface="Times New Roman" panose="02020603050405020304" pitchFamily="18" charset="0"/>
              </a:rPr>
              <a:t>, S. Ioffe, J. </a:t>
            </a:r>
            <a:r>
              <a:rPr lang="en-IN" sz="3200" dirty="0" err="1">
                <a:latin typeface="Times New Roman" panose="02020603050405020304" pitchFamily="18" charset="0"/>
                <a:cs typeface="Times New Roman" panose="02020603050405020304" pitchFamily="18" charset="0"/>
              </a:rPr>
              <a:t>Shlens</a:t>
            </a:r>
            <a:r>
              <a:rPr lang="en-IN" sz="3200" dirty="0">
                <a:latin typeface="Times New Roman" panose="02020603050405020304" pitchFamily="18" charset="0"/>
                <a:cs typeface="Times New Roman" panose="02020603050405020304" pitchFamily="18" charset="0"/>
              </a:rPr>
              <a:t>, and Z. </a:t>
            </a:r>
            <a:r>
              <a:rPr lang="en-IN" sz="3200" dirty="0" err="1">
                <a:latin typeface="Times New Roman" panose="02020603050405020304" pitchFamily="18" charset="0"/>
                <a:cs typeface="Times New Roman" panose="02020603050405020304" pitchFamily="18" charset="0"/>
              </a:rPr>
              <a:t>Wojna</a:t>
            </a:r>
            <a:r>
              <a:rPr lang="en-IN" sz="3200" dirty="0">
                <a:latin typeface="Times New Roman" panose="02020603050405020304" pitchFamily="18" charset="0"/>
                <a:cs typeface="Times New Roman" panose="02020603050405020304" pitchFamily="18" charset="0"/>
              </a:rPr>
              <a:t>, "Rethinking the inception architecture for computer vision," CVPR, 2016.</a:t>
            </a:r>
          </a:p>
          <a:p>
            <a:r>
              <a:rPr lang="en-IN" sz="3200" dirty="0">
                <a:latin typeface="Times New Roman" panose="02020603050405020304" pitchFamily="18" charset="0"/>
                <a:cs typeface="Times New Roman" panose="02020603050405020304" pitchFamily="18" charset="0"/>
              </a:rPr>
              <a:t>M. Tan and Q. Le, "</a:t>
            </a:r>
            <a:r>
              <a:rPr lang="en-IN" sz="3200" dirty="0" err="1">
                <a:latin typeface="Times New Roman" panose="02020603050405020304" pitchFamily="18" charset="0"/>
                <a:cs typeface="Times New Roman" panose="02020603050405020304" pitchFamily="18" charset="0"/>
              </a:rPr>
              <a:t>EfficientNet</a:t>
            </a:r>
            <a:r>
              <a:rPr lang="en-IN" sz="3200" dirty="0">
                <a:latin typeface="Times New Roman" panose="02020603050405020304" pitchFamily="18" charset="0"/>
                <a:cs typeface="Times New Roman" panose="02020603050405020304" pitchFamily="18" charset="0"/>
              </a:rPr>
              <a:t>: Rethinking model scaling for convolutional neural networks," ICML, 2019.</a:t>
            </a:r>
          </a:p>
          <a:p>
            <a:r>
              <a:rPr lang="en-IN" sz="3200" dirty="0">
                <a:latin typeface="Times New Roman" panose="02020603050405020304" pitchFamily="18" charset="0"/>
                <a:cs typeface="Times New Roman" panose="02020603050405020304" pitchFamily="18" charset="0"/>
              </a:rPr>
              <a:t>A. </a:t>
            </a:r>
            <a:r>
              <a:rPr lang="en-IN" sz="3200" dirty="0" err="1">
                <a:latin typeface="Times New Roman" panose="02020603050405020304" pitchFamily="18" charset="0"/>
                <a:cs typeface="Times New Roman" panose="02020603050405020304" pitchFamily="18" charset="0"/>
              </a:rPr>
              <a:t>Dosovitskiy</a:t>
            </a:r>
            <a:r>
              <a:rPr lang="en-IN" sz="3200" dirty="0">
                <a:latin typeface="Times New Roman" panose="02020603050405020304" pitchFamily="18" charset="0"/>
                <a:cs typeface="Times New Roman" panose="02020603050405020304" pitchFamily="18" charset="0"/>
              </a:rPr>
              <a:t>, L. Beyer, A. Kolesnikov, et al., "An image is worth 16x16 words: Transformers for image recognition at scale," ICLR, 2021.</a:t>
            </a:r>
          </a:p>
          <a:p>
            <a:r>
              <a:rPr lang="en-IN" sz="3200" dirty="0">
                <a:latin typeface="Times New Roman" panose="02020603050405020304" pitchFamily="18" charset="0"/>
                <a:cs typeface="Times New Roman" panose="02020603050405020304" pitchFamily="18" charset="0"/>
              </a:rPr>
              <a:t>Z. Liu, Y. Lin, Y. Cao, et al., "Swin Transformer: Hierarchical vision transformer using shifted windows," ICCV, 2021.</a:t>
            </a:r>
          </a:p>
          <a:p>
            <a:r>
              <a:rPr lang="en-IN" sz="3200" dirty="0">
                <a:latin typeface="Times New Roman" panose="02020603050405020304" pitchFamily="18" charset="0"/>
                <a:cs typeface="Times New Roman" panose="02020603050405020304" pitchFamily="18" charset="0"/>
              </a:rPr>
              <a:t>W. Xu, Y. Xu, T. Chang, and Z. Tu, "Co-scale conv-attentional image transformers," ICCV, 2021.</a:t>
            </a:r>
          </a:p>
          <a:p>
            <a:pPr marL="0" indent="0">
              <a:buNone/>
            </a:pPr>
            <a:br>
              <a:rPr lang="en-IN" sz="2900" dirty="0"/>
            </a:br>
            <a:endParaRPr lang="en-IN" sz="2900" b="1" dirty="0"/>
          </a:p>
          <a:p>
            <a:pPr marL="0" indent="0" eaLnBrk="0" fontAlgn="base" hangingPunct="0">
              <a:lnSpc>
                <a:spcPct val="100000"/>
              </a:lnSpc>
              <a:spcBef>
                <a:spcPct val="0"/>
              </a:spcBef>
              <a:spcAft>
                <a:spcPct val="30000"/>
              </a:spcAft>
              <a:buNone/>
            </a:pPr>
            <a:endParaRPr lang="en-IN" sz="12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B732D3DB-7149-E1E5-D5F9-4FC93A788894}"/>
              </a:ext>
            </a:extLst>
          </p:cNvPr>
          <p:cNvSpPr>
            <a:spLocks noGrp="1"/>
          </p:cNvSpPr>
          <p:nvPr>
            <p:ph type="dt" sz="half" idx="10"/>
          </p:nvPr>
        </p:nvSpPr>
        <p:spPr/>
        <p:txBody>
          <a:bodyPr/>
          <a:lstStyle/>
          <a:p>
            <a:fld id="{0A7C7B6C-E68D-4047-8A1E-3C7BD2842AF7}" type="datetime1">
              <a:rPr lang="en-IN" smtClean="0"/>
              <a:t>27-07-2026</a:t>
            </a:fld>
            <a:endParaRPr lang="en-IN"/>
          </a:p>
        </p:txBody>
      </p:sp>
      <p:sp>
        <p:nvSpPr>
          <p:cNvPr id="6" name="Footer Placeholder 5">
            <a:extLst>
              <a:ext uri="{FF2B5EF4-FFF2-40B4-BE49-F238E27FC236}">
                <a16:creationId xmlns:a16="http://schemas.microsoft.com/office/drawing/2014/main" id="{CEBCABB1-7C63-52E3-2815-3651AE7E9F7B}"/>
              </a:ext>
            </a:extLst>
          </p:cNvPr>
          <p:cNvSpPr>
            <a:spLocks noGrp="1"/>
          </p:cNvSpPr>
          <p:nvPr>
            <p:ph type="ftr" sz="quarter" idx="11"/>
          </p:nvPr>
        </p:nvSpPr>
        <p:spPr/>
        <p:txBody>
          <a:bodyPr/>
          <a:lstStyle/>
          <a:p>
            <a:r>
              <a:rPr lang="en-IN"/>
              <a:t>SCOPE</a:t>
            </a:r>
          </a:p>
        </p:txBody>
      </p:sp>
      <p:sp>
        <p:nvSpPr>
          <p:cNvPr id="7" name="Slide Number Placeholder 6">
            <a:extLst>
              <a:ext uri="{FF2B5EF4-FFF2-40B4-BE49-F238E27FC236}">
                <a16:creationId xmlns:a16="http://schemas.microsoft.com/office/drawing/2014/main" id="{E431EAEC-BCE3-2979-69C6-273309B9FFA7}"/>
              </a:ext>
            </a:extLst>
          </p:cNvPr>
          <p:cNvSpPr>
            <a:spLocks noGrp="1"/>
          </p:cNvSpPr>
          <p:nvPr>
            <p:ph type="sldNum" sz="quarter" idx="12"/>
          </p:nvPr>
        </p:nvSpPr>
        <p:spPr/>
        <p:txBody>
          <a:bodyPr/>
          <a:lstStyle/>
          <a:p>
            <a:fld id="{65201FD4-9D8D-4491-815B-63C7BF4F0034}" type="slidenum">
              <a:rPr lang="en-IN" smtClean="0"/>
              <a:t>8</a:t>
            </a:fld>
            <a:endParaRPr lang="en-IN" dirty="0"/>
          </a:p>
        </p:txBody>
      </p:sp>
    </p:spTree>
    <p:extLst>
      <p:ext uri="{BB962C8B-B14F-4D97-AF65-F5344CB8AC3E}">
        <p14:creationId xmlns:p14="http://schemas.microsoft.com/office/powerpoint/2010/main" val="35105262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EB10E-9C58-D0BD-F9C4-2E1F56CFBAA6}"/>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id="{3401D7A8-7CF5-F923-0F60-B8A85ED2F855}"/>
              </a:ext>
            </a:extLst>
          </p:cNvPr>
          <p:cNvSpPr txBox="1">
            <a:spLocks noGrp="1"/>
          </p:cNvSpPr>
          <p:nvPr>
            <p:ph type="title"/>
          </p:nvPr>
        </p:nvSpPr>
        <p:spPr>
          <a:xfrm>
            <a:off x="509410" y="34536"/>
            <a:ext cx="10515600" cy="576696"/>
          </a:xfrm>
          <a:prstGeom prst="rect">
            <a:avLst/>
          </a:prstGeom>
        </p:spPr>
        <p:txBody>
          <a:bodyPr vert="horz" wrap="square" lIns="0" tIns="113919" rIns="0" bIns="0" rtlCol="0">
            <a:spAutoFit/>
          </a:bodyPr>
          <a:lstStyle/>
          <a:p>
            <a:pPr marL="486409" algn="ctr">
              <a:lnSpc>
                <a:spcPct val="100000"/>
              </a:lnSpc>
              <a:spcBef>
                <a:spcPts val="130"/>
              </a:spcBef>
            </a:pPr>
            <a:r>
              <a:rPr lang="en-IN" sz="3000" b="1" dirty="0">
                <a:latin typeface="Times New Roman" panose="02020603050405020304" pitchFamily="18" charset="0"/>
                <a:cs typeface="Times New Roman" panose="02020603050405020304" pitchFamily="18" charset="0"/>
              </a:rPr>
              <a:t>References</a:t>
            </a:r>
            <a:endParaRPr sz="3000" b="1" dirty="0">
              <a:latin typeface="Times New Roman" panose="02020603050405020304" pitchFamily="18" charset="0"/>
              <a:cs typeface="Times New Roman" panose="02020603050405020304" pitchFamily="18" charset="0"/>
            </a:endParaRPr>
          </a:p>
        </p:txBody>
      </p:sp>
      <p:sp>
        <p:nvSpPr>
          <p:cNvPr id="2" name="Rectangle 3">
            <a:extLst>
              <a:ext uri="{FF2B5EF4-FFF2-40B4-BE49-F238E27FC236}">
                <a16:creationId xmlns:a16="http://schemas.microsoft.com/office/drawing/2014/main" id="{D4272DD4-D880-A7CB-E2E7-F8861BCF3E67}"/>
              </a:ext>
            </a:extLst>
          </p:cNvPr>
          <p:cNvSpPr>
            <a:spLocks noGrp="1" noChangeArrowheads="1"/>
          </p:cNvSpPr>
          <p:nvPr>
            <p:ph idx="1"/>
          </p:nvPr>
        </p:nvSpPr>
        <p:spPr bwMode="auto">
          <a:xfrm>
            <a:off x="509410" y="632529"/>
            <a:ext cx="10392697" cy="4660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noAutofit/>
          </a:bodyPr>
          <a:lstStyle/>
          <a:p>
            <a:pPr marL="0" indent="0" eaLnBrk="0" fontAlgn="base" hangingPunct="0">
              <a:lnSpc>
                <a:spcPct val="100000"/>
              </a:lnSpc>
              <a:spcBef>
                <a:spcPct val="0"/>
              </a:spcBef>
              <a:spcAft>
                <a:spcPct val="30000"/>
              </a:spcAft>
              <a:buNone/>
            </a:pPr>
            <a:r>
              <a:rPr lang="en-IN" sz="2400" b="1" dirty="0"/>
              <a:t>Segmentation, dataset, and project references</a:t>
            </a:r>
          </a:p>
          <a:p>
            <a:r>
              <a:rPr lang="en-IN" sz="1800" dirty="0">
                <a:latin typeface="Times New Roman" panose="02020603050405020304" pitchFamily="18" charset="0"/>
                <a:cs typeface="Times New Roman" panose="02020603050405020304" pitchFamily="18" charset="0"/>
              </a:rPr>
              <a:t>O. </a:t>
            </a:r>
            <a:r>
              <a:rPr lang="en-IN" sz="1800" dirty="0" err="1">
                <a:latin typeface="Times New Roman" panose="02020603050405020304" pitchFamily="18" charset="0"/>
                <a:cs typeface="Times New Roman" panose="02020603050405020304" pitchFamily="18" charset="0"/>
              </a:rPr>
              <a:t>Ronneberger</a:t>
            </a:r>
            <a:r>
              <a:rPr lang="en-IN" sz="1800" dirty="0">
                <a:latin typeface="Times New Roman" panose="02020603050405020304" pitchFamily="18" charset="0"/>
                <a:cs typeface="Times New Roman" panose="02020603050405020304" pitchFamily="18" charset="0"/>
              </a:rPr>
              <a:t>, P. Fischer, and T. Brox, "U-Net: Convolutional networks for biomedical image segmentation," MICCAI, 2015.</a:t>
            </a:r>
          </a:p>
          <a:p>
            <a:r>
              <a:rPr lang="en-IN" sz="1800" dirty="0">
                <a:latin typeface="Times New Roman" panose="02020603050405020304" pitchFamily="18" charset="0"/>
                <a:cs typeface="Times New Roman" panose="02020603050405020304" pitchFamily="18" charset="0"/>
              </a:rPr>
              <a:t>B. H. Menze et al., "The multimodal brain tumour image segmentation benchmark," IEEE Transactions on Medical Imaging, 2015.</a:t>
            </a:r>
          </a:p>
          <a:p>
            <a:r>
              <a:rPr lang="en-IN" sz="1800" dirty="0">
                <a:latin typeface="Times New Roman" panose="02020603050405020304" pitchFamily="18" charset="0"/>
                <a:cs typeface="Times New Roman" panose="02020603050405020304" pitchFamily="18" charset="0"/>
              </a:rPr>
              <a:t>O. Cicek, A. Abdulkadir, S. S. </a:t>
            </a:r>
            <a:r>
              <a:rPr lang="en-IN" sz="1800" dirty="0" err="1">
                <a:latin typeface="Times New Roman" panose="02020603050405020304" pitchFamily="18" charset="0"/>
                <a:cs typeface="Times New Roman" panose="02020603050405020304" pitchFamily="18" charset="0"/>
              </a:rPr>
              <a:t>Lienkamp</a:t>
            </a:r>
            <a:r>
              <a:rPr lang="en-IN" sz="1800" dirty="0">
                <a:latin typeface="Times New Roman" panose="02020603050405020304" pitchFamily="18" charset="0"/>
                <a:cs typeface="Times New Roman" panose="02020603050405020304" pitchFamily="18" charset="0"/>
              </a:rPr>
              <a:t>, T. Brox, and O. </a:t>
            </a:r>
            <a:r>
              <a:rPr lang="en-IN" sz="1800" dirty="0" err="1">
                <a:latin typeface="Times New Roman" panose="02020603050405020304" pitchFamily="18" charset="0"/>
                <a:cs typeface="Times New Roman" panose="02020603050405020304" pitchFamily="18" charset="0"/>
              </a:rPr>
              <a:t>Ronneberger</a:t>
            </a:r>
            <a:r>
              <a:rPr lang="en-IN" sz="1800" dirty="0">
                <a:latin typeface="Times New Roman" panose="02020603050405020304" pitchFamily="18" charset="0"/>
                <a:cs typeface="Times New Roman" panose="02020603050405020304" pitchFamily="18" charset="0"/>
              </a:rPr>
              <a:t>, "3D U-Net: Learning dense volumetric segmentation from sparse annotation," MICCAI, 2016.</a:t>
            </a:r>
          </a:p>
          <a:p>
            <a:r>
              <a:rPr lang="en-IN" sz="1800" dirty="0">
                <a:latin typeface="Times New Roman" panose="02020603050405020304" pitchFamily="18" charset="0"/>
                <a:cs typeface="Times New Roman" panose="02020603050405020304" pitchFamily="18" charset="0"/>
              </a:rPr>
              <a:t>F. </a:t>
            </a:r>
            <a:r>
              <a:rPr lang="en-IN" sz="1800" dirty="0" err="1">
                <a:latin typeface="Times New Roman" panose="02020603050405020304" pitchFamily="18" charset="0"/>
                <a:cs typeface="Times New Roman" panose="02020603050405020304" pitchFamily="18" charset="0"/>
              </a:rPr>
              <a:t>Milletari</a:t>
            </a:r>
            <a:r>
              <a:rPr lang="en-IN" sz="1800" dirty="0">
                <a:latin typeface="Times New Roman" panose="02020603050405020304" pitchFamily="18" charset="0"/>
                <a:cs typeface="Times New Roman" panose="02020603050405020304" pitchFamily="18" charset="0"/>
              </a:rPr>
              <a:t>, N. Navab, and S. A. Ahmadi, "V-Net: Fully convolutional neural networks for volumetric medical image segmentation," 3DV, 2016.</a:t>
            </a:r>
          </a:p>
          <a:p>
            <a:r>
              <a:rPr lang="en-IN" sz="1800" dirty="0">
                <a:latin typeface="Times New Roman" panose="02020603050405020304" pitchFamily="18" charset="0"/>
                <a:cs typeface="Times New Roman" panose="02020603050405020304" pitchFamily="18" charset="0"/>
              </a:rPr>
              <a:t>F. Isensee, P. F. Jaeger, S. A. Kohl, J. Petersen, and K. H. Maier-Hein, "</a:t>
            </a:r>
            <a:r>
              <a:rPr lang="en-IN" sz="1800" dirty="0" err="1">
                <a:latin typeface="Times New Roman" panose="02020603050405020304" pitchFamily="18" charset="0"/>
                <a:cs typeface="Times New Roman" panose="02020603050405020304" pitchFamily="18" charset="0"/>
              </a:rPr>
              <a:t>nnU</a:t>
            </a:r>
            <a:r>
              <a:rPr lang="en-IN" sz="1800" dirty="0">
                <a:latin typeface="Times New Roman" panose="02020603050405020304" pitchFamily="18" charset="0"/>
                <a:cs typeface="Times New Roman" panose="02020603050405020304" pitchFamily="18" charset="0"/>
              </a:rPr>
              <a:t>-Net: A self-configuring method for deep learning based biomedical segmentation," Nature Methods, 2021.</a:t>
            </a:r>
          </a:p>
          <a:p>
            <a:r>
              <a:rPr lang="en-IN" sz="1800" dirty="0">
                <a:latin typeface="Times New Roman" panose="02020603050405020304" pitchFamily="18" charset="0"/>
                <a:cs typeface="Times New Roman" panose="02020603050405020304" pitchFamily="18" charset="0"/>
              </a:rPr>
              <a:t>A. </a:t>
            </a:r>
            <a:r>
              <a:rPr lang="en-IN" sz="1800" dirty="0" err="1">
                <a:latin typeface="Times New Roman" panose="02020603050405020304" pitchFamily="18" charset="0"/>
                <a:cs typeface="Times New Roman" panose="02020603050405020304" pitchFamily="18" charset="0"/>
              </a:rPr>
              <a:t>Hatamizadeh</a:t>
            </a:r>
            <a:r>
              <a:rPr lang="en-IN" sz="1800" dirty="0">
                <a:latin typeface="Times New Roman" panose="02020603050405020304" pitchFamily="18" charset="0"/>
                <a:cs typeface="Times New Roman" panose="02020603050405020304" pitchFamily="18" charset="0"/>
              </a:rPr>
              <a:t> et al., "UNETR: Transformers for 3D medical image segmentation," WACV, 2022.</a:t>
            </a:r>
          </a:p>
          <a:p>
            <a:r>
              <a:rPr lang="en-IN" sz="1800" dirty="0">
                <a:latin typeface="Times New Roman" panose="02020603050405020304" pitchFamily="18" charset="0"/>
                <a:cs typeface="Times New Roman" panose="02020603050405020304" pitchFamily="18" charset="0"/>
              </a:rPr>
              <a:t>A. </a:t>
            </a:r>
            <a:r>
              <a:rPr lang="en-IN" sz="1800" dirty="0" err="1">
                <a:latin typeface="Times New Roman" panose="02020603050405020304" pitchFamily="18" charset="0"/>
                <a:cs typeface="Times New Roman" panose="02020603050405020304" pitchFamily="18" charset="0"/>
              </a:rPr>
              <a:t>Hatamizadeh</a:t>
            </a:r>
            <a:r>
              <a:rPr lang="en-IN" sz="1800" dirty="0">
                <a:latin typeface="Times New Roman" panose="02020603050405020304" pitchFamily="18" charset="0"/>
                <a:cs typeface="Times New Roman" panose="02020603050405020304" pitchFamily="18" charset="0"/>
              </a:rPr>
              <a:t>, V. Nath, Y. Tang, D. Yang, A. </a:t>
            </a:r>
            <a:r>
              <a:rPr lang="en-IN" sz="1800" dirty="0" err="1">
                <a:latin typeface="Times New Roman" panose="02020603050405020304" pitchFamily="18" charset="0"/>
                <a:cs typeface="Times New Roman" panose="02020603050405020304" pitchFamily="18" charset="0"/>
              </a:rPr>
              <a:t>Myronenko</a:t>
            </a:r>
            <a:r>
              <a:rPr lang="en-IN" sz="1800" dirty="0">
                <a:latin typeface="Times New Roman" panose="02020603050405020304" pitchFamily="18" charset="0"/>
                <a:cs typeface="Times New Roman" panose="02020603050405020304" pitchFamily="18" charset="0"/>
              </a:rPr>
              <a:t>, H. R. Roth, and D. Xu, "Swin UNETR: Swin transformers for semantic segmentation of brain tumours in MRI images," MICCAI, 2022.</a:t>
            </a:r>
          </a:p>
          <a:p>
            <a:r>
              <a:rPr lang="en-IN" sz="1800" dirty="0">
                <a:latin typeface="Times New Roman" panose="02020603050405020304" pitchFamily="18" charset="0"/>
                <a:cs typeface="Times New Roman" panose="02020603050405020304" pitchFamily="18" charset="0"/>
              </a:rPr>
              <a:t>W. Wang, C. Chen, M. Ding, H. Yu, Z. Sha, and L. Li, "</a:t>
            </a:r>
            <a:r>
              <a:rPr lang="en-IN" sz="1800" dirty="0" err="1">
                <a:latin typeface="Times New Roman" panose="02020603050405020304" pitchFamily="18" charset="0"/>
                <a:cs typeface="Times New Roman" panose="02020603050405020304" pitchFamily="18" charset="0"/>
              </a:rPr>
              <a:t>TransBTS</a:t>
            </a:r>
            <a:r>
              <a:rPr lang="en-IN" sz="1800" dirty="0">
                <a:latin typeface="Times New Roman" panose="02020603050405020304" pitchFamily="18" charset="0"/>
                <a:cs typeface="Times New Roman" panose="02020603050405020304" pitchFamily="18" charset="0"/>
              </a:rPr>
              <a:t>: Multimodal brain tumour segmentation using transformer," MICCAI, 2021.</a:t>
            </a:r>
          </a:p>
          <a:p>
            <a:r>
              <a:rPr lang="en-IN" sz="1800" dirty="0" err="1">
                <a:latin typeface="Times New Roman" panose="02020603050405020304" pitchFamily="18" charset="0"/>
                <a:cs typeface="Times New Roman" panose="02020603050405020304" pitchFamily="18" charset="0"/>
              </a:rPr>
              <a:t>NeuroScan</a:t>
            </a:r>
            <a:r>
              <a:rPr lang="en-IN" sz="1800" dirty="0">
                <a:latin typeface="Times New Roman" panose="02020603050405020304" pitchFamily="18" charset="0"/>
                <a:cs typeface="Times New Roman" panose="02020603050405020304" pitchFamily="18" charset="0"/>
              </a:rPr>
              <a:t> AI repository source material: README, backend API implementation, processor implementation, frontend routes, and Overleaf research reports.</a:t>
            </a:r>
          </a:p>
          <a:p>
            <a:pPr marL="0" indent="0" eaLnBrk="0" fontAlgn="base" hangingPunct="0">
              <a:lnSpc>
                <a:spcPct val="100000"/>
              </a:lnSpc>
              <a:spcBef>
                <a:spcPct val="0"/>
              </a:spcBef>
              <a:spcAft>
                <a:spcPct val="30000"/>
              </a:spcAft>
              <a:buNone/>
            </a:pPr>
            <a:endParaRPr lang="en-IN" sz="12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F9A56B12-BF20-4763-A296-EBF05DCC55D1}"/>
              </a:ext>
            </a:extLst>
          </p:cNvPr>
          <p:cNvSpPr>
            <a:spLocks noGrp="1"/>
          </p:cNvSpPr>
          <p:nvPr>
            <p:ph type="dt" sz="half" idx="10"/>
          </p:nvPr>
        </p:nvSpPr>
        <p:spPr/>
        <p:txBody>
          <a:bodyPr/>
          <a:lstStyle/>
          <a:p>
            <a:fld id="{0A7C7B6C-E68D-4047-8A1E-3C7BD2842AF7}" type="datetime1">
              <a:rPr lang="en-IN" smtClean="0"/>
              <a:t>27-07-2026</a:t>
            </a:fld>
            <a:endParaRPr lang="en-IN"/>
          </a:p>
        </p:txBody>
      </p:sp>
      <p:sp>
        <p:nvSpPr>
          <p:cNvPr id="6" name="Footer Placeholder 5">
            <a:extLst>
              <a:ext uri="{FF2B5EF4-FFF2-40B4-BE49-F238E27FC236}">
                <a16:creationId xmlns:a16="http://schemas.microsoft.com/office/drawing/2014/main" id="{A8133EA0-B616-2EA3-B437-752027A5E3CF}"/>
              </a:ext>
            </a:extLst>
          </p:cNvPr>
          <p:cNvSpPr>
            <a:spLocks noGrp="1"/>
          </p:cNvSpPr>
          <p:nvPr>
            <p:ph type="ftr" sz="quarter" idx="11"/>
          </p:nvPr>
        </p:nvSpPr>
        <p:spPr/>
        <p:txBody>
          <a:bodyPr/>
          <a:lstStyle/>
          <a:p>
            <a:r>
              <a:rPr lang="en-IN"/>
              <a:t>SCOPE</a:t>
            </a:r>
          </a:p>
        </p:txBody>
      </p:sp>
      <p:sp>
        <p:nvSpPr>
          <p:cNvPr id="7" name="Slide Number Placeholder 6">
            <a:extLst>
              <a:ext uri="{FF2B5EF4-FFF2-40B4-BE49-F238E27FC236}">
                <a16:creationId xmlns:a16="http://schemas.microsoft.com/office/drawing/2014/main" id="{CB6AD3BC-A8FA-26A6-301F-F10FE22F6513}"/>
              </a:ext>
            </a:extLst>
          </p:cNvPr>
          <p:cNvSpPr>
            <a:spLocks noGrp="1"/>
          </p:cNvSpPr>
          <p:nvPr>
            <p:ph type="sldNum" sz="quarter" idx="12"/>
          </p:nvPr>
        </p:nvSpPr>
        <p:spPr/>
        <p:txBody>
          <a:bodyPr/>
          <a:lstStyle/>
          <a:p>
            <a:fld id="{65201FD4-9D8D-4491-815B-63C7BF4F0034}" type="slidenum">
              <a:rPr lang="en-IN" smtClean="0"/>
              <a:t>9</a:t>
            </a:fld>
            <a:endParaRPr lang="en-IN" dirty="0"/>
          </a:p>
        </p:txBody>
      </p:sp>
    </p:spTree>
    <p:extLst>
      <p:ext uri="{BB962C8B-B14F-4D97-AF65-F5344CB8AC3E}">
        <p14:creationId xmlns:p14="http://schemas.microsoft.com/office/powerpoint/2010/main" val="13651042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135</TotalTime>
  <Words>1652</Words>
  <Application>Microsoft Office PowerPoint</Application>
  <PresentationFormat>Widescreen</PresentationFormat>
  <Paragraphs>142</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Calibri</vt:lpstr>
      <vt:lpstr>Calibri Light</vt:lpstr>
      <vt:lpstr>Mona Sans VF</vt:lpstr>
      <vt:lpstr>Times New Roman</vt:lpstr>
      <vt:lpstr>Office Theme</vt:lpstr>
      <vt:lpstr> B.Tech BCSE497J – Project I  Neuro Scan AI  AI powered brain tumour detection, classification and segmentation platform  </vt:lpstr>
      <vt:lpstr>Aim</vt:lpstr>
      <vt:lpstr>Abstract</vt:lpstr>
      <vt:lpstr>Literature Review  Detection and classification studies </vt:lpstr>
      <vt:lpstr>Literature Review (contd.)  Segmentation and clinical imaging studies </vt:lpstr>
      <vt:lpstr>Research Gap</vt:lpstr>
      <vt:lpstr>Objectives</vt:lpstr>
      <vt:lpstr>References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Parthasarathy G</dc:creator>
  <cp:lastModifiedBy>Ved Lawand</cp:lastModifiedBy>
  <cp:revision>40</cp:revision>
  <dcterms:created xsi:type="dcterms:W3CDTF">2026-07-14T06:00:41Z</dcterms:created>
  <dcterms:modified xsi:type="dcterms:W3CDTF">2026-07-27T06:43:46Z</dcterms:modified>
</cp:coreProperties>
</file>